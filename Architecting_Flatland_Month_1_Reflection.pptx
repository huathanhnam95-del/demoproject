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Welcome! Take a breath, grab your coffee, and make yourself comfortable.</a:t>
            </a:r>
          </a:p>
          <a:p/>
          <a:p>
            <a:r>
              <a:t>Today marks the end of our very first month working together in this new flat model. For the past four weeks, none of us has had a manager looking over our shoulder. There are no department heads, no supervisors checking lesson plans, and no bosses assigning us daily tickets.</a:t>
            </a:r>
          </a:p>
          <a:p/>
          <a:p>
            <a:r>
              <a:t>Today is not about telling you what lessons to build or handing down curriculum quotas. You already know your craft as English teachers better than anyone. Today is simply about us—how we work together as teammates, the strange and quiet feelings we've all experienced this past month, the real everyday hurdles we've bumped into, and the simple, practical habits that help us thrive as equals.</a:t>
            </a:r>
          </a:p>
          <a:p/>
          <a:p>
            <a:r>
              <a:t>As you can see on the slide, our team promise is very simple: working without a boss doesn't mean having no direction. It means we all take care of each other, make decisions openly, and share the journey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be completely honest with each other about Month 1.</a:t>
            </a:r>
          </a:p>
          <a:p/>
          <a:p>
            <a:r>
              <a:t>In traditional language schools, teaching is usually a solitary job. You prepare your materials alone, walk into your classroom, close the door, and teach in private. When you take down those walls and remove the principal or supervisor, the first thing you notice is the silence. There is no morning announcement, no bell, no boss telling you what chapter comes next.</a:t>
            </a:r>
          </a:p>
          <a:p/>
          <a:p>
            <a:r>
              <a:t>Many of us felt a little awkward. We wondered: 'Am I doing the right thing? What if I share a rough draft and people judge it?' And because we are all kind people, we were almost too polite—hesitating to speak up or disagree because we didn't want to step on anyone's toes.</a:t>
            </a:r>
          </a:p>
          <a:p/>
          <a:p>
            <a:r>
              <a:t>As we step into Month 2, we are finding our groove. We aren't working in isolated rooms anymore. We are forming small groups to co-create together, replacing boss orders with simple everyday habits, and looking out for each other's rest. Working without a boss only works when we truly have each other's backs.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talk about the first big reflex we all noticed: The Permission Reflex.</a:t>
            </a:r>
          </a:p>
          <a:p/>
          <a:p>
            <a:r>
              <a:t>Think about your internal monologue over the past few weeks: 'Wait... who signs off on this? In my old school, if I wanted to change an exercise or try a new practice game, I had to submit a proposal to the department lead. Who gives me permission here?'</a:t>
            </a:r>
          </a:p>
          <a:p/>
          <a:p>
            <a:r>
              <a:t>The old habit taught us to wait for a green light. But waiting for permission is just a delay. In our team, if you notice an exercise that confuses students, or you have an idea for a fun pronunciation game, you don't need anyone's permission to begin. You have full trust. You talk with a couple of teammates, build a quick version, and try it out.</a:t>
            </a:r>
          </a:p>
          <a:p/>
          <a:p>
            <a:r>
              <a:t>Our mindset shift is simple: Nobody assigns you work here. You never have to ask, 'Am I allowed to help?' If you see a way to make learning better, you own helping make it happen.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something almost everyone felt in Month 1, even if we were too shy to say it out loud: The Quiet Guilt.</a:t>
            </a:r>
          </a:p>
          <a:p/>
          <a:p>
            <a:r>
              <a:t>At 3:00 PM, you've finished your work for the day. But you look at your laptop screen and think: 'Nobody praised my lesson today. There are no performance grades or supervisor evaluations. If I log off now, will the team think I'm slacking off?' So you stay sitting at your desk until 6:00 or 7:00 PM, just so people see you online.</a:t>
            </a:r>
          </a:p>
          <a:p/>
          <a:p>
            <a:r>
              <a:t>That is a habit we carry over from traditional offices where people perform 'chair time' to impress managers. But here, we trust each other. We don't measure dedication by how late your light stays on or how many messages you send at night. We measure it by whether our students are actually learning and whether our teammates feel supported.</a:t>
            </a:r>
          </a:p>
          <a:p/>
          <a:p>
            <a:r>
              <a:t>You don't need a manager's gold star to know your work matters. Do honest work, support your peers, and when the day is done, close your laptop with a completely clear conscience.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third big reflection is something we call The Politeness Trap.</a:t>
            </a:r>
          </a:p>
          <a:p/>
          <a:p>
            <a:r>
              <a:t>We all respect each other and we want to preserve good vibes. So when a colleague shows us an audio draft or an exercise that feels a bit confusing, our first instinct is to smile and say, 'Oh, that looks great!' We keep our real thoughts to ourselves because we worry: 'What if they take it personally?'</a:t>
            </a:r>
          </a:p>
          <a:p/>
          <a:p>
            <a:r>
              <a:t>Here is the truth: staying silent when you spot a problem isn't kindness. It actually leaves your teammate hanging, because sooner or later, a student will get confused by that lesson.</a:t>
            </a:r>
          </a:p>
          <a:p/>
          <a:p>
            <a:r>
              <a:t>Our new rule is: Critique the work with complete honesty, and treat the person with unconditional kindness. When you offer feedback on an audio cadence or a lesson explanation, you aren't criticizing your colleague—you are teaming up with them against the confusion. We care for each other deeply, and that is exactly why we speak honestly about the work.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we've looked at our own feelings during Month 1, let's look at where our inspiration comes from: the flat structure of Valve.</a:t>
            </a:r>
          </a:p>
          <a:p/>
          <a:p>
            <a:r>
              <a:t>In 1996, Valve was founded with a bold question: 'What if we hired extraordinary creative people, gave them complete trust, and didn't put a single boss between them and the customer?'</a:t>
            </a:r>
          </a:p>
          <a:p/>
          <a:p>
            <a:r>
              <a:t>For thirty years, Valve has grown into one of the most successful creative companies on Earth—operating with zero bosses, zero middle managers, and zero approval chains. Their employee handbook is famously titled: 'Welcome to Flatland.'</a:t>
            </a:r>
          </a:p>
          <a:p/>
          <a:p>
            <a:r>
              <a:t>In Flatland, three simple ideas guide daily work:</a:t>
            </a:r>
          </a:p>
          <a:p>
            <a:r>
              <a:t>First: Zero Managers, Total Trust. You are treated as a creative adult. If you see a way to improve a lesson or solve a problem, nobody hands you a permission slip. You own the initiative.</a:t>
            </a:r>
          </a:p>
          <a:p>
            <a:r>
              <a:t>Second: Desks on Wheels. Literally, every desk has heavy wheels so colleagues can unplug and roll together whenever someone needs a hand. People work in flexible small groups, not isolated departments.</a:t>
            </a:r>
          </a:p>
          <a:p>
            <a:r>
              <a:t>Third: The Learner Is the Boss. Without managers to impress or ladders to climb, everyone's energy goes toward one single goal: 'Does this genuinely help our students learn better?'</a:t>
            </a:r>
          </a:p>
          <a:p/>
          <a:p>
            <a:r>
              <a:t>We aren't making video games—we are teaching human beings. But the creative psychology is identical: freedom from bosses only works when we stay connected, share our work early, and look out for each other.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before we hear directly from the creators who lived this model every day at Valve, let's look at the founder behind this philosophy: Gabe Newell.</a:t>
            </a:r>
          </a:p>
          <a:p/>
          <a:p>
            <a:r>
              <a:t>Why did a multi-billion-dollar company decide from day one to eliminate managers, job titles, and approval chains? Gabe Newell based this structure on serious economic and organizational logic—specifically Ronald Coase's Nobel Prize-winning theory on 'The Nature of the Firm.'</a:t>
            </a:r>
          </a:p>
          <a:p/>
          <a:p>
            <a:r>
              <a:t>In 1937, Coase asked a fundamental question: Why do firms exist at all? His answer was 'transaction costs'—it costs time and friction to coordinate independent people, so 20th-century companies built pyramid hierarchies to organize repetitive factory work.</a:t>
            </a:r>
          </a:p>
          <a:p/>
          <a:p>
            <a:r>
              <a:t>But Gabe Newell made a profound realization: In modern creative knowledge work, corporate hierarchy does the exact opposite. Hierarchies actually become the largest source of internal friction and delay! When you have department heads and review committees, ideas sit in inboxes for weeks, communication gets distorted across layers, and people waste half their energy 'managing up'—playing office politics to impress supervisors.</a:t>
            </a:r>
          </a:p>
          <a:p/>
          <a:p>
            <a:r>
              <a:t>As Gabe famously noted in his University of Texas address: 'If you hire smart, creative people and then tell them what to do, you destroy most of their value.' When an educator only executes someone else's lesson plan, their leverage is permanently capped by a supervisor's imagination. But when teachers own their ideas directly, creative leverage multiplies.</a:t>
            </a:r>
          </a:p>
          <a:p/>
          <a:p>
            <a:r>
              <a:t>In our team, Gabe's ideology gives us our guiding light: The learner is our only boss. You never need a permission slip from an administrator to help a struggling student or polish an exercise. We don't manage upward—we focus all our energy outward on creating lessons students truly love.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that we understand the big picture of Flatland and Gabe Newell's founding philosophy, let's hear directly from four creators who lived this reality every day for over a decade at Valve:</a:t>
            </a:r>
          </a:p>
          <a:p/>
          <a:p>
            <a:r>
              <a:t>From Chet Faliszek: 'Action over Permission.' Nobody hands you a daily to-do list here. When you notice an exercise or lesson that isn't landing with students, don't wait for permission. Grab a colleague, try a fix, and see if it works.</a:t>
            </a:r>
          </a:p>
          <a:p/>
          <a:p>
            <a:r>
              <a:t>From Josh Weier: 'Healthy Boundaries.' Protect your focus and your rest. Working until 2 AM doesn't make you a hero—it just means the workflow is broken. Four or five hours of energized teamwork beats twelve hours of exhausted grinding every single time.</a:t>
            </a:r>
          </a:p>
          <a:p/>
          <a:p>
            <a:r>
              <a:t>From Mike Morasky: 'Work Live Together.' Real collaboration isn't emailing files back and forth for weeks. It's sitting together, trying an idea, and reacting in real time to each other's energy.</a:t>
            </a:r>
          </a:p>
          <a:p/>
          <a:p>
            <a:r>
              <a:t>And from Erik Wolpaw: 'Leave Egos at the Door.' Never fall so in love with your first draft that you can't change it. If students struggle with an exercise, laugh, learn from it, and improve it together as a crew.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directly on the advice of these veteran creators, what practical teamwork habits do we adopt in our daily work? We take three core habits inspired by Valve's culture.</a:t>
            </a:r>
          </a:p>
          <a:p/>
          <a:p>
            <a:r>
              <a:t>First: Desks on Wheels. Literally and figuratively, when you see a teammate struggling or feeling overwhelmed with an audio exercise, you don't say, 'Well, that's their task.' You roll your chair over and say, 'Hey, can I give you a hand?' We go where the team needs us most.</a:t>
            </a:r>
          </a:p>
          <a:p/>
          <a:p>
            <a:r>
              <a:t>Second: Sharing Our Strengths. Every teacher in this room has a superpower. Some of you have incredible ears for natural sentence rhythm. Some of you create engaging, fun classroom games. Some of you love exploring new tech tools. When you bring those strengths together, small teams can build complete, polished lessons without needing anyone from the outside.</a:t>
            </a:r>
          </a:p>
          <a:p/>
          <a:p>
            <a:r>
              <a:t>Third: Try It First, Don't Just Talk. If two teachers have different ideas about how to teach a lesson, don't spend an hour in a theoretical debate. Take 15 minutes to sketch a quick draft or record a sample. As Chet Faliszek says: 'Build a quick draft, show it to your team, and let real results do the talking.'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same time, we have to be completely honest about the risks. Over the last 50 years, many teams have tried working without managers. And researchers have documented three major traps that pop up when you remove bosses. We want to be completely open about them so we can protect our culture.</a:t>
            </a:r>
          </a:p>
          <a:p/>
          <a:p>
            <a:r>
              <a:t>Trap Number 1 is Hidden Cliques. When there are no formal managers, power can quietly slip into informal popularity contests or whisper chats in the hallway. Our defense is total transparency: we share our ideas in public team channels, document our choices openly, and make sure every single teacher has an equal voice.</a:t>
            </a:r>
          </a:p>
          <a:p/>
          <a:p>
            <a:r>
              <a:t>Trap Number 2 is Silent Overtime. Without a manager telling people when to stop, dedicated teachers quietly work until midnight out of guilt. Josh Weier at Valve made this famous: working until 2 AM doesn't make you a hero; it just means the workflow is broken. We protect our rest.</a:t>
            </a:r>
          </a:p>
          <a:p/>
          <a:p>
            <a:r>
              <a:t>Trap Number 3 is Peer Competition. When teammates feel secretly ranked or compared against each other, trust breaks down. People stop helping their peers. Here, we share one mission: our students' success. We succeed together or not at all.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why we are changing our workflow, look at how traditional schools produce lesson materials.</a:t>
            </a:r>
          </a:p>
          <a:p/>
          <a:p>
            <a:r>
              <a:t>It's a relay race: Teacher A sits alone for a week writing a worksheet. Then it sits in a supervisor's inbox for five days waiting for review. The supervisor marks it up with red pens and sends it to an audio person, who waits another week. By the time a test is run, four weeks have passed, everyone has forgotten the original context, and if there's a flaw, it gets kicked all the way back to step one!</a:t>
            </a:r>
          </a:p>
          <a:p/>
          <a:p>
            <a:r>
              <a:t>Every handoff creates a waiting line. Every waiting line kills momentum. In the old world, you needed managers just to chase emails and unblock backlogs. We want to eliminate the waiting lines entirely.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 we do instead? We form Small Group Hubs.</a:t>
            </a:r>
          </a:p>
          <a:p/>
          <a:p>
            <a:r>
              <a:t>Instead of passing a document along a conveyor belt, three or four teachers sit down together around one screen.</a:t>
            </a:r>
          </a:p>
          <a:p/>
          <a:p>
            <a:r>
              <a:t>You wear different hats: One teacher focuses on clear lesson flow and concept explanations. Another teacher crafts fun, interactive speaking games. A third teacher has a sharp ear for natural audio tone and cadence. And the fourth teacher acts as the Student Champion, asking: 'Would a beginner actually get this, or does it feel confusing?'</a:t>
            </a:r>
          </a:p>
          <a:p/>
          <a:p>
            <a:r>
              <a:t>When you work together in the same room or on the same live call, you don't wait weeks for feedback. You notice a clunky sentence in ten seconds, adjust it on the spot, and finish a complete, polished learning activity in a single afternoon with zero emails.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share a real story from our team just last week.</a:t>
            </a:r>
          </a:p>
          <a:p/>
          <a:p>
            <a:r>
              <a:t>At 9:00 AM, Maria noticed that beginner students were still confusing words like 'seat' and 'sit'—the traditional textbook rule of 'long vowel vs. short vowel' just wasn't clicking for them. Instead of writing a memo or waiting for a meeting, she mentioned it to three teammates.</a:t>
            </a:r>
          </a:p>
          <a:p/>
          <a:p>
            <a:r>
              <a:t>At 9:30 AM, David suggested: 'What if we make it a mirror game based on smiling? For 'seat', smile wide! For 'sit', relax your jaw.' He drafted the game directly on screen.</a:t>
            </a:r>
          </a:p>
          <a:p/>
          <a:p>
            <a:r>
              <a:t>At 10:15 AM, Sarah generated the audio examples, closed her eyes, and tested the contrast with David to make sure it was crystal-clear.</a:t>
            </a:r>
          </a:p>
          <a:p/>
          <a:p>
            <a:r>
              <a:t>At 11:00 AM, Alex invited a beginner student to try the smile game. Within five minutes, the student laughed and said, 'Oh! Now I feel the difference!'</a:t>
            </a:r>
          </a:p>
          <a:p/>
          <a:p>
            <a:r>
              <a:t>By 11:45 AM, the lesson was done, tested, and ready. In a traditional school, that would have taken three months of committee meetings. Our team did it before lunch.</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big question: In a flat team, how do we make decisions without a boss, but without getting bogged down in endless voting?</a:t>
            </a:r>
          </a:p>
          <a:p/>
          <a:p>
            <a:r>
              <a:t>We use a practice called The Advice Process, developed by Frédéric Laloux. It has five simple steps:</a:t>
            </a:r>
          </a:p>
          <a:p/>
          <a:p>
            <a:r>
              <a:t>Step 1: Spot a Need. If you see something that could be improved, you have the green light to lead the solution.</a:t>
            </a:r>
          </a:p>
          <a:p>
            <a:r>
              <a:t>Step 2: Make a Quick Draft. Don't call a big meeting to talk about abstract ideas. Spend 20 minutes sketching a rough draft or recording a sample so people can see what you mean.</a:t>
            </a:r>
          </a:p>
          <a:p>
            <a:r>
              <a:t>Step 3: Ask for Advice. This is the golden rule: consult two groups—teammates with experience in this area, and those who will be affected by your decision. But remember: advice is wisdom to help you, not a vote or permission to wait for!</a:t>
            </a:r>
          </a:p>
          <a:p>
            <a:r>
              <a:t>Step 4: Make the Call. You weigh the advice, pick the best path forward, and make the decision yourself. You own the call.</a:t>
            </a:r>
          </a:p>
          <a:p>
            <a:r>
              <a:t>Step 5: Share and Learn. Tell the team what you did, test it with students, and share what happened openly.</a:t>
            </a:r>
          </a:p>
          <a:p/>
          <a:p>
            <a:r>
              <a:t>As Laloux says: 'Any person can make any decision, as long as they seek advice from knowledgeable peers and those affected. Advice is not permission—ownership stays with you.'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compare the three ways teams make decisions.</a:t>
            </a:r>
          </a:p>
          <a:p/>
          <a:p>
            <a:r>
              <a:t>On the left is The Consensus Trap: trying to get all ten teachers to agree on every comma before trying an idea. It moves at the speed of the most hesitant person, and you end up with bland compromises.</a:t>
            </a:r>
          </a:p>
          <a:p>
            <a:r>
              <a:t>On the right is The Manager Trap: waiting for a boss in an office to dictate orders. It crushes creativity and ignores what teachers actually see in class.</a:t>
            </a:r>
          </a:p>
          <a:p>
            <a:r>
              <a:t>In the middle is Our Way: The Advice Process. You listen deeply to advice, but you move fast and take ownership.</a:t>
            </a:r>
          </a:p>
          <a:p/>
          <a:p>
            <a:r>
              <a:t>And what happens when two teammates strongly disagree? We have three simple steps:</a:t>
            </a:r>
          </a:p>
          <a:p>
            <a:r>
              <a:t>First: Talk over a coffee. Have a warm, private chat within 24 hours. Focus on the work, not on personal blame.</a:t>
            </a:r>
          </a:p>
          <a:p>
            <a:r>
              <a:t>Second: Bring in a trusted peer. If you're still stuck, invite a calm colleague to sit with you both and listen with fresh ears.</a:t>
            </a:r>
          </a:p>
          <a:p>
            <a:r>
              <a:t>Third: Test it with real students! Instead of arguing opinions back and forth, put both versions in front of real learners. Let actual student learning settle the debate.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make this real, here is our social contract—what we promise to you, and what we choose to leave behind.</a:t>
            </a:r>
          </a:p>
          <a:p/>
          <a:p>
            <a:r>
              <a:t>What you can always count on:</a:t>
            </a:r>
          </a:p>
          <a:p>
            <a:r>
              <a:t>1. Full trust to try your ideas without asking for sign-off.</a:t>
            </a:r>
          </a:p>
          <a:p>
            <a:r>
              <a:t>2. Thoughtful help and advice whenever you reach out.</a:t>
            </a:r>
          </a:p>
          <a:p>
            <a:r>
              <a:t>3. Total respect for your personal time and rest—no evening or weekend expectations.</a:t>
            </a:r>
          </a:p>
          <a:p>
            <a:r>
              <a:t>4. Kind, honest support where you can speak your mind safely.</a:t>
            </a:r>
          </a:p>
          <a:p/>
          <a:p>
            <a:r>
              <a:t>And what we leave behind:</a:t>
            </a:r>
          </a:p>
          <a:p>
            <a:r>
              <a:t>1. No hovering managers, timesheets, or performative seat-time.</a:t>
            </a:r>
          </a:p>
          <a:p>
            <a:r>
              <a:t>2. No endless debate meetings that go nowhere.</a:t>
            </a:r>
          </a:p>
          <a:p>
            <a:r>
              <a:t>3. No silent overtime or guilt about logging off on time.</a:t>
            </a:r>
          </a:p>
          <a:p>
            <a:r>
              <a:t>4. No polite silence that hides problems. We speak up with kindness to keep our materials top quality.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Without a supervisor grading our work, how do we ensure our learning materials are truly world-class? We use three simple, objective checks:</a:t>
            </a:r>
          </a:p>
          <a:p/>
          <a:p>
            <a:r>
              <a:t>Check Number 1 is The Blind Ear Test. Close your eyes and listen to your teammate's audio example without looking at the text. Can you clearly hear every word and sound contrast? If an experienced teacher has to strain to understand it, our students definitely will.</a:t>
            </a:r>
          </a:p>
          <a:p/>
          <a:p>
            <a:r>
              <a:t>Check Number 2 is The Dictation Check. Play the audio into your phone's voice typing app. Speech recognition tools have zero personal bias. If the app mishears the word, the audio sample needs more clarity and natural pacing.</a:t>
            </a:r>
          </a:p>
          <a:p/>
          <a:p>
            <a:r>
              <a:t>Check Number 3 is Testing with Students. Put the lesson in front of a real learner and watch quietly without stepping in. If the student gets confused, remember our golden rule: it is never the student's fault. It just means we need to make our explanation clearer.</a:t>
            </a:r>
          </a:p>
          <a:p/>
          <a:p>
            <a:r>
              <a:t>When we let real student learning be our judge, we stop arguing about personal opinions and unite around making great learning experiences.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let's look ahead to our rhythm for Month 2.</a:t>
            </a:r>
          </a:p>
          <a:p/>
          <a:p>
            <a:r>
              <a:t>We adopt the sustainable rhythm that Ken Birdwell established at Valve:</a:t>
            </a:r>
          </a:p>
          <a:p>
            <a:r>
              <a:t>Monday through Thursday: We focus four to five hours a day collaborating in our small group hubs, with time to reflect.</a:t>
            </a:r>
          </a:p>
          <a:p>
            <a:r>
              <a:t>Friday: 100% protected quiet focus. Zero meetings. Time for you to read, experiment with new ideas, polish your own drafts, or recharge.</a:t>
            </a:r>
          </a:p>
          <a:p>
            <a:r>
              <a:t>Evenings and weekends: True downtime. Notifications off. As Ken Birdwell said: 'Six focused hours of teamwork beats sixty hours of exhausted grinding every single time.'</a:t>
            </a:r>
          </a:p>
          <a:p/>
          <a:p>
            <a:r>
              <a:t>Our goals for Month 2 are simple: getting comfortable with the Advice Process, creating engaging lessons students genuinely love, and building a culture of caring, honest feedback.</a:t>
            </a:r>
          </a:p>
          <a:p/>
          <a:p>
            <a:r>
              <a:t>We are doing something rare and wonderful here: proving that passionate educators don't need bosses to create extraordinary learning. We succeed by supporting each other, talking through challenges openly, and having fun together.</a:t>
            </a:r>
          </a:p>
          <a:p/>
          <a:p>
            <a:r>
              <a:t>Thank you all for an incredible Month 1. Let's make Month 2 our best month yet!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image" Target="../media/image9.jpg"/><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7.jpg"/><Relationship Id="rId4" Type="http://schemas.openxmlformats.org/officeDocument/2006/relationships/image" Target="../media/image11.jpg"/><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5760720" cy="2331720"/>
          </a:xfrm>
          <a:prstGeom prst="rect">
            <a:avLst/>
          </a:prstGeom>
          <a:noFill/>
        </p:spPr>
        <p:txBody>
          <a:bodyPr wrap="square" lIns="0" rIns="0" tIns="0" bIns="0">
            <a:spAutoFit/>
          </a:bodyPr>
          <a:lstStyle/>
          <a:p>
            <a:pPr>
              <a:spcAft>
                <a:spcPts val="600"/>
              </a:spcAft>
              <a:defRPr sz="1050" b="1">
                <a:solidFill>
                  <a:srgbClr val="A8432B"/>
                </a:solidFill>
                <a:latin typeface="Segoe UI"/>
              </a:defRPr>
            </a:pPr>
            <a:r>
              <a:t>OUR FIRST MONTH TOGETHER • TEAMWORK &amp; PRACTICAL HABITS</a:t>
            </a:r>
          </a:p>
          <a:p>
            <a:pPr>
              <a:spcAft>
                <a:spcPts val="400"/>
              </a:spcAft>
              <a:defRPr sz="3500" b="1">
                <a:solidFill>
                  <a:srgbClr val="1A1D20"/>
                </a:solidFill>
                <a:latin typeface="Georgia"/>
              </a:defRPr>
            </a:pPr>
            <a:r>
              <a:t>Working Together Without a Boss</a:t>
            </a:r>
          </a:p>
          <a:p>
            <a:pPr>
              <a:spcAft>
                <a:spcPts val="800"/>
              </a:spcAft>
              <a:defRPr sz="1550">
                <a:solidFill>
                  <a:srgbClr val="1E3A5F"/>
                </a:solidFill>
                <a:latin typeface="Segoe UI Semibold"/>
              </a:defRPr>
            </a:pPr>
            <a:r>
              <a:t>Honest Reflections on Month 1, Everyday Hurdles, and Practical Solutions</a:t>
            </a:r>
          </a:p>
          <a:p>
            <a:pPr>
              <a:lnSpc>
                <a:spcPct val="122000"/>
              </a:lnSpc>
              <a:defRPr sz="1150">
                <a:solidFill>
                  <a:srgbClr val="5F646E"/>
                </a:solidFill>
                <a:latin typeface="Segoe UI"/>
              </a:defRPr>
            </a:pPr>
            <a:r>
              <a:t>A warm, honest look at what happens when you remove managers: the quiet confusion, the everyday team friction, and the simple habits that help us thrive as equal partners.</a:t>
            </a:r>
          </a:p>
        </p:txBody>
      </p:sp>
      <p:sp>
        <p:nvSpPr>
          <p:cNvPr id="4" name="Rounded Rectangle 3"/>
          <p:cNvSpPr/>
          <p:nvPr/>
        </p:nvSpPr>
        <p:spPr>
          <a:xfrm>
            <a:off x="731520" y="3291840"/>
            <a:ext cx="5760720" cy="100584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731520" y="3291840"/>
            <a:ext cx="137160" cy="1005840"/>
          </a:xfrm>
          <a:prstGeom prst="roundRect">
            <a:avLst/>
          </a:prstGeom>
          <a:solidFill>
            <a:srgbClr val="1E3A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3383280"/>
            <a:ext cx="5376672" cy="822960"/>
          </a:xfrm>
          <a:prstGeom prst="rect">
            <a:avLst/>
          </a:prstGeom>
          <a:noFill/>
        </p:spPr>
        <p:txBody>
          <a:bodyPr wrap="square" lIns="0" rIns="0" tIns="0" bIns="0">
            <a:spAutoFit/>
          </a:bodyPr>
          <a:lstStyle/>
          <a:p>
            <a:pPr>
              <a:spcAft>
                <a:spcPts val="200"/>
              </a:spcAft>
              <a:defRPr sz="950" b="1">
                <a:solidFill>
                  <a:srgbClr val="1E3A5F"/>
                </a:solidFill>
                <a:latin typeface="Segoe UI"/>
              </a:defRPr>
            </a:pPr>
            <a:r>
              <a:t>01 THE FEELING</a:t>
            </a:r>
          </a:p>
          <a:p>
            <a:pPr>
              <a:spcAft>
                <a:spcPts val="200"/>
              </a:spcAft>
              <a:defRPr sz="1400" b="1">
                <a:solidFill>
                  <a:srgbClr val="1A1D20"/>
                </a:solidFill>
                <a:latin typeface="Georgia"/>
              </a:defRPr>
            </a:pPr>
            <a:r>
              <a:t>Freedom Feels Strange at First</a:t>
            </a:r>
          </a:p>
          <a:p>
            <a:pPr>
              <a:lnSpc>
                <a:spcPct val="116000"/>
              </a:lnSpc>
              <a:defRPr sz="1100">
                <a:solidFill>
                  <a:srgbClr val="5F646E"/>
                </a:solidFill>
                <a:latin typeface="Segoe UI"/>
              </a:defRPr>
            </a:pPr>
            <a:r>
              <a:t>No one telling you what to do can feel quiet, disorienting, or a little scary. That awkwardness is completely normal.</a:t>
            </a:r>
          </a:p>
        </p:txBody>
      </p:sp>
      <p:sp>
        <p:nvSpPr>
          <p:cNvPr id="7" name="Rounded Rectangle 6"/>
          <p:cNvSpPr/>
          <p:nvPr/>
        </p:nvSpPr>
        <p:spPr>
          <a:xfrm>
            <a:off x="731520" y="4407408"/>
            <a:ext cx="5760720" cy="100584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4407408"/>
            <a:ext cx="137160" cy="1005840"/>
          </a:xfrm>
          <a:prstGeom prst="roundRect">
            <a:avLst/>
          </a:prstGeom>
          <a:solidFill>
            <a:srgbClr val="A843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4498848"/>
            <a:ext cx="5376672" cy="822960"/>
          </a:xfrm>
          <a:prstGeom prst="rect">
            <a:avLst/>
          </a:prstGeom>
          <a:noFill/>
        </p:spPr>
        <p:txBody>
          <a:bodyPr wrap="square" lIns="0" rIns="0" tIns="0" bIns="0">
            <a:spAutoFit/>
          </a:bodyPr>
          <a:lstStyle/>
          <a:p>
            <a:pPr>
              <a:spcAft>
                <a:spcPts val="200"/>
              </a:spcAft>
              <a:defRPr sz="950" b="1">
                <a:solidFill>
                  <a:srgbClr val="A8432B"/>
                </a:solidFill>
                <a:latin typeface="Segoe UI"/>
              </a:defRPr>
            </a:pPr>
            <a:r>
              <a:t>02 THE CHALLENGES</a:t>
            </a:r>
          </a:p>
          <a:p>
            <a:pPr>
              <a:spcAft>
                <a:spcPts val="200"/>
              </a:spcAft>
              <a:defRPr sz="1400" b="1">
                <a:solidFill>
                  <a:srgbClr val="1A1D20"/>
                </a:solidFill>
                <a:latin typeface="Georgia"/>
              </a:defRPr>
            </a:pPr>
            <a:r>
              <a:t>Everyday Teamwork Friction</a:t>
            </a:r>
          </a:p>
          <a:p>
            <a:pPr>
              <a:lnSpc>
                <a:spcPct val="116000"/>
              </a:lnSpc>
              <a:defRPr sz="1100">
                <a:solidFill>
                  <a:srgbClr val="5F646E"/>
                </a:solidFill>
                <a:latin typeface="Segoe UI"/>
              </a:defRPr>
            </a:pPr>
            <a:r>
              <a:t>Waiting for permission, feeling quiet guilt at 3 PM, holding back honest feedback, or getting stuck in endless debates.</a:t>
            </a:r>
          </a:p>
        </p:txBody>
      </p:sp>
      <p:sp>
        <p:nvSpPr>
          <p:cNvPr id="10" name="Rounded Rectangle 9"/>
          <p:cNvSpPr/>
          <p:nvPr/>
        </p:nvSpPr>
        <p:spPr>
          <a:xfrm>
            <a:off x="731520" y="5522976"/>
            <a:ext cx="5760720" cy="100584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5522976"/>
            <a:ext cx="137160" cy="1005840"/>
          </a:xfrm>
          <a:prstGeom prst="roundRect">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5614416"/>
            <a:ext cx="5376672" cy="822960"/>
          </a:xfrm>
          <a:prstGeom prst="rect">
            <a:avLst/>
          </a:prstGeom>
          <a:noFill/>
        </p:spPr>
        <p:txBody>
          <a:bodyPr wrap="square" lIns="0" rIns="0" tIns="0" bIns="0">
            <a:spAutoFit/>
          </a:bodyPr>
          <a:lstStyle/>
          <a:p>
            <a:pPr>
              <a:spcAft>
                <a:spcPts val="200"/>
              </a:spcAft>
              <a:defRPr sz="950" b="1">
                <a:solidFill>
                  <a:srgbClr val="166534"/>
                </a:solidFill>
                <a:latin typeface="Segoe UI"/>
              </a:defRPr>
            </a:pPr>
            <a:r>
              <a:t>03 THE SOLUTIONS</a:t>
            </a:r>
          </a:p>
          <a:p>
            <a:pPr>
              <a:spcAft>
                <a:spcPts val="200"/>
              </a:spcAft>
              <a:defRPr sz="1400" b="1">
                <a:solidFill>
                  <a:srgbClr val="1A1D20"/>
                </a:solidFill>
                <a:latin typeface="Georgia"/>
              </a:defRPr>
            </a:pPr>
            <a:r>
              <a:t>Simple, Practical Habits</a:t>
            </a:r>
          </a:p>
          <a:p>
            <a:pPr>
              <a:lnSpc>
                <a:spcPct val="116000"/>
              </a:lnSpc>
              <a:defRPr sz="1100">
                <a:solidFill>
                  <a:srgbClr val="5F646E"/>
                </a:solidFill>
                <a:latin typeface="Segoe UI"/>
              </a:defRPr>
            </a:pPr>
            <a:r>
              <a:t>Asking for advice, speaking with kindness and honesty, building together in real-time, and protecting our rest.</a:t>
            </a:r>
          </a:p>
        </p:txBody>
      </p:sp>
      <p:pic>
        <p:nvPicPr>
          <p:cNvPr id="13" name="Picture 12" descr="editorial_flatland_teachers_1789029163615.jpg"/>
          <p:cNvPicPr>
            <a:picLocks noChangeAspect="1"/>
          </p:cNvPicPr>
          <p:nvPr/>
        </p:nvPicPr>
        <p:blipFill>
          <a:blip r:embed="rId2"/>
          <a:stretch>
            <a:fillRect/>
          </a:stretch>
        </p:blipFill>
        <p:spPr>
          <a:xfrm>
            <a:off x="6766560" y="777240"/>
            <a:ext cx="4693615" cy="2697480"/>
          </a:xfrm>
          <a:prstGeom prst="rect">
            <a:avLst/>
          </a:prstGeom>
        </p:spPr>
      </p:pic>
      <p:sp>
        <p:nvSpPr>
          <p:cNvPr id="14" name="Rectangle 13"/>
          <p:cNvSpPr/>
          <p:nvPr/>
        </p:nvSpPr>
        <p:spPr>
          <a:xfrm>
            <a:off x="6766560" y="777240"/>
            <a:ext cx="4693615" cy="269748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66560" y="3566160"/>
            <a:ext cx="4693615" cy="502920"/>
          </a:xfrm>
          <a:prstGeom prst="rect">
            <a:avLst/>
          </a:prstGeom>
          <a:noFill/>
        </p:spPr>
        <p:txBody>
          <a:bodyPr wrap="square" lIns="0" rIns="0" tIns="0" bIns="0">
            <a:spAutoFit/>
          </a:bodyPr>
          <a:lstStyle/>
          <a:p>
            <a:pPr>
              <a:defRPr i="1" sz="1100">
                <a:solidFill>
                  <a:srgbClr val="1A1D20"/>
                </a:solidFill>
                <a:latin typeface="Georgia"/>
              </a:defRPr>
            </a:pPr>
            <a:r>
              <a:t>“Leaving traditional hierarchy behind: colleagues sitting together as equal partners, learning how to collaborate openly.”</a:t>
            </a:r>
          </a:p>
        </p:txBody>
      </p:sp>
      <p:sp>
        <p:nvSpPr>
          <p:cNvPr id="16" name="Rounded Rectangle 15"/>
          <p:cNvSpPr/>
          <p:nvPr/>
        </p:nvSpPr>
        <p:spPr>
          <a:xfrm>
            <a:off x="6766560" y="4160520"/>
            <a:ext cx="4693615" cy="1554480"/>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spcAft>
                <a:spcPts val="300"/>
              </a:spcAft>
              <a:defRPr sz="1000" b="1">
                <a:solidFill>
                  <a:srgbClr val="A8432B"/>
                </a:solidFill>
                <a:latin typeface="Segoe UI"/>
              </a:defRPr>
            </a:pPr>
            <a:r>
              <a:t>OUR CORE PROMISE AS A TEAM:</a:t>
            </a:r>
          </a:p>
          <a:p>
            <a:pPr>
              <a:lnSpc>
                <a:spcPct val="122000"/>
              </a:lnSpc>
              <a:defRPr sz="1250" b="1" i="1">
                <a:solidFill>
                  <a:srgbClr val="1A1D20"/>
                </a:solidFill>
                <a:latin typeface="Georgia"/>
              </a:defRPr>
            </a:pPr>
            <a:r>
              <a:t>“A flat team does not mean no direction. It means we all take care of each other, make decisions openly, and share the journey together.”</a:t>
            </a:r>
          </a:p>
        </p:txBody>
      </p:sp>
      <p:sp>
        <p:nvSpPr>
          <p:cNvPr id="17" name="Rounded Rectangle 16"/>
          <p:cNvSpPr/>
          <p:nvPr/>
        </p:nvSpPr>
        <p:spPr>
          <a:xfrm>
            <a:off x="6766560" y="5852160"/>
            <a:ext cx="2255367" cy="365760"/>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 MONTH 1: HONEST REFLECTIONS</a:t>
            </a:r>
          </a:p>
        </p:txBody>
      </p:sp>
      <p:sp>
        <p:nvSpPr>
          <p:cNvPr id="18" name="Rounded Rectangle 17"/>
          <p:cNvSpPr/>
          <p:nvPr/>
        </p:nvSpPr>
        <p:spPr>
          <a:xfrm>
            <a:off x="9204807" y="5852160"/>
            <a:ext cx="2255367" cy="365760"/>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 TEAMWORK: WORKING AS EQUALS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WHERE WE ARE TODAY • LOOKING BACK &amp; MOVING FORWARD</a:t>
            </a:r>
          </a:p>
          <a:p>
            <a:pPr>
              <a:spcAft>
                <a:spcPts val="300"/>
              </a:spcAft>
              <a:defRPr sz="2800" b="1">
                <a:solidFill>
                  <a:srgbClr val="1A1D20"/>
                </a:solidFill>
                <a:latin typeface="Georgia"/>
              </a:defRPr>
            </a:pPr>
            <a:r>
              <a:t>The Shift: From Solo Teachers to a True Team</a:t>
            </a:r>
          </a:p>
          <a:p>
            <a:pPr>
              <a:defRPr sz="1300">
                <a:solidFill>
                  <a:srgbClr val="5F646E"/>
                </a:solidFill>
                <a:latin typeface="Segoe UI"/>
              </a:defRPr>
            </a:pPr>
            <a:r>
              <a:t>Moving past the initial awkwardness and discovering how we actually support each other:</a:t>
            </a:r>
          </a:p>
        </p:txBody>
      </p:sp>
      <p:sp>
        <p:nvSpPr>
          <p:cNvPr id="4" name="Rounded Rectangle 3"/>
          <p:cNvSpPr/>
          <p:nvPr/>
        </p:nvSpPr>
        <p:spPr>
          <a:xfrm>
            <a:off x="731520" y="1508760"/>
            <a:ext cx="5193792" cy="411480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 y="1673352"/>
            <a:ext cx="2926080" cy="310896"/>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WHAT WE EXPERIENCED IN MONTH 1</a:t>
            </a:r>
          </a:p>
        </p:txBody>
      </p:sp>
      <p:sp>
        <p:nvSpPr>
          <p:cNvPr id="6" name="TextBox 5"/>
          <p:cNvSpPr txBox="1"/>
          <p:nvPr/>
        </p:nvSpPr>
        <p:spPr>
          <a:xfrm>
            <a:off x="960120" y="2093976"/>
            <a:ext cx="4736592" cy="3429000"/>
          </a:xfrm>
          <a:prstGeom prst="rect">
            <a:avLst/>
          </a:prstGeom>
          <a:noFill/>
        </p:spPr>
        <p:txBody>
          <a:bodyPr wrap="square" lIns="0" rIns="0" tIns="0" bIns="0">
            <a:spAutoFit/>
          </a:bodyPr>
          <a:lstStyle/>
          <a:p>
            <a:pPr>
              <a:spcAft>
                <a:spcPts val="600"/>
              </a:spcAft>
              <a:defRPr sz="2100" b="1">
                <a:solidFill>
                  <a:srgbClr val="1A1D20"/>
                </a:solidFill>
                <a:latin typeface="Georgia"/>
              </a:defRPr>
            </a:pPr>
            <a:r>
              <a:t>The Awkward First Steps</a:t>
            </a:r>
          </a:p>
          <a:p>
            <a:pPr>
              <a:lnSpc>
                <a:spcPct val="116000"/>
              </a:lnSpc>
              <a:spcAft>
                <a:spcPts val="400"/>
              </a:spcAft>
              <a:defRPr sz="1150">
                <a:solidFill>
                  <a:srgbClr val="1E3A5F"/>
                </a:solidFill>
                <a:latin typeface="Segoe UI"/>
              </a:defRPr>
            </a:pPr>
            <a:r>
              <a:t>• </a:t>
            </a:r>
            <a:r>
              <a:rPr sz="1200">
                <a:solidFill>
                  <a:srgbClr val="1A1D20"/>
                </a:solidFill>
                <a:latin typeface="Segoe UI Semibold"/>
              </a:rPr>
              <a:t>Used to Teaching Alone: </a:t>
            </a:r>
            <a:r>
              <a:rPr sz="1150">
                <a:solidFill>
                  <a:srgbClr val="5F646E"/>
                </a:solidFill>
                <a:latin typeface="Segoe UI"/>
              </a:rPr>
              <a:t>In traditional schools, we closed our classroom doors and taught in private. Sharing rough, unfinished drafts with peers felt intimidating.</a:t>
            </a:r>
          </a:p>
          <a:p>
            <a:pPr>
              <a:lnSpc>
                <a:spcPct val="116000"/>
              </a:lnSpc>
              <a:spcAft>
                <a:spcPts val="400"/>
              </a:spcAft>
              <a:defRPr sz="1150">
                <a:solidFill>
                  <a:srgbClr val="1E3A5F"/>
                </a:solidFill>
                <a:latin typeface="Segoe UI"/>
              </a:defRPr>
            </a:pPr>
            <a:r>
              <a:t>• </a:t>
            </a:r>
            <a:r>
              <a:rPr sz="1200">
                <a:solidFill>
                  <a:srgbClr val="1A1D20"/>
                </a:solidFill>
                <a:latin typeface="Segoe UI Semibold"/>
              </a:rPr>
              <a:t>The Missing School Bell: </a:t>
            </a:r>
            <a:r>
              <a:rPr sz="1150">
                <a:solidFill>
                  <a:srgbClr val="5F646E"/>
                </a:solidFill>
                <a:latin typeface="Segoe UI"/>
              </a:rPr>
              <a:t>Without a supervisor checking in or assigning tasks, some days felt strangely quiet. We wondered if we were doing the 'right' thing.</a:t>
            </a:r>
          </a:p>
          <a:p>
            <a:pPr>
              <a:lnSpc>
                <a:spcPct val="116000"/>
              </a:lnSpc>
              <a:spcAft>
                <a:spcPts val="400"/>
              </a:spcAft>
              <a:defRPr sz="1150">
                <a:solidFill>
                  <a:srgbClr val="1E3A5F"/>
                </a:solidFill>
                <a:latin typeface="Segoe UI"/>
              </a:defRPr>
            </a:pPr>
            <a:r>
              <a:t>• </a:t>
            </a:r>
            <a:r>
              <a:rPr sz="1200">
                <a:solidFill>
                  <a:srgbClr val="1A1D20"/>
                </a:solidFill>
                <a:latin typeface="Segoe UI Semibold"/>
              </a:rPr>
              <a:t>Being Too Polite to Speak Up: </a:t>
            </a:r>
            <a:r>
              <a:rPr sz="1150">
                <a:solidFill>
                  <a:srgbClr val="5F646E"/>
                </a:solidFill>
                <a:latin typeface="Segoe UI"/>
              </a:rPr>
              <a:t>Because everyone wanted to be kind, we hesitated to give honest critiques, leaving important thoughts unsaid.</a:t>
            </a:r>
          </a:p>
          <a:p>
            <a:pPr>
              <a:defRPr i="1" sz="1150">
                <a:solidFill>
                  <a:srgbClr val="1E3A5F"/>
                </a:solidFill>
                <a:latin typeface="Georgia"/>
              </a:defRPr>
            </a:pPr>
            <a:r>
              <a:t>“When you remove the traditional boss, the first thing you notice is the silence. You realize you have to learn how to talk to each other all over again.”</a:t>
            </a:r>
          </a:p>
        </p:txBody>
      </p:sp>
      <p:sp>
        <p:nvSpPr>
          <p:cNvPr id="7" name="Rounded Rectangle 6"/>
          <p:cNvSpPr/>
          <p:nvPr/>
        </p:nvSpPr>
        <p:spPr>
          <a:xfrm>
            <a:off x="6263640" y="1508760"/>
            <a:ext cx="5193792" cy="4114800"/>
          </a:xfrm>
          <a:prstGeom prst="roundRect">
            <a:avLst/>
          </a:prstGeom>
          <a:solidFill>
            <a:srgbClr val="ECFDF5"/>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492240" y="1673352"/>
            <a:ext cx="2926080" cy="310896"/>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HOW WE THRIVE IN MONTH 2</a:t>
            </a:r>
          </a:p>
        </p:txBody>
      </p:sp>
      <p:sp>
        <p:nvSpPr>
          <p:cNvPr id="9" name="TextBox 8"/>
          <p:cNvSpPr txBox="1"/>
          <p:nvPr/>
        </p:nvSpPr>
        <p:spPr>
          <a:xfrm>
            <a:off x="6492240" y="2093976"/>
            <a:ext cx="4736592" cy="3429000"/>
          </a:xfrm>
          <a:prstGeom prst="rect">
            <a:avLst/>
          </a:prstGeom>
          <a:noFill/>
        </p:spPr>
        <p:txBody>
          <a:bodyPr wrap="square" lIns="0" rIns="0" tIns="0" bIns="0">
            <a:spAutoFit/>
          </a:bodyPr>
          <a:lstStyle/>
          <a:p>
            <a:pPr>
              <a:spcAft>
                <a:spcPts val="600"/>
              </a:spcAft>
              <a:defRPr sz="2100" b="1">
                <a:solidFill>
                  <a:srgbClr val="1A1D20"/>
                </a:solidFill>
                <a:latin typeface="Georgia"/>
              </a:defRPr>
            </a:pPr>
            <a:r>
              <a:t>Finding Our Team Groove</a:t>
            </a:r>
          </a:p>
          <a:p>
            <a:pPr>
              <a:lnSpc>
                <a:spcPct val="116000"/>
              </a:lnSpc>
              <a:spcAft>
                <a:spcPts val="400"/>
              </a:spcAft>
              <a:defRPr sz="1150">
                <a:solidFill>
                  <a:srgbClr val="166534"/>
                </a:solidFill>
                <a:latin typeface="Segoe UI"/>
              </a:defRPr>
            </a:pPr>
            <a:r>
              <a:t>✓ </a:t>
            </a:r>
            <a:r>
              <a:rPr sz="1200">
                <a:solidFill>
                  <a:srgbClr val="1A1D20"/>
                </a:solidFill>
                <a:latin typeface="Segoe UI Semibold"/>
              </a:rPr>
              <a:t>Co-Creating, Not Working in Isolation: </a:t>
            </a:r>
            <a:r>
              <a:rPr sz="1150">
                <a:solidFill>
                  <a:srgbClr val="5F646E"/>
                </a:solidFill>
                <a:latin typeface="Segoe UI"/>
              </a:rPr>
              <a:t>We don't work alone in isolation anymore. We team up in small groups of 3 to 4 to design, test, and polish ideas together.</a:t>
            </a:r>
          </a:p>
          <a:p>
            <a:pPr>
              <a:lnSpc>
                <a:spcPct val="116000"/>
              </a:lnSpc>
              <a:spcAft>
                <a:spcPts val="400"/>
              </a:spcAft>
              <a:defRPr sz="1150">
                <a:solidFill>
                  <a:srgbClr val="166534"/>
                </a:solidFill>
                <a:latin typeface="Segoe UI"/>
              </a:defRPr>
            </a:pPr>
            <a:r>
              <a:t>✓ </a:t>
            </a:r>
            <a:r>
              <a:rPr sz="1200">
                <a:solidFill>
                  <a:srgbClr val="1A1D20"/>
                </a:solidFill>
                <a:latin typeface="Segoe UI Semibold"/>
              </a:rPr>
              <a:t>Clear Habits Instead of Guesswork: </a:t>
            </a:r>
            <a:r>
              <a:rPr sz="1150">
                <a:solidFill>
                  <a:srgbClr val="5F646E"/>
                </a:solidFill>
                <a:latin typeface="Segoe UI"/>
              </a:rPr>
              <a:t>We replace boss orders with simple team habits: clear ways to make decisions, give feedback, and solve disagreements.</a:t>
            </a:r>
          </a:p>
          <a:p>
            <a:pPr>
              <a:lnSpc>
                <a:spcPct val="116000"/>
              </a:lnSpc>
              <a:spcAft>
                <a:spcPts val="400"/>
              </a:spcAft>
              <a:defRPr sz="1150">
                <a:solidFill>
                  <a:srgbClr val="166534"/>
                </a:solidFill>
                <a:latin typeface="Segoe UI"/>
              </a:defRPr>
            </a:pPr>
            <a:r>
              <a:t>✓ </a:t>
            </a:r>
            <a:r>
              <a:rPr sz="1200">
                <a:solidFill>
                  <a:srgbClr val="1A1D20"/>
                </a:solidFill>
                <a:latin typeface="Segoe UI Semibold"/>
              </a:rPr>
              <a:t>Looking Out for Each Other's Rest: </a:t>
            </a:r>
            <a:r>
              <a:rPr sz="1150">
                <a:solidFill>
                  <a:srgbClr val="5F646E"/>
                </a:solidFill>
                <a:latin typeface="Segoe UI"/>
              </a:rPr>
              <a:t>True team success means high trust, honest conversations, and leaving work on time with zero guilt.</a:t>
            </a:r>
          </a:p>
          <a:p>
            <a:pPr>
              <a:defRPr i="1" sz="1150">
                <a:solidFill>
                  <a:srgbClr val="166534"/>
                </a:solidFill>
                <a:latin typeface="Georgia"/>
              </a:defRPr>
            </a:pPr>
            <a:r>
              <a:t>“Working without a boss only works when we truly have each other's backs—sharing the load, speaking with kindness, and celebrating together.”</a:t>
            </a:r>
          </a:p>
        </p:txBody>
      </p:sp>
      <p:sp>
        <p:nvSpPr>
          <p:cNvPr id="10" name="Rounded Rectangle 9"/>
          <p:cNvSpPr/>
          <p:nvPr/>
        </p:nvSpPr>
        <p:spPr>
          <a:xfrm>
            <a:off x="731520" y="5760720"/>
            <a:ext cx="10728655" cy="658368"/>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ctr">
              <a:spcAft>
                <a:spcPts val="200"/>
              </a:spcAft>
              <a:defRPr sz="1100">
                <a:solidFill>
                  <a:srgbClr val="1A1D20"/>
                </a:solidFill>
                <a:latin typeface="Segoe UI Semibold"/>
              </a:defRPr>
            </a:pPr>
            <a:r>
              <a:t>💡 THE SIMPLE TRUTH: Working without a boss does not mean chaos or having no rules.</a:t>
            </a:r>
          </a:p>
          <a:p>
            <a:pPr algn="ctr">
              <a:defRPr sz="1050">
                <a:solidFill>
                  <a:srgbClr val="5F646E"/>
                </a:solidFill>
                <a:latin typeface="Segoe UI"/>
              </a:defRPr>
            </a:pPr>
            <a:r>
              <a:t>It means we choose to be honest, communicate openly, and support one another instead of relying on a manager to police 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MONTH 1 REFLECTION • TAKING INITIATIVE</a:t>
            </a:r>
          </a:p>
          <a:p>
            <a:pPr>
              <a:spcAft>
                <a:spcPts val="300"/>
              </a:spcAft>
              <a:defRPr sz="2200" b="1">
                <a:solidFill>
                  <a:srgbClr val="1A1D20"/>
                </a:solidFill>
                <a:latin typeface="Georgia"/>
              </a:defRPr>
            </a:pPr>
            <a:r>
              <a:t>Reflection 1: The Permission Reflex ("Who Approves This?")</a:t>
            </a:r>
          </a:p>
          <a:p>
            <a:pPr>
              <a:defRPr sz="1300">
                <a:solidFill>
                  <a:srgbClr val="5F646E"/>
                </a:solidFill>
                <a:latin typeface="Segoe UI"/>
              </a:defRPr>
            </a:pPr>
            <a:r>
              <a:t>“Wait... who is going to tell me what to work on next?” — Moving from waiting to taking action:</a:t>
            </a:r>
          </a:p>
        </p:txBody>
      </p:sp>
      <p:pic>
        <p:nvPicPr>
          <p:cNvPr id="4" name="Picture 3" descr="permission_reflex_vignette_1789029191014.jpg"/>
          <p:cNvPicPr>
            <a:picLocks noChangeAspect="1"/>
          </p:cNvPicPr>
          <p:nvPr/>
        </p:nvPicPr>
        <p:blipFill>
          <a:blip r:embed="rId2"/>
          <a:stretch>
            <a:fillRect/>
          </a:stretch>
        </p:blipFill>
        <p:spPr>
          <a:xfrm>
            <a:off x="731520" y="1645920"/>
            <a:ext cx="4297680" cy="2423160"/>
          </a:xfrm>
          <a:prstGeom prst="rect">
            <a:avLst/>
          </a:prstGeom>
        </p:spPr>
      </p:pic>
      <p:sp>
        <p:nvSpPr>
          <p:cNvPr id="5" name="Rectangle 4"/>
          <p:cNvSpPr/>
          <p:nvPr/>
        </p:nvSpPr>
        <p:spPr>
          <a:xfrm>
            <a:off x="731520" y="1645920"/>
            <a:ext cx="4297680" cy="242316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4224528"/>
            <a:ext cx="4297680" cy="2176272"/>
          </a:xfrm>
          <a:prstGeom prst="roundRect">
            <a:avLst/>
          </a:prstGeom>
          <a:solidFill>
            <a:srgbClr val="FDF2F0"/>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spcAft>
                <a:spcPts val="400"/>
              </a:spcAft>
              <a:defRPr sz="1000" b="1">
                <a:solidFill>
                  <a:srgbClr val="A8432B"/>
                </a:solidFill>
                <a:latin typeface="Segoe UI"/>
              </a:defRPr>
            </a:pPr>
            <a:r>
              <a:t>💭 WHAT WE THOUGHT INSIDE (MONTH 1)</a:t>
            </a:r>
          </a:p>
          <a:p>
            <a:pPr>
              <a:lnSpc>
                <a:spcPct val="122000"/>
              </a:lnSpc>
              <a:defRPr sz="1200" i="1" b="1">
                <a:solidFill>
                  <a:srgbClr val="1A1D20"/>
                </a:solidFill>
                <a:latin typeface="Georgia"/>
              </a:defRPr>
            </a:pPr>
            <a:r>
              <a:t>“Wait... who is going to tell me what to work on next? In every school I've ever taught at, the department head handed me a syllabus and told me what page to teach. Here, no one hands me tasks. What if I pick the wrong thing to fix?”</a:t>
            </a:r>
          </a:p>
        </p:txBody>
      </p:sp>
      <p:sp>
        <p:nvSpPr>
          <p:cNvPr id="7" name="Rounded Rectangle 6"/>
          <p:cNvSpPr/>
          <p:nvPr/>
        </p:nvSpPr>
        <p:spPr>
          <a:xfrm>
            <a:off x="5303520" y="1627632"/>
            <a:ext cx="2926080" cy="292608"/>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A8432B"/>
                </a:solidFill>
                <a:latin typeface="Segoe UI"/>
              </a:defRPr>
            </a:pPr>
            <a:r>
              <a:t>TEAMWORK SHIFT #1</a:t>
            </a:r>
          </a:p>
        </p:txBody>
      </p:sp>
      <p:sp>
        <p:nvSpPr>
          <p:cNvPr id="8" name="TextBox 7"/>
          <p:cNvSpPr txBox="1"/>
          <p:nvPr/>
        </p:nvSpPr>
        <p:spPr>
          <a:xfrm>
            <a:off x="5303520" y="1975104"/>
            <a:ext cx="6156655" cy="384048"/>
          </a:xfrm>
          <a:prstGeom prst="rect">
            <a:avLst/>
          </a:prstGeom>
          <a:noFill/>
        </p:spPr>
        <p:txBody>
          <a:bodyPr wrap="square" lIns="0" rIns="0" tIns="0" bIns="0">
            <a:spAutoFit/>
          </a:bodyPr>
          <a:lstStyle/>
          <a:p>
            <a:pPr>
              <a:defRPr sz="1800" b="1">
                <a:solidFill>
                  <a:srgbClr val="1A1D20"/>
                </a:solidFill>
                <a:latin typeface="Georgia"/>
              </a:defRPr>
            </a:pPr>
            <a:r>
              <a:t>From Waiting for Orders to Taking Initiative</a:t>
            </a:r>
          </a:p>
        </p:txBody>
      </p:sp>
      <p:sp>
        <p:nvSpPr>
          <p:cNvPr id="9" name="Rounded Rectangle 8"/>
          <p:cNvSpPr/>
          <p:nvPr/>
        </p:nvSpPr>
        <p:spPr>
          <a:xfrm>
            <a:off x="5303520" y="2542032"/>
            <a:ext cx="6156655" cy="1078992"/>
          </a:xfrm>
          <a:prstGeom prst="roundRect">
            <a:avLst/>
          </a:prstGeom>
          <a:solidFill>
            <a:srgbClr val="FEF2F2"/>
          </a:solidFill>
          <a:ln w="1270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200">
                <a:solidFill>
                  <a:srgbClr val="A8432B"/>
                </a:solidFill>
                <a:latin typeface="Segoe UI Semibold"/>
              </a:defRPr>
            </a:pPr>
            <a:r>
              <a:t>❌ OLD HABIT: Waiting for the Green Light</a:t>
            </a:r>
          </a:p>
          <a:p>
            <a:pPr>
              <a:lnSpc>
                <a:spcPct val="116000"/>
              </a:lnSpc>
              <a:defRPr sz="1150">
                <a:solidFill>
                  <a:srgbClr val="5F646E"/>
                </a:solidFill>
                <a:latin typeface="Segoe UI"/>
              </a:defRPr>
            </a:pPr>
            <a:r>
              <a:t>Conditioned by traditional schools to wait for someone to assign work, approve outlines, or sign off before trying a new teaching idea.</a:t>
            </a:r>
          </a:p>
        </p:txBody>
      </p:sp>
      <p:sp>
        <p:nvSpPr>
          <p:cNvPr id="10" name="Rounded Rectangle 9"/>
          <p:cNvSpPr/>
          <p:nvPr/>
        </p:nvSpPr>
        <p:spPr>
          <a:xfrm>
            <a:off x="5303520" y="3749039"/>
            <a:ext cx="6156655" cy="1133856"/>
          </a:xfrm>
          <a:prstGeom prst="roundRect">
            <a:avLst/>
          </a:prstGeom>
          <a:solidFill>
            <a:srgbClr val="ECFDF5"/>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250">
                <a:solidFill>
                  <a:srgbClr val="166534"/>
                </a:solidFill>
                <a:latin typeface="Segoe UI Semibold"/>
              </a:defRPr>
            </a:pPr>
            <a:r>
              <a:t>✓ OUR NEW WAY: If You See a Need, You Can Start</a:t>
            </a:r>
          </a:p>
          <a:p>
            <a:pPr>
              <a:lnSpc>
                <a:spcPct val="116000"/>
              </a:lnSpc>
              <a:defRPr sz="1150">
                <a:solidFill>
                  <a:srgbClr val="1A1D20"/>
                </a:solidFill>
                <a:latin typeface="Segoe UI"/>
              </a:defRPr>
            </a:pPr>
            <a:r>
              <a:t>You have full trust to take action. If an activity confuses students, you don't need a manager's permission to improve it—talk with peers and test a fix.</a:t>
            </a:r>
          </a:p>
        </p:txBody>
      </p:sp>
      <p:sp>
        <p:nvSpPr>
          <p:cNvPr id="11" name="Rounded Rectangle 10"/>
          <p:cNvSpPr/>
          <p:nvPr/>
        </p:nvSpPr>
        <p:spPr>
          <a:xfrm>
            <a:off x="5303520" y="5010912"/>
            <a:ext cx="6156655" cy="1298448"/>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100" b="1">
                <a:solidFill>
                  <a:srgbClr val="1A1D20"/>
                </a:solidFill>
                <a:latin typeface="Segoe UI"/>
              </a:defRPr>
            </a:pPr>
            <a:r>
              <a:t>🔑 THE MINDSET SHIFT:</a:t>
            </a:r>
          </a:p>
          <a:p>
            <a:pPr>
              <a:lnSpc>
                <a:spcPct val="122000"/>
              </a:lnSpc>
              <a:defRPr i="1" sz="1250">
                <a:solidFill>
                  <a:srgbClr val="1A1D20"/>
                </a:solidFill>
                <a:latin typeface="Georgia"/>
              </a:defRPr>
            </a:pPr>
            <a:r>
              <a:t>“In our team, nobody assigns you work. You don't ask 'Am I allowed to help here?' If you see a way to make learning better, you own helping make it happen.”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MONTH 1 REFLECTION • CONFIDENCE &amp; REST</a:t>
            </a:r>
          </a:p>
          <a:p>
            <a:pPr>
              <a:spcAft>
                <a:spcPts val="300"/>
              </a:spcAft>
              <a:defRPr sz="2500" b="1">
                <a:solidFill>
                  <a:srgbClr val="1A1D20"/>
                </a:solidFill>
                <a:latin typeface="Georgia"/>
              </a:defRPr>
            </a:pPr>
            <a:r>
              <a:t>Reflection 2: The Quiet Guilt ("Am I Doing Enough?")</a:t>
            </a:r>
          </a:p>
          <a:p>
            <a:pPr>
              <a:defRPr sz="1300">
                <a:solidFill>
                  <a:srgbClr val="5F646E"/>
                </a:solidFill>
                <a:latin typeface="Segoe UI"/>
              </a:defRPr>
            </a:pPr>
            <a:r>
              <a:t>“Nobody praised my work today. Does the team think I'm slacking?” — Finding confidence together:</a:t>
            </a:r>
          </a:p>
        </p:txBody>
      </p:sp>
      <p:pic>
        <p:nvPicPr>
          <p:cNvPr id="4" name="Picture 3" descr="phantom_guilt_vignette_1789029207946.jpg"/>
          <p:cNvPicPr>
            <a:picLocks noChangeAspect="1"/>
          </p:cNvPicPr>
          <p:nvPr/>
        </p:nvPicPr>
        <p:blipFill>
          <a:blip r:embed="rId2"/>
          <a:stretch>
            <a:fillRect/>
          </a:stretch>
        </p:blipFill>
        <p:spPr>
          <a:xfrm>
            <a:off x="731520" y="1645920"/>
            <a:ext cx="4297680" cy="2423160"/>
          </a:xfrm>
          <a:prstGeom prst="rect">
            <a:avLst/>
          </a:prstGeom>
        </p:spPr>
      </p:pic>
      <p:sp>
        <p:nvSpPr>
          <p:cNvPr id="5" name="Rectangle 4"/>
          <p:cNvSpPr/>
          <p:nvPr/>
        </p:nvSpPr>
        <p:spPr>
          <a:xfrm>
            <a:off x="731520" y="1645920"/>
            <a:ext cx="4297680" cy="242316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4224528"/>
            <a:ext cx="4297680" cy="2176272"/>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spcAft>
                <a:spcPts val="400"/>
              </a:spcAft>
              <a:defRPr sz="1000" b="1">
                <a:solidFill>
                  <a:srgbClr val="B45309"/>
                </a:solidFill>
                <a:latin typeface="Segoe UI"/>
              </a:defRPr>
            </a:pPr>
            <a:r>
              <a:t>💭 WHAT WE THOUGHT INSIDE (MONTH 1)</a:t>
            </a:r>
          </a:p>
          <a:p>
            <a:pPr>
              <a:lnSpc>
                <a:spcPct val="122000"/>
              </a:lnSpc>
              <a:defRPr sz="1200" i="1" b="1">
                <a:solidFill>
                  <a:srgbClr val="1A1D20"/>
                </a:solidFill>
                <a:latin typeface="Georgia"/>
              </a:defRPr>
            </a:pPr>
            <a:r>
              <a:t>“No one said 'great job' on my work today. Are my teammates happy with me? There are no performance reviews or teacher evaluations here. When I close my laptop at 3 PM, I feel an irrational urge to sit back down just so people see me online.”</a:t>
            </a:r>
          </a:p>
        </p:txBody>
      </p:sp>
      <p:sp>
        <p:nvSpPr>
          <p:cNvPr id="7" name="Rounded Rectangle 6"/>
          <p:cNvSpPr/>
          <p:nvPr/>
        </p:nvSpPr>
        <p:spPr>
          <a:xfrm>
            <a:off x="5303520" y="1627632"/>
            <a:ext cx="2926080" cy="292608"/>
          </a:xfrm>
          <a:prstGeom prst="roundRect">
            <a:avLst/>
          </a:prstGeom>
          <a:solidFill>
            <a:srgbClr val="FEF3C7"/>
          </a:solidFill>
          <a:ln w="952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B45309"/>
                </a:solidFill>
                <a:latin typeface="Segoe UI"/>
              </a:defRPr>
            </a:pPr>
            <a:r>
              <a:t>TEAMWORK SHIFT #2</a:t>
            </a:r>
          </a:p>
        </p:txBody>
      </p:sp>
      <p:sp>
        <p:nvSpPr>
          <p:cNvPr id="8" name="TextBox 7"/>
          <p:cNvSpPr txBox="1"/>
          <p:nvPr/>
        </p:nvSpPr>
        <p:spPr>
          <a:xfrm>
            <a:off x="5303520" y="1975104"/>
            <a:ext cx="6156655" cy="384048"/>
          </a:xfrm>
          <a:prstGeom prst="rect">
            <a:avLst/>
          </a:prstGeom>
          <a:noFill/>
        </p:spPr>
        <p:txBody>
          <a:bodyPr wrap="square" lIns="0" rIns="0" tIns="0" bIns="0">
            <a:spAutoFit/>
          </a:bodyPr>
          <a:lstStyle/>
          <a:p>
            <a:pPr>
              <a:defRPr sz="1800" b="1">
                <a:solidFill>
                  <a:srgbClr val="1A1D20"/>
                </a:solidFill>
                <a:latin typeface="Georgia"/>
              </a:defRPr>
            </a:pPr>
            <a:r>
              <a:t>From Seeking Praise to Real Mutual Trust</a:t>
            </a:r>
          </a:p>
        </p:txBody>
      </p:sp>
      <p:sp>
        <p:nvSpPr>
          <p:cNvPr id="9" name="Rounded Rectangle 8"/>
          <p:cNvSpPr/>
          <p:nvPr/>
        </p:nvSpPr>
        <p:spPr>
          <a:xfrm>
            <a:off x="5303520" y="2542032"/>
            <a:ext cx="6156655" cy="1078992"/>
          </a:xfrm>
          <a:prstGeom prst="roundRect">
            <a:avLst/>
          </a:prstGeom>
          <a:solidFill>
            <a:srgbClr val="FEF2F2"/>
          </a:solidFill>
          <a:ln w="1270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200">
                <a:solidFill>
                  <a:srgbClr val="A8432B"/>
                </a:solidFill>
                <a:latin typeface="Segoe UI Semibold"/>
              </a:defRPr>
            </a:pPr>
            <a:r>
              <a:t>❌ OLD HABIT: Working for Supervisory Approval</a:t>
            </a:r>
          </a:p>
          <a:p>
            <a:pPr>
              <a:lnSpc>
                <a:spcPct val="116000"/>
              </a:lnSpc>
              <a:defRPr sz="1150">
                <a:solidFill>
                  <a:srgbClr val="5F646E"/>
                </a:solidFill>
                <a:latin typeface="Segoe UI"/>
              </a:defRPr>
            </a:pPr>
            <a:r>
              <a:t>Relying on manager compliments, annual review scores, and visible 'chair time' to feel secure about our professional worth.</a:t>
            </a:r>
          </a:p>
        </p:txBody>
      </p:sp>
      <p:sp>
        <p:nvSpPr>
          <p:cNvPr id="10" name="Rounded Rectangle 9"/>
          <p:cNvSpPr/>
          <p:nvPr/>
        </p:nvSpPr>
        <p:spPr>
          <a:xfrm>
            <a:off x="5303520" y="3749039"/>
            <a:ext cx="6156655" cy="1133856"/>
          </a:xfrm>
          <a:prstGeom prst="roundRect">
            <a:avLst/>
          </a:prstGeom>
          <a:solidFill>
            <a:srgbClr val="ECFDF5"/>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250">
                <a:solidFill>
                  <a:srgbClr val="166534"/>
                </a:solidFill>
                <a:latin typeface="Segoe UI Semibold"/>
              </a:defRPr>
            </a:pPr>
            <a:r>
              <a:t>✓ OUR NEW WAY: Mutual Trust &amp; Honest Boundaries</a:t>
            </a:r>
          </a:p>
          <a:p>
            <a:pPr>
              <a:lnSpc>
                <a:spcPct val="116000"/>
              </a:lnSpc>
              <a:defRPr sz="1150">
                <a:solidFill>
                  <a:srgbClr val="1A1D20"/>
                </a:solidFill>
                <a:latin typeface="Segoe UI"/>
              </a:defRPr>
            </a:pPr>
            <a:r>
              <a:t>Trusting that your teammates value you. We measure our impact by whether students are learning, not by how many late hours we spend at our desks.</a:t>
            </a:r>
          </a:p>
        </p:txBody>
      </p:sp>
      <p:sp>
        <p:nvSpPr>
          <p:cNvPr id="11" name="Rounded Rectangle 10"/>
          <p:cNvSpPr/>
          <p:nvPr/>
        </p:nvSpPr>
        <p:spPr>
          <a:xfrm>
            <a:off x="5303520" y="5010912"/>
            <a:ext cx="6156655" cy="1298448"/>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100" b="1">
                <a:solidFill>
                  <a:srgbClr val="1A1D20"/>
                </a:solidFill>
                <a:latin typeface="Segoe UI"/>
              </a:defRPr>
            </a:pPr>
            <a:r>
              <a:t>🔑 THE MINDSET SHIFT:</a:t>
            </a:r>
          </a:p>
          <a:p>
            <a:pPr>
              <a:lnSpc>
                <a:spcPct val="122000"/>
              </a:lnSpc>
              <a:defRPr i="1" sz="1250">
                <a:solidFill>
                  <a:srgbClr val="1A1D20"/>
                </a:solidFill>
                <a:latin typeface="Georgia"/>
              </a:defRPr>
            </a:pPr>
            <a:r>
              <a:t>“You don't need a manager's gold star to know your work matters. Do good work, support your peers, and close your laptop on time with a clear mind.”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MONTH 1 REFLECTION • HONEST FEEDBACK</a:t>
            </a:r>
          </a:p>
          <a:p>
            <a:pPr>
              <a:spcAft>
                <a:spcPts val="300"/>
              </a:spcAft>
              <a:defRPr sz="2200" b="1">
                <a:solidFill>
                  <a:srgbClr val="1A1D20"/>
                </a:solidFill>
                <a:latin typeface="Georgia"/>
              </a:defRPr>
            </a:pPr>
            <a:r>
              <a:t>Reflection 3: The Politeness Trap ("I Don't Want to Hurt Feelings")</a:t>
            </a:r>
          </a:p>
          <a:p>
            <a:pPr>
              <a:defRPr sz="1300">
                <a:solidFill>
                  <a:srgbClr val="5F646E"/>
                </a:solidFill>
                <a:latin typeface="Segoe UI"/>
              </a:defRPr>
            </a:pPr>
            <a:r>
              <a:t>“If I point out a mistake, will they take it personally?” — Caring for the person while being honest about the work:</a:t>
            </a:r>
          </a:p>
        </p:txBody>
      </p:sp>
      <p:pic>
        <p:nvPicPr>
          <p:cNvPr id="4" name="Picture 3" descr="candor_dialogue_vignette_1789029225997.jpg"/>
          <p:cNvPicPr>
            <a:picLocks noChangeAspect="1"/>
          </p:cNvPicPr>
          <p:nvPr/>
        </p:nvPicPr>
        <p:blipFill>
          <a:blip r:embed="rId2"/>
          <a:stretch>
            <a:fillRect/>
          </a:stretch>
        </p:blipFill>
        <p:spPr>
          <a:xfrm>
            <a:off x="731520" y="1645920"/>
            <a:ext cx="4297680" cy="2423160"/>
          </a:xfrm>
          <a:prstGeom prst="rect">
            <a:avLst/>
          </a:prstGeom>
        </p:spPr>
      </p:pic>
      <p:sp>
        <p:nvSpPr>
          <p:cNvPr id="5" name="Rectangle 4"/>
          <p:cNvSpPr/>
          <p:nvPr/>
        </p:nvSpPr>
        <p:spPr>
          <a:xfrm>
            <a:off x="731520" y="1645920"/>
            <a:ext cx="4297680" cy="242316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731520" y="4224528"/>
            <a:ext cx="4297680" cy="2176272"/>
          </a:xfrm>
          <a:prstGeom prst="roundRect">
            <a:avLst/>
          </a:prstGeom>
          <a:solidFill>
            <a:srgbClr val="EEF2F6"/>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201168" rIns="201168" tIns="128016"/>
          <a:lstStyle/>
          <a:p>
            <a:pPr algn="ctr">
              <a:spcAft>
                <a:spcPts val="400"/>
              </a:spcAft>
              <a:defRPr sz="1000" b="1">
                <a:solidFill>
                  <a:srgbClr val="1E3A5F"/>
                </a:solidFill>
                <a:latin typeface="Segoe UI"/>
              </a:defRPr>
            </a:pPr>
            <a:r>
              <a:t>💭 WHAT WE THOUGHT INSIDE (MONTH 1)</a:t>
            </a:r>
          </a:p>
          <a:p>
            <a:pPr>
              <a:lnSpc>
                <a:spcPct val="122000"/>
              </a:lnSpc>
              <a:defRPr sz="1200" i="1" b="1">
                <a:solidFill>
                  <a:srgbClr val="1A1D20"/>
                </a:solidFill>
                <a:latin typeface="Georgia"/>
              </a:defRPr>
            </a:pPr>
            <a:r>
              <a:t>“If I tell my colleague their audio script or exercise is confusing, will they get upset? We all like each other and want to be friendly. Maybe I should just stay quiet, say 'looks nice,' and avoid any awkwardness.”</a:t>
            </a:r>
          </a:p>
        </p:txBody>
      </p:sp>
      <p:sp>
        <p:nvSpPr>
          <p:cNvPr id="7" name="Rounded Rectangle 6"/>
          <p:cNvSpPr/>
          <p:nvPr/>
        </p:nvSpPr>
        <p:spPr>
          <a:xfrm>
            <a:off x="5303520" y="1627632"/>
            <a:ext cx="2926080" cy="292608"/>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000" b="1">
                <a:solidFill>
                  <a:srgbClr val="1E3A5F"/>
                </a:solidFill>
                <a:latin typeface="Segoe UI"/>
              </a:defRPr>
            </a:pPr>
            <a:r>
              <a:t>TEAMWORK SHIFT #3</a:t>
            </a:r>
          </a:p>
        </p:txBody>
      </p:sp>
      <p:sp>
        <p:nvSpPr>
          <p:cNvPr id="8" name="TextBox 7"/>
          <p:cNvSpPr txBox="1"/>
          <p:nvPr/>
        </p:nvSpPr>
        <p:spPr>
          <a:xfrm>
            <a:off x="5303520" y="1975104"/>
            <a:ext cx="6156655" cy="384048"/>
          </a:xfrm>
          <a:prstGeom prst="rect">
            <a:avLst/>
          </a:prstGeom>
          <a:noFill/>
        </p:spPr>
        <p:txBody>
          <a:bodyPr wrap="square" lIns="0" rIns="0" tIns="0" bIns="0">
            <a:spAutoFit/>
          </a:bodyPr>
          <a:lstStyle/>
          <a:p>
            <a:pPr>
              <a:defRPr sz="1800" b="1">
                <a:solidFill>
                  <a:srgbClr val="1A1D20"/>
                </a:solidFill>
                <a:latin typeface="Georgia"/>
              </a:defRPr>
            </a:pPr>
            <a:r>
              <a:t>Critique the Work, Care for Each Other</a:t>
            </a:r>
          </a:p>
        </p:txBody>
      </p:sp>
      <p:sp>
        <p:nvSpPr>
          <p:cNvPr id="9" name="Rounded Rectangle 8"/>
          <p:cNvSpPr/>
          <p:nvPr/>
        </p:nvSpPr>
        <p:spPr>
          <a:xfrm>
            <a:off x="5303520" y="2542032"/>
            <a:ext cx="6156655" cy="1078992"/>
          </a:xfrm>
          <a:prstGeom prst="roundRect">
            <a:avLst/>
          </a:prstGeom>
          <a:solidFill>
            <a:srgbClr val="FEF2F2"/>
          </a:solidFill>
          <a:ln w="1270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200">
                <a:solidFill>
                  <a:srgbClr val="A8432B"/>
                </a:solidFill>
                <a:latin typeface="Segoe UI Semibold"/>
              </a:defRPr>
            </a:pPr>
            <a:r>
              <a:t>❌ OLD HABIT: Polite Silence &amp; Avoiding Awkwardness</a:t>
            </a:r>
          </a:p>
          <a:p>
            <a:pPr>
              <a:lnSpc>
                <a:spcPct val="116000"/>
              </a:lnSpc>
              <a:defRPr sz="1150">
                <a:solidFill>
                  <a:srgbClr val="5F646E"/>
                </a:solidFill>
                <a:latin typeface="Segoe UI"/>
              </a:defRPr>
            </a:pPr>
            <a:r>
              <a:t>Smiling through differences, holding back honest thoughts, and letting confusing lesson materials slip through just to keep the peace.</a:t>
            </a:r>
          </a:p>
        </p:txBody>
      </p:sp>
      <p:sp>
        <p:nvSpPr>
          <p:cNvPr id="10" name="Rounded Rectangle 9"/>
          <p:cNvSpPr/>
          <p:nvPr/>
        </p:nvSpPr>
        <p:spPr>
          <a:xfrm>
            <a:off x="5303520" y="3749039"/>
            <a:ext cx="6156655" cy="1133856"/>
          </a:xfrm>
          <a:prstGeom prst="roundRect">
            <a:avLst/>
          </a:prstGeom>
          <a:solidFill>
            <a:srgbClr val="ECFDF5"/>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250">
                <a:solidFill>
                  <a:srgbClr val="166534"/>
                </a:solidFill>
                <a:latin typeface="Segoe UI Semibold"/>
              </a:defRPr>
            </a:pPr>
            <a:r>
              <a:t>✓ OUR NEW WAY: Kind Honesty &amp; Warm Support</a:t>
            </a:r>
          </a:p>
          <a:p>
            <a:pPr>
              <a:lnSpc>
                <a:spcPct val="116000"/>
              </a:lnSpc>
              <a:defRPr sz="1150">
                <a:solidFill>
                  <a:srgbClr val="1A1D20"/>
                </a:solidFill>
                <a:latin typeface="Segoe UI"/>
              </a:defRPr>
            </a:pPr>
            <a:r>
              <a:t>Sharing clear, constructive feedback because you want your teammates and students to succeed, while offering unconditional warmth as colleagues.</a:t>
            </a:r>
          </a:p>
        </p:txBody>
      </p:sp>
      <p:sp>
        <p:nvSpPr>
          <p:cNvPr id="11" name="Rounded Rectangle 10"/>
          <p:cNvSpPr/>
          <p:nvPr/>
        </p:nvSpPr>
        <p:spPr>
          <a:xfrm>
            <a:off x="5303520" y="5010912"/>
            <a:ext cx="6156655" cy="1298448"/>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100" b="1">
                <a:solidFill>
                  <a:srgbClr val="1A1D20"/>
                </a:solidFill>
                <a:latin typeface="Segoe UI"/>
              </a:defRPr>
            </a:pPr>
            <a:r>
              <a:t>🔑 THE MINDSET SHIFT:</a:t>
            </a:r>
          </a:p>
          <a:p>
            <a:pPr>
              <a:lnSpc>
                <a:spcPct val="122000"/>
              </a:lnSpc>
              <a:defRPr i="1" sz="1250">
                <a:solidFill>
                  <a:srgbClr val="1A1D20"/>
                </a:solidFill>
                <a:latin typeface="Georgia"/>
              </a:defRPr>
            </a:pPr>
            <a:r>
              <a:t>“Staying silent when you spot an issue isn't kindness—it leaves your teammate hanging. Be honest about the work, and be kind and supportive to the person.”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FOUNDATIONAL INSPIRATION • THE VALVE MODEL</a:t>
            </a:r>
          </a:p>
          <a:p>
            <a:pPr>
              <a:spcAft>
                <a:spcPts val="300"/>
              </a:spcAft>
              <a:defRPr sz="2500" b="1">
                <a:solidFill>
                  <a:srgbClr val="1A1D20"/>
                </a:solidFill>
                <a:latin typeface="Georgia"/>
              </a:defRPr>
            </a:pPr>
            <a:r>
              <a:t>Welcome to Flatland: How Valve Works Without Bosses</a:t>
            </a:r>
          </a:p>
          <a:p>
            <a:pPr>
              <a:defRPr sz="1300">
                <a:solidFill>
                  <a:srgbClr val="5F646E"/>
                </a:solidFill>
                <a:latin typeface="Segoe UI"/>
              </a:defRPr>
            </a:pPr>
            <a:r>
              <a:t>For 30 years, Valve proved that creative teams don't need managers to build world-class work:</a:t>
            </a:r>
          </a:p>
        </p:txBody>
      </p:sp>
      <p:sp>
        <p:nvSpPr>
          <p:cNvPr id="4" name="Rounded Rectangle 3"/>
          <p:cNvSpPr/>
          <p:nvPr/>
        </p:nvSpPr>
        <p:spPr>
          <a:xfrm>
            <a:off x="731520" y="1572768"/>
            <a:ext cx="3364992" cy="3977639"/>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737360"/>
            <a:ext cx="2999232" cy="310896"/>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A8432B"/>
                </a:solidFill>
                <a:latin typeface="Segoe UI"/>
              </a:defRPr>
            </a:pPr>
            <a:r>
              <a:t>01 • ZERO MANAGERS</a:t>
            </a:r>
          </a:p>
        </p:txBody>
      </p:sp>
      <p:sp>
        <p:nvSpPr>
          <p:cNvPr id="6" name="TextBox 5"/>
          <p:cNvSpPr txBox="1"/>
          <p:nvPr/>
        </p:nvSpPr>
        <p:spPr>
          <a:xfrm>
            <a:off x="914400" y="2084832"/>
            <a:ext cx="2999232" cy="2496311"/>
          </a:xfrm>
          <a:prstGeom prst="rect">
            <a:avLst/>
          </a:prstGeom>
          <a:noFill/>
        </p:spPr>
        <p:txBody>
          <a:bodyPr wrap="square" lIns="0" rIns="0" tIns="0" bIns="0">
            <a:spAutoFit/>
          </a:bodyPr>
          <a:lstStyle/>
          <a:p>
            <a:pPr>
              <a:spcAft>
                <a:spcPts val="200"/>
              </a:spcAft>
              <a:defRPr sz="1900" b="1">
                <a:solidFill>
                  <a:srgbClr val="1A1D20"/>
                </a:solidFill>
                <a:latin typeface="Georgia"/>
              </a:defRPr>
            </a:pPr>
            <a:r>
              <a:t>Total Trust &amp; Ownership</a:t>
            </a:r>
          </a:p>
          <a:p>
            <a:pPr>
              <a:spcAft>
                <a:spcPts val="500"/>
              </a:spcAft>
              <a:defRPr sz="1000">
                <a:solidFill>
                  <a:srgbClr val="A8432B"/>
                </a:solidFill>
                <a:latin typeface="Segoe UI Semibold"/>
              </a:defRPr>
            </a:pPr>
            <a:r>
              <a:t>✦ Trusted as a creative adult</a:t>
            </a:r>
          </a:p>
          <a:p>
            <a:pPr>
              <a:lnSpc>
                <a:spcPct val="115000"/>
              </a:lnSpc>
              <a:spcAft>
                <a:spcPts val="400"/>
              </a:spcAft>
              <a:defRPr sz="950">
                <a:solidFill>
                  <a:srgbClr val="A8432B"/>
                </a:solidFill>
                <a:latin typeface="Segoe UI"/>
              </a:defRPr>
            </a:pPr>
            <a:r>
              <a:t>• </a:t>
            </a:r>
            <a:r>
              <a:rPr sz="1000">
                <a:solidFill>
                  <a:srgbClr val="1A1D20"/>
                </a:solidFill>
                <a:latin typeface="Segoe UI Semibold"/>
              </a:rPr>
              <a:t>Direct ownership: </a:t>
            </a:r>
            <a:r>
              <a:rPr sz="950">
                <a:solidFill>
                  <a:srgbClr val="5F646E"/>
                </a:solidFill>
                <a:latin typeface="Segoe UI"/>
              </a:rPr>
              <a:t>No supervisors checking lesson plans or assigning daily tasks.</a:t>
            </a:r>
          </a:p>
          <a:p>
            <a:pPr>
              <a:lnSpc>
                <a:spcPct val="115000"/>
              </a:lnSpc>
              <a:spcAft>
                <a:spcPts val="400"/>
              </a:spcAft>
              <a:defRPr sz="950">
                <a:solidFill>
                  <a:srgbClr val="A8432B"/>
                </a:solidFill>
                <a:latin typeface="Segoe UI"/>
              </a:defRPr>
            </a:pPr>
            <a:r>
              <a:t>• </a:t>
            </a:r>
            <a:r>
              <a:rPr sz="1000">
                <a:solidFill>
                  <a:srgbClr val="1A1D20"/>
                </a:solidFill>
                <a:latin typeface="Segoe UI Semibold"/>
              </a:rPr>
              <a:t>See a problem, fix it: </a:t>
            </a:r>
            <a:r>
              <a:rPr sz="950">
                <a:solidFill>
                  <a:srgbClr val="5F646E"/>
                </a:solidFill>
                <a:latin typeface="Segoe UI"/>
              </a:rPr>
              <a:t>You don't need anyone's permission to improve a confusing lesson.</a:t>
            </a:r>
          </a:p>
          <a:p>
            <a:pPr>
              <a:lnSpc>
                <a:spcPct val="115000"/>
              </a:lnSpc>
              <a:spcAft>
                <a:spcPts val="400"/>
              </a:spcAft>
              <a:defRPr sz="950">
                <a:solidFill>
                  <a:srgbClr val="A8432B"/>
                </a:solidFill>
                <a:latin typeface="Segoe UI"/>
              </a:defRPr>
            </a:pPr>
            <a:r>
              <a:t>• </a:t>
            </a:r>
            <a:r>
              <a:rPr sz="1000">
                <a:solidFill>
                  <a:srgbClr val="1A1D20"/>
                </a:solidFill>
                <a:latin typeface="Segoe UI Semibold"/>
              </a:rPr>
              <a:t>Peer trust: </a:t>
            </a:r>
            <a:r>
              <a:rPr sz="950">
                <a:solidFill>
                  <a:srgbClr val="5F646E"/>
                </a:solidFill>
                <a:latin typeface="Segoe UI"/>
              </a:rPr>
              <a:t>We answer to our students and each other, not a boss in an office.</a:t>
            </a:r>
          </a:p>
        </p:txBody>
      </p:sp>
      <p:sp>
        <p:nvSpPr>
          <p:cNvPr id="7" name="Rounded Rectangle 6"/>
          <p:cNvSpPr/>
          <p:nvPr/>
        </p:nvSpPr>
        <p:spPr>
          <a:xfrm>
            <a:off x="896112" y="4617719"/>
            <a:ext cx="3035808" cy="804672"/>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4672583"/>
            <a:ext cx="2779776" cy="694944"/>
          </a:xfrm>
          <a:prstGeom prst="rect">
            <a:avLst/>
          </a:prstGeom>
          <a:noFill/>
        </p:spPr>
        <p:txBody>
          <a:bodyPr wrap="square" lIns="0" rIns="0" tIns="0" bIns="0">
            <a:spAutoFit/>
          </a:bodyPr>
          <a:lstStyle/>
          <a:p>
            <a:pPr>
              <a:lnSpc>
                <a:spcPct val="112000"/>
              </a:lnSpc>
              <a:spcAft>
                <a:spcPts val="200"/>
              </a:spcAft>
              <a:defRPr sz="900" i="1">
                <a:solidFill>
                  <a:srgbClr val="1A1D20"/>
                </a:solidFill>
                <a:latin typeface="Georgia"/>
              </a:defRPr>
            </a:pPr>
            <a:r>
              <a:t>“We don't have any management, and nobody reports to anybody else.”</a:t>
            </a:r>
          </a:p>
          <a:p>
            <a:pPr>
              <a:defRPr sz="850">
                <a:solidFill>
                  <a:srgbClr val="A8432B"/>
                </a:solidFill>
                <a:latin typeface="Segoe UI Semibold"/>
              </a:defRPr>
            </a:pPr>
            <a:r>
              <a:t>— Valve Handbook for New Employees</a:t>
            </a:r>
          </a:p>
        </p:txBody>
      </p:sp>
      <p:sp>
        <p:nvSpPr>
          <p:cNvPr id="9" name="Rounded Rectangle 8"/>
          <p:cNvSpPr/>
          <p:nvPr/>
        </p:nvSpPr>
        <p:spPr>
          <a:xfrm>
            <a:off x="4407408" y="1572768"/>
            <a:ext cx="3364992" cy="3977639"/>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90288" y="1737360"/>
            <a:ext cx="2999232" cy="310896"/>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02 • DESKS ON WHEELS</a:t>
            </a:r>
          </a:p>
        </p:txBody>
      </p:sp>
      <p:sp>
        <p:nvSpPr>
          <p:cNvPr id="11" name="TextBox 10"/>
          <p:cNvSpPr txBox="1"/>
          <p:nvPr/>
        </p:nvSpPr>
        <p:spPr>
          <a:xfrm>
            <a:off x="4590288" y="2084832"/>
            <a:ext cx="2999232" cy="2496311"/>
          </a:xfrm>
          <a:prstGeom prst="rect">
            <a:avLst/>
          </a:prstGeom>
          <a:noFill/>
        </p:spPr>
        <p:txBody>
          <a:bodyPr wrap="square" lIns="0" rIns="0" tIns="0" bIns="0">
            <a:spAutoFit/>
          </a:bodyPr>
          <a:lstStyle/>
          <a:p>
            <a:pPr>
              <a:spcAft>
                <a:spcPts val="200"/>
              </a:spcAft>
              <a:defRPr sz="1900" b="1">
                <a:solidFill>
                  <a:srgbClr val="1A1D20"/>
                </a:solidFill>
                <a:latin typeface="Georgia"/>
              </a:defRPr>
            </a:pPr>
            <a:r>
              <a:t>Fluid Small Groups</a:t>
            </a:r>
          </a:p>
          <a:p>
            <a:pPr>
              <a:spcAft>
                <a:spcPts val="500"/>
              </a:spcAft>
              <a:defRPr sz="1000">
                <a:solidFill>
                  <a:srgbClr val="1E3A5F"/>
                </a:solidFill>
                <a:latin typeface="Segoe UI Semibold"/>
              </a:defRPr>
            </a:pPr>
            <a:r>
              <a:t>✦ Rolling to where help is needed</a:t>
            </a:r>
          </a:p>
          <a:p>
            <a:pPr>
              <a:lnSpc>
                <a:spcPct val="115000"/>
              </a:lnSpc>
              <a:spcAft>
                <a:spcPts val="400"/>
              </a:spcAft>
              <a:defRPr sz="950">
                <a:solidFill>
                  <a:srgbClr val="1E3A5F"/>
                </a:solidFill>
                <a:latin typeface="Segoe UI"/>
              </a:defRPr>
            </a:pPr>
            <a:r>
              <a:t>• </a:t>
            </a:r>
            <a:r>
              <a:rPr sz="1000">
                <a:solidFill>
                  <a:srgbClr val="1A1D20"/>
                </a:solidFill>
                <a:latin typeface="Segoe UI Semibold"/>
              </a:rPr>
              <a:t>Flexible small groups: </a:t>
            </a:r>
            <a:r>
              <a:rPr sz="950">
                <a:solidFill>
                  <a:srgbClr val="5F646E"/>
                </a:solidFill>
                <a:latin typeface="Segoe UI"/>
              </a:rPr>
              <a:t>Teachers form small hubs around specific lessons and move on when done.</a:t>
            </a:r>
          </a:p>
          <a:p>
            <a:pPr>
              <a:lnSpc>
                <a:spcPct val="115000"/>
              </a:lnSpc>
              <a:spcAft>
                <a:spcPts val="400"/>
              </a:spcAft>
              <a:defRPr sz="950">
                <a:solidFill>
                  <a:srgbClr val="1E3A5F"/>
                </a:solidFill>
                <a:latin typeface="Segoe UI"/>
              </a:defRPr>
            </a:pPr>
            <a:r>
              <a:t>• </a:t>
            </a:r>
            <a:r>
              <a:rPr sz="1000">
                <a:solidFill>
                  <a:srgbClr val="1A1D20"/>
                </a:solidFill>
                <a:latin typeface="Segoe UI Semibold"/>
              </a:rPr>
              <a:t>Rolling to the need: </a:t>
            </a:r>
            <a:r>
              <a:rPr sz="950">
                <a:solidFill>
                  <a:srgbClr val="5F646E"/>
                </a:solidFill>
                <a:latin typeface="Segoe UI"/>
              </a:rPr>
              <a:t>When a colleague is stuck or needs audio ears, roll over and pitch in.</a:t>
            </a:r>
          </a:p>
          <a:p>
            <a:pPr>
              <a:lnSpc>
                <a:spcPct val="115000"/>
              </a:lnSpc>
              <a:spcAft>
                <a:spcPts val="400"/>
              </a:spcAft>
              <a:defRPr sz="950">
                <a:solidFill>
                  <a:srgbClr val="1E3A5F"/>
                </a:solidFill>
                <a:latin typeface="Segoe UI"/>
              </a:defRPr>
            </a:pPr>
            <a:r>
              <a:t>• </a:t>
            </a:r>
            <a:r>
              <a:rPr sz="1000">
                <a:solidFill>
                  <a:srgbClr val="1A1D20"/>
                </a:solidFill>
                <a:latin typeface="Segoe UI Semibold"/>
              </a:rPr>
              <a:t>Voluntary initiative: </a:t>
            </a:r>
            <a:r>
              <a:rPr sz="950">
                <a:solidFill>
                  <a:srgbClr val="5F646E"/>
                </a:solidFill>
                <a:latin typeface="Segoe UI"/>
              </a:rPr>
              <a:t>You choose where your unique teaching strengths make the biggest impact.</a:t>
            </a:r>
          </a:p>
        </p:txBody>
      </p:sp>
      <p:sp>
        <p:nvSpPr>
          <p:cNvPr id="12" name="Rounded Rectangle 11"/>
          <p:cNvSpPr/>
          <p:nvPr/>
        </p:nvSpPr>
        <p:spPr>
          <a:xfrm>
            <a:off x="4572000" y="4617719"/>
            <a:ext cx="3035808" cy="804672"/>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0016" y="4672583"/>
            <a:ext cx="2779776" cy="694944"/>
          </a:xfrm>
          <a:prstGeom prst="rect">
            <a:avLst/>
          </a:prstGeom>
          <a:noFill/>
        </p:spPr>
        <p:txBody>
          <a:bodyPr wrap="square" lIns="0" rIns="0" tIns="0" bIns="0">
            <a:spAutoFit/>
          </a:bodyPr>
          <a:lstStyle/>
          <a:p>
            <a:pPr>
              <a:lnSpc>
                <a:spcPct val="112000"/>
              </a:lnSpc>
              <a:spcAft>
                <a:spcPts val="200"/>
              </a:spcAft>
              <a:defRPr sz="900" i="1">
                <a:solidFill>
                  <a:srgbClr val="1A1D20"/>
                </a:solidFill>
                <a:latin typeface="Georgia"/>
              </a:defRPr>
            </a:pPr>
            <a:r>
              <a:t>“Because you must decide what to work on, desks are on wheels to make moving easy.”</a:t>
            </a:r>
          </a:p>
          <a:p>
            <a:pPr>
              <a:defRPr sz="850">
                <a:solidFill>
                  <a:srgbClr val="1E3A5F"/>
                </a:solidFill>
                <a:latin typeface="Segoe UI Semibold"/>
              </a:defRPr>
            </a:pPr>
            <a:r>
              <a:t>— Welcome to Flatland (1996–Present)</a:t>
            </a:r>
          </a:p>
        </p:txBody>
      </p:sp>
      <p:sp>
        <p:nvSpPr>
          <p:cNvPr id="14" name="Rounded Rectangle 13"/>
          <p:cNvSpPr/>
          <p:nvPr/>
        </p:nvSpPr>
        <p:spPr>
          <a:xfrm>
            <a:off x="8083296" y="1572768"/>
            <a:ext cx="3364992" cy="3977639"/>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66176" y="1737360"/>
            <a:ext cx="2999232" cy="310896"/>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03 • LEARNER FIRST</a:t>
            </a:r>
          </a:p>
        </p:txBody>
      </p:sp>
      <p:sp>
        <p:nvSpPr>
          <p:cNvPr id="16" name="TextBox 15"/>
          <p:cNvSpPr txBox="1"/>
          <p:nvPr/>
        </p:nvSpPr>
        <p:spPr>
          <a:xfrm>
            <a:off x="8266176" y="2084832"/>
            <a:ext cx="2999232" cy="2496311"/>
          </a:xfrm>
          <a:prstGeom prst="rect">
            <a:avLst/>
          </a:prstGeom>
          <a:noFill/>
        </p:spPr>
        <p:txBody>
          <a:bodyPr wrap="square" lIns="0" rIns="0" tIns="0" bIns="0">
            <a:spAutoFit/>
          </a:bodyPr>
          <a:lstStyle/>
          <a:p>
            <a:pPr>
              <a:spcAft>
                <a:spcPts val="200"/>
              </a:spcAft>
              <a:defRPr sz="1900" b="1">
                <a:solidFill>
                  <a:srgbClr val="1A1D20"/>
                </a:solidFill>
                <a:latin typeface="Georgia"/>
              </a:defRPr>
            </a:pPr>
            <a:r>
              <a:t>The True North Star</a:t>
            </a:r>
          </a:p>
          <a:p>
            <a:pPr>
              <a:spcAft>
                <a:spcPts val="500"/>
              </a:spcAft>
              <a:defRPr sz="1000">
                <a:solidFill>
                  <a:srgbClr val="166534"/>
                </a:solidFill>
                <a:latin typeface="Segoe UI Semibold"/>
              </a:defRPr>
            </a:pPr>
            <a:r>
              <a:t>✦ Student impact over politics</a:t>
            </a:r>
          </a:p>
          <a:p>
            <a:pPr>
              <a:lnSpc>
                <a:spcPct val="115000"/>
              </a:lnSpc>
              <a:spcAft>
                <a:spcPts val="400"/>
              </a:spcAft>
              <a:defRPr sz="950">
                <a:solidFill>
                  <a:srgbClr val="166534"/>
                </a:solidFill>
                <a:latin typeface="Segoe UI"/>
              </a:defRPr>
            </a:pPr>
            <a:r>
              <a:t>• </a:t>
            </a:r>
            <a:r>
              <a:rPr sz="1000">
                <a:solidFill>
                  <a:srgbClr val="1A1D20"/>
                </a:solidFill>
                <a:latin typeface="Segoe UI Semibold"/>
              </a:rPr>
              <a:t>Student is the boss: </a:t>
            </a:r>
            <a:r>
              <a:rPr sz="950">
                <a:solidFill>
                  <a:srgbClr val="5F646E"/>
                </a:solidFill>
                <a:latin typeface="Segoe UI"/>
              </a:rPr>
              <a:t>We measure success by learner growth, not by manager checklists.</a:t>
            </a:r>
          </a:p>
          <a:p>
            <a:pPr>
              <a:lnSpc>
                <a:spcPct val="115000"/>
              </a:lnSpc>
              <a:spcAft>
                <a:spcPts val="400"/>
              </a:spcAft>
              <a:defRPr sz="950">
                <a:solidFill>
                  <a:srgbClr val="166534"/>
                </a:solidFill>
                <a:latin typeface="Segoe UI"/>
              </a:defRPr>
            </a:pPr>
            <a:r>
              <a:t>• </a:t>
            </a:r>
            <a:r>
              <a:rPr sz="1000">
                <a:solidFill>
                  <a:srgbClr val="1A1D20"/>
                </a:solidFill>
                <a:latin typeface="Segoe UI Semibold"/>
              </a:rPr>
              <a:t>Zero office politics: </a:t>
            </a:r>
            <a:r>
              <a:rPr sz="950">
                <a:solidFill>
                  <a:srgbClr val="5F646E"/>
                </a:solidFill>
                <a:latin typeface="Segoe UI"/>
              </a:rPr>
              <a:t>Without supervisors to impress, there are no internal ladders or games.</a:t>
            </a:r>
          </a:p>
          <a:p>
            <a:pPr>
              <a:lnSpc>
                <a:spcPct val="115000"/>
              </a:lnSpc>
              <a:spcAft>
                <a:spcPts val="400"/>
              </a:spcAft>
              <a:defRPr sz="950">
                <a:solidFill>
                  <a:srgbClr val="166534"/>
                </a:solidFill>
                <a:latin typeface="Segoe UI"/>
              </a:defRPr>
            </a:pPr>
            <a:r>
              <a:t>• </a:t>
            </a:r>
            <a:r>
              <a:rPr sz="1000">
                <a:solidFill>
                  <a:srgbClr val="1A1D20"/>
                </a:solidFill>
                <a:latin typeface="Segoe UI Semibold"/>
              </a:rPr>
              <a:t>Freedom with care: </a:t>
            </a:r>
            <a:r>
              <a:rPr sz="950">
                <a:solidFill>
                  <a:srgbClr val="5F646E"/>
                </a:solidFill>
                <a:latin typeface="Segoe UI"/>
              </a:rPr>
              <a:t>Autonomy works only when teammates share early and support each other.</a:t>
            </a:r>
          </a:p>
        </p:txBody>
      </p:sp>
      <p:sp>
        <p:nvSpPr>
          <p:cNvPr id="17" name="Rounded Rectangle 16"/>
          <p:cNvSpPr/>
          <p:nvPr/>
        </p:nvSpPr>
        <p:spPr>
          <a:xfrm>
            <a:off x="8247888" y="4617719"/>
            <a:ext cx="3035808" cy="804672"/>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5904" y="4672583"/>
            <a:ext cx="2779776" cy="694944"/>
          </a:xfrm>
          <a:prstGeom prst="rect">
            <a:avLst/>
          </a:prstGeom>
          <a:noFill/>
        </p:spPr>
        <p:txBody>
          <a:bodyPr wrap="square" lIns="0" rIns="0" tIns="0" bIns="0">
            <a:spAutoFit/>
          </a:bodyPr>
          <a:lstStyle/>
          <a:p>
            <a:pPr>
              <a:lnSpc>
                <a:spcPct val="112000"/>
              </a:lnSpc>
              <a:spcAft>
                <a:spcPts val="200"/>
              </a:spcAft>
              <a:defRPr sz="900" i="1">
                <a:solidFill>
                  <a:srgbClr val="1A1D20"/>
                </a:solidFill>
                <a:latin typeface="Georgia"/>
              </a:defRPr>
            </a:pPr>
            <a:r>
              <a:t>“The customer is the only boss. Focus entirely on delivering delight to learners.”</a:t>
            </a:r>
          </a:p>
          <a:p>
            <a:pPr>
              <a:defRPr sz="850">
                <a:solidFill>
                  <a:srgbClr val="166534"/>
                </a:solidFill>
                <a:latin typeface="Segoe UI Semibold"/>
              </a:defRPr>
            </a:pPr>
            <a:r>
              <a:t>— Valve Core Philosophy</a:t>
            </a:r>
          </a:p>
        </p:txBody>
      </p:sp>
      <p:sp>
        <p:nvSpPr>
          <p:cNvPr id="19" name="Rounded Rectangle 18"/>
          <p:cNvSpPr/>
          <p:nvPr/>
        </p:nvSpPr>
        <p:spPr>
          <a:xfrm>
            <a:off x="731520" y="5669280"/>
            <a:ext cx="10728655" cy="822960"/>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73152"/>
          <a:lstStyle/>
          <a:p>
            <a:pPr algn="ctr">
              <a:spcAft>
                <a:spcPts val="200"/>
              </a:spcAft>
              <a:defRPr sz="1000" b="1">
                <a:solidFill>
                  <a:srgbClr val="A8432B"/>
                </a:solidFill>
                <a:latin typeface="Segoe UI"/>
              </a:defRPr>
            </a:pPr>
            <a:r>
              <a:t>💡 WHY THIS MATTERS FOR OUR TEACHING TEAM</a:t>
            </a:r>
          </a:p>
          <a:p>
            <a:pPr algn="ctr">
              <a:defRPr sz="1150" i="1" b="1">
                <a:solidFill>
                  <a:srgbClr val="1A1D20"/>
                </a:solidFill>
                <a:latin typeface="Georgia"/>
              </a:defRPr>
            </a:pPr>
            <a:r>
              <a:t>“We aren't making video games, but creative teaching requires the exact same trust. Freedom from bosses only works when we stay connected, share our work early, and look out for each other as true partners.”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FOUNDATIONAL PHILOSOPHY • THE ECONOMIC &amp; CREATIVE LOGIC</a:t>
            </a:r>
          </a:p>
          <a:p>
            <a:pPr>
              <a:spcAft>
                <a:spcPts val="300"/>
              </a:spcAft>
              <a:defRPr sz="2200" b="1">
                <a:solidFill>
                  <a:srgbClr val="1A1D20"/>
                </a:solidFill>
                <a:latin typeface="Georgia"/>
              </a:defRPr>
            </a:pPr>
            <a:r>
              <a:t>Gabe Newell's Ideology: Why Hierarchies Destroy Creative Value</a:t>
            </a:r>
          </a:p>
          <a:p>
            <a:pPr>
              <a:defRPr sz="1300">
                <a:solidFill>
                  <a:srgbClr val="5F646E"/>
                </a:solidFill>
                <a:latin typeface="Segoe UI"/>
              </a:defRPr>
            </a:pPr>
            <a:r>
              <a:t>From Ronald Coase's transaction costs to human leverage: why Valve eliminated bosses to unleash potential</a:t>
            </a:r>
          </a:p>
        </p:txBody>
      </p:sp>
      <p:sp>
        <p:nvSpPr>
          <p:cNvPr id="4" name="Rounded Rectangle 3"/>
          <p:cNvSpPr/>
          <p:nvPr/>
        </p:nvSpPr>
        <p:spPr>
          <a:xfrm>
            <a:off x="731520" y="1572768"/>
            <a:ext cx="3291840" cy="3977639"/>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96112" y="1700784"/>
            <a:ext cx="2962656" cy="256032"/>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A8432B"/>
                </a:solidFill>
                <a:latin typeface="Segoe UI"/>
              </a:defRPr>
            </a:pPr>
            <a:r>
              <a:t>✦ THE FOUNDER'S VISION &amp; LOGIC</a:t>
            </a:r>
          </a:p>
        </p:txBody>
      </p:sp>
      <p:pic>
        <p:nvPicPr>
          <p:cNvPr id="6" name="Picture 5" descr="gabe_newell_plate.png"/>
          <p:cNvPicPr>
            <a:picLocks noChangeAspect="1"/>
          </p:cNvPicPr>
          <p:nvPr/>
        </p:nvPicPr>
        <p:blipFill>
          <a:blip r:embed="rId2"/>
          <a:stretch>
            <a:fillRect/>
          </a:stretch>
        </p:blipFill>
        <p:spPr>
          <a:xfrm>
            <a:off x="1572768" y="2011680"/>
            <a:ext cx="1609344" cy="2011680"/>
          </a:xfrm>
          <a:prstGeom prst="rect">
            <a:avLst/>
          </a:prstGeom>
        </p:spPr>
      </p:pic>
      <p:sp>
        <p:nvSpPr>
          <p:cNvPr id="7" name="Rectangle 6"/>
          <p:cNvSpPr/>
          <p:nvPr/>
        </p:nvSpPr>
        <p:spPr>
          <a:xfrm>
            <a:off x="1572768" y="2011680"/>
            <a:ext cx="1609344" cy="201168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96112" y="4059936"/>
            <a:ext cx="2962656" cy="384048"/>
          </a:xfrm>
          <a:prstGeom prst="rect">
            <a:avLst/>
          </a:prstGeom>
          <a:noFill/>
        </p:spPr>
        <p:txBody>
          <a:bodyPr wrap="square" lIns="0" rIns="0" tIns="0" bIns="0">
            <a:spAutoFit/>
          </a:bodyPr>
          <a:lstStyle/>
          <a:p>
            <a:pPr algn="ctr">
              <a:spcAft>
                <a:spcPts val="100"/>
              </a:spcAft>
              <a:defRPr sz="1450" b="1">
                <a:solidFill>
                  <a:srgbClr val="1A1D20"/>
                </a:solidFill>
                <a:latin typeface="Georgia"/>
              </a:defRPr>
            </a:pPr>
            <a:r>
              <a:t>Gabe Newell</a:t>
            </a:r>
          </a:p>
          <a:p>
            <a:pPr algn="ctr">
              <a:defRPr sz="850">
                <a:solidFill>
                  <a:srgbClr val="A8432B"/>
                </a:solidFill>
                <a:latin typeface="Segoe UI Semibold"/>
              </a:defRPr>
            </a:pPr>
            <a:r>
              <a:t>Co-Founder &amp; CEO • Valve Corporation</a:t>
            </a:r>
          </a:p>
        </p:txBody>
      </p:sp>
      <p:sp>
        <p:nvSpPr>
          <p:cNvPr id="9" name="Rounded Rectangle 8"/>
          <p:cNvSpPr/>
          <p:nvPr/>
        </p:nvSpPr>
        <p:spPr>
          <a:xfrm>
            <a:off x="877824" y="4480560"/>
            <a:ext cx="2999232" cy="941831"/>
          </a:xfrm>
          <a:prstGeom prst="roundRect">
            <a:avLst/>
          </a:prstGeom>
          <a:solidFill>
            <a:srgbClr val="F3EFE9"/>
          </a:solidFill>
          <a:ln w="9525">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64008"/>
          <a:lstStyle/>
          <a:p>
            <a:pPr algn="ctr">
              <a:lnSpc>
                <a:spcPct val="115000"/>
              </a:lnSpc>
              <a:spcAft>
                <a:spcPts val="200"/>
              </a:spcAft>
              <a:defRPr sz="825" i="1" b="1">
                <a:solidFill>
                  <a:srgbClr val="1A1D20"/>
                </a:solidFill>
                <a:latin typeface="Georgia"/>
              </a:defRPr>
            </a:pPr>
            <a:r>
              <a:t>“If you hire smart, creative people and then tell them what to do, you destroy most of their value. You want people who figure out what is valuable and just go do it.”</a:t>
            </a:r>
          </a:p>
          <a:p>
            <a:pPr>
              <a:defRPr sz="750">
                <a:solidFill>
                  <a:srgbClr val="A8432B"/>
                </a:solidFill>
                <a:latin typeface="Segoe UI Semibold"/>
              </a:defRPr>
            </a:pPr>
            <a:r>
              <a:t>— Gabe Newell (University of Texas &amp; Washington Post)</a:t>
            </a:r>
          </a:p>
        </p:txBody>
      </p:sp>
      <p:sp>
        <p:nvSpPr>
          <p:cNvPr id="10" name="Rounded Rectangle 9"/>
          <p:cNvSpPr/>
          <p:nvPr/>
        </p:nvSpPr>
        <p:spPr>
          <a:xfrm>
            <a:off x="4242816" y="1572768"/>
            <a:ext cx="7217359" cy="1252728"/>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89120" y="1682496"/>
            <a:ext cx="1965960" cy="237744"/>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1E3A5F"/>
                </a:solidFill>
                <a:latin typeface="Segoe UI"/>
              </a:defRPr>
            </a:pPr>
            <a:r>
              <a:t>01 • TRANSACTION COSTS</a:t>
            </a:r>
          </a:p>
        </p:txBody>
      </p:sp>
      <p:sp>
        <p:nvSpPr>
          <p:cNvPr id="12" name="TextBox 11"/>
          <p:cNvSpPr txBox="1"/>
          <p:nvPr/>
        </p:nvSpPr>
        <p:spPr>
          <a:xfrm>
            <a:off x="6483096" y="1664208"/>
            <a:ext cx="4849063" cy="256032"/>
          </a:xfrm>
          <a:prstGeom prst="rect">
            <a:avLst/>
          </a:prstGeom>
          <a:noFill/>
        </p:spPr>
        <p:txBody>
          <a:bodyPr wrap="square" lIns="0" rIns="0" tIns="0" bIns="0">
            <a:spAutoFit/>
          </a:bodyPr>
          <a:lstStyle/>
          <a:p>
            <a:pPr>
              <a:defRPr sz="1200" b="1">
                <a:solidFill>
                  <a:srgbClr val="1A1D20"/>
                </a:solidFill>
                <a:latin typeface="Georgia"/>
              </a:defRPr>
            </a:pPr>
            <a:r>
              <a:t>Why Traditional Hierarchies Break in Creative Work</a:t>
            </a:r>
          </a:p>
        </p:txBody>
      </p:sp>
      <p:sp>
        <p:nvSpPr>
          <p:cNvPr id="13" name="TextBox 12"/>
          <p:cNvSpPr txBox="1"/>
          <p:nvPr/>
        </p:nvSpPr>
        <p:spPr>
          <a:xfrm>
            <a:off x="4389120" y="1975104"/>
            <a:ext cx="6924751" cy="813816"/>
          </a:xfrm>
          <a:prstGeom prst="rect">
            <a:avLst/>
          </a:prstGeom>
          <a:noFill/>
        </p:spPr>
        <p:txBody>
          <a:bodyPr wrap="square" lIns="0" rIns="0" tIns="0" bIns="0">
            <a:spAutoFit/>
          </a:bodyPr>
          <a:lstStyle/>
          <a:p>
            <a:pPr>
              <a:lnSpc>
                <a:spcPct val="114000"/>
              </a:lnSpc>
              <a:spcAft>
                <a:spcPts val="250"/>
              </a:spcAft>
              <a:defRPr sz="900">
                <a:solidFill>
                  <a:srgbClr val="1E3A5F"/>
                </a:solidFill>
                <a:latin typeface="Segoe UI"/>
              </a:defRPr>
            </a:pPr>
            <a:r>
              <a:t>• </a:t>
            </a:r>
            <a:r>
              <a:rPr sz="950">
                <a:solidFill>
                  <a:srgbClr val="1A1D20"/>
                </a:solidFill>
                <a:latin typeface="Segoe UI Semibold"/>
              </a:rPr>
              <a:t>The Industrial Legacy: </a:t>
            </a:r>
            <a:r>
              <a:rPr sz="900">
                <a:solidFill>
                  <a:srgbClr val="5F646E"/>
                </a:solidFill>
                <a:latin typeface="Segoe UI"/>
              </a:rPr>
              <a:t>Ronald Coase showed firms exist to cut transaction costs. Hierarchies worked for factories, but in creative education, corporate managers actually introduce massive friction, red tape, and delay.</a:t>
            </a:r>
          </a:p>
          <a:p>
            <a:pPr>
              <a:lnSpc>
                <a:spcPct val="114000"/>
              </a:lnSpc>
              <a:spcAft>
                <a:spcPts val="250"/>
              </a:spcAft>
              <a:defRPr sz="900">
                <a:solidFill>
                  <a:srgbClr val="1E3A5F"/>
                </a:solidFill>
                <a:latin typeface="Segoe UI"/>
              </a:defRPr>
            </a:pPr>
            <a:r>
              <a:t>• </a:t>
            </a:r>
            <a:r>
              <a:rPr sz="950">
                <a:solidFill>
                  <a:srgbClr val="1A1D20"/>
                </a:solidFill>
                <a:latin typeface="Segoe UI Semibold"/>
              </a:rPr>
              <a:t>Zero Internal Friction: </a:t>
            </a:r>
            <a:r>
              <a:rPr sz="900">
                <a:solidFill>
                  <a:srgbClr val="5F646E"/>
                </a:solidFill>
                <a:latin typeface="Segoe UI"/>
              </a:rPr>
              <a:t>By eliminating middle management, Valve operates as an agile internal network. Ideas move at the speed of direct conversation without waiting weeks for supervisor approvals.</a:t>
            </a:r>
          </a:p>
        </p:txBody>
      </p:sp>
      <p:sp>
        <p:nvSpPr>
          <p:cNvPr id="14" name="Rounded Rectangle 13"/>
          <p:cNvSpPr/>
          <p:nvPr/>
        </p:nvSpPr>
        <p:spPr>
          <a:xfrm>
            <a:off x="4242816" y="2935224"/>
            <a:ext cx="7217359" cy="1252728"/>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89120" y="3044952"/>
            <a:ext cx="1783080" cy="237744"/>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A8432B"/>
                </a:solidFill>
                <a:latin typeface="Segoe UI"/>
              </a:defRPr>
            </a:pPr>
            <a:r>
              <a:t>02 • CREATIVE LEVERAGE</a:t>
            </a:r>
          </a:p>
        </p:txBody>
      </p:sp>
      <p:sp>
        <p:nvSpPr>
          <p:cNvPr id="16" name="TextBox 15"/>
          <p:cNvSpPr txBox="1"/>
          <p:nvPr/>
        </p:nvSpPr>
        <p:spPr>
          <a:xfrm>
            <a:off x="6300216" y="3026664"/>
            <a:ext cx="5031943" cy="256032"/>
          </a:xfrm>
          <a:prstGeom prst="rect">
            <a:avLst/>
          </a:prstGeom>
          <a:noFill/>
        </p:spPr>
        <p:txBody>
          <a:bodyPr wrap="square" lIns="0" rIns="0" tIns="0" bIns="0">
            <a:spAutoFit/>
          </a:bodyPr>
          <a:lstStyle/>
          <a:p>
            <a:pPr>
              <a:defRPr sz="1200" b="1">
                <a:solidFill>
                  <a:srgbClr val="1A1D20"/>
                </a:solidFill>
                <a:latin typeface="Georgia"/>
              </a:defRPr>
            </a:pPr>
            <a:r>
              <a:t>Autonomy Multiplies Creative Leverage Over Direct Orders</a:t>
            </a:r>
          </a:p>
        </p:txBody>
      </p:sp>
      <p:sp>
        <p:nvSpPr>
          <p:cNvPr id="17" name="TextBox 16"/>
          <p:cNvSpPr txBox="1"/>
          <p:nvPr/>
        </p:nvSpPr>
        <p:spPr>
          <a:xfrm>
            <a:off x="4389120" y="3337560"/>
            <a:ext cx="6924751" cy="813816"/>
          </a:xfrm>
          <a:prstGeom prst="rect">
            <a:avLst/>
          </a:prstGeom>
          <a:noFill/>
        </p:spPr>
        <p:txBody>
          <a:bodyPr wrap="square" lIns="0" rIns="0" tIns="0" bIns="0">
            <a:spAutoFit/>
          </a:bodyPr>
          <a:lstStyle/>
          <a:p>
            <a:pPr>
              <a:lnSpc>
                <a:spcPct val="114000"/>
              </a:lnSpc>
              <a:spcAft>
                <a:spcPts val="250"/>
              </a:spcAft>
              <a:defRPr sz="900">
                <a:solidFill>
                  <a:srgbClr val="A8432B"/>
                </a:solidFill>
                <a:latin typeface="Segoe UI"/>
              </a:defRPr>
            </a:pPr>
            <a:r>
              <a:t>• </a:t>
            </a:r>
            <a:r>
              <a:rPr sz="950">
                <a:solidFill>
                  <a:srgbClr val="1A1D20"/>
                </a:solidFill>
                <a:latin typeface="Segoe UI Semibold"/>
              </a:rPr>
              <a:t>The Management Bottleneck: </a:t>
            </a:r>
            <a:r>
              <a:rPr sz="900">
                <a:solidFill>
                  <a:srgbClr val="5F646E"/>
                </a:solidFill>
                <a:latin typeface="Segoe UI"/>
              </a:rPr>
              <a:t>When supervisors dictate daily tasks, educators can only produce what one manager imagines. Dictating tasks to masters caps their creative output at average execution.</a:t>
            </a:r>
          </a:p>
          <a:p>
            <a:pPr>
              <a:lnSpc>
                <a:spcPct val="114000"/>
              </a:lnSpc>
              <a:spcAft>
                <a:spcPts val="250"/>
              </a:spcAft>
              <a:defRPr sz="900">
                <a:solidFill>
                  <a:srgbClr val="A8432B"/>
                </a:solidFill>
                <a:latin typeface="Segoe UI"/>
              </a:defRPr>
            </a:pPr>
            <a:r>
              <a:t>• </a:t>
            </a:r>
            <a:r>
              <a:rPr sz="950">
                <a:solidFill>
                  <a:srgbClr val="1A1D20"/>
                </a:solidFill>
                <a:latin typeface="Segoe UI Semibold"/>
              </a:rPr>
              <a:t>Unlocking Full Leverage: </a:t>
            </a:r>
            <a:r>
              <a:rPr sz="900">
                <a:solidFill>
                  <a:srgbClr val="5F646E"/>
                </a:solidFill>
                <a:latin typeface="Segoe UI"/>
              </a:rPr>
              <a:t>When educators own their curriculum directly, their impact multiplies. They spot subtle student confusions, craft engaging pronunciation games, and take personal pride in every outcome.</a:t>
            </a:r>
          </a:p>
        </p:txBody>
      </p:sp>
      <p:sp>
        <p:nvSpPr>
          <p:cNvPr id="18" name="Rounded Rectangle 17"/>
          <p:cNvSpPr/>
          <p:nvPr/>
        </p:nvSpPr>
        <p:spPr>
          <a:xfrm>
            <a:off x="4242816" y="4297680"/>
            <a:ext cx="7217359" cy="1252728"/>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4389120" y="4407408"/>
            <a:ext cx="1508760" cy="237744"/>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166534"/>
                </a:solidFill>
                <a:latin typeface="Segoe UI"/>
              </a:defRPr>
            </a:pPr>
            <a:r>
              <a:t>03 • LEARNER FIRST</a:t>
            </a:r>
          </a:p>
        </p:txBody>
      </p:sp>
      <p:sp>
        <p:nvSpPr>
          <p:cNvPr id="20" name="TextBox 19"/>
          <p:cNvSpPr txBox="1"/>
          <p:nvPr/>
        </p:nvSpPr>
        <p:spPr>
          <a:xfrm>
            <a:off x="6025896" y="4389120"/>
            <a:ext cx="5306263" cy="256032"/>
          </a:xfrm>
          <a:prstGeom prst="rect">
            <a:avLst/>
          </a:prstGeom>
          <a:noFill/>
        </p:spPr>
        <p:txBody>
          <a:bodyPr wrap="square" lIns="0" rIns="0" tIns="0" bIns="0">
            <a:spAutoFit/>
          </a:bodyPr>
          <a:lstStyle/>
          <a:p>
            <a:pPr>
              <a:defRPr sz="1200" b="1">
                <a:solidFill>
                  <a:srgbClr val="1A1D20"/>
                </a:solidFill>
                <a:latin typeface="Georgia"/>
              </a:defRPr>
            </a:pPr>
            <a:r>
              <a:t>Eliminating Office Politics to Focus 100% on the Student</a:t>
            </a:r>
          </a:p>
        </p:txBody>
      </p:sp>
      <p:sp>
        <p:nvSpPr>
          <p:cNvPr id="21" name="TextBox 20"/>
          <p:cNvSpPr txBox="1"/>
          <p:nvPr/>
        </p:nvSpPr>
        <p:spPr>
          <a:xfrm>
            <a:off x="4389120" y="4700016"/>
            <a:ext cx="6924751" cy="813816"/>
          </a:xfrm>
          <a:prstGeom prst="rect">
            <a:avLst/>
          </a:prstGeom>
          <a:noFill/>
        </p:spPr>
        <p:txBody>
          <a:bodyPr wrap="square" lIns="0" rIns="0" tIns="0" bIns="0">
            <a:spAutoFit/>
          </a:bodyPr>
          <a:lstStyle/>
          <a:p>
            <a:pPr>
              <a:lnSpc>
                <a:spcPct val="114000"/>
              </a:lnSpc>
              <a:spcAft>
                <a:spcPts val="250"/>
              </a:spcAft>
              <a:defRPr sz="900">
                <a:solidFill>
                  <a:srgbClr val="166534"/>
                </a:solidFill>
                <a:latin typeface="Segoe UI"/>
              </a:defRPr>
            </a:pPr>
            <a:r>
              <a:t>• </a:t>
            </a:r>
            <a:r>
              <a:rPr sz="950">
                <a:solidFill>
                  <a:srgbClr val="1A1D20"/>
                </a:solidFill>
                <a:latin typeface="Segoe UI Semibold"/>
              </a:rPr>
              <a:t>Ending 'Managing Up': </a:t>
            </a:r>
            <a:r>
              <a:rPr sz="900">
                <a:solidFill>
                  <a:srgbClr val="5F646E"/>
                </a:solidFill>
                <a:latin typeface="Segoe UI"/>
              </a:rPr>
              <a:t>In corporate ladders, people waste half their mental energy managing impressions and pleasing bosses. Without managers, internal politics and defensive turf wars evaporate.</a:t>
            </a:r>
          </a:p>
          <a:p>
            <a:pPr>
              <a:lnSpc>
                <a:spcPct val="114000"/>
              </a:lnSpc>
              <a:spcAft>
                <a:spcPts val="250"/>
              </a:spcAft>
              <a:defRPr sz="900">
                <a:solidFill>
                  <a:srgbClr val="166534"/>
                </a:solidFill>
                <a:latin typeface="Segoe UI"/>
              </a:defRPr>
            </a:pPr>
            <a:r>
              <a:t>• </a:t>
            </a:r>
            <a:r>
              <a:rPr sz="950">
                <a:solidFill>
                  <a:srgbClr val="1A1D20"/>
                </a:solidFill>
                <a:latin typeface="Segoe UI Semibold"/>
              </a:rPr>
              <a:t>One True North Star: </a:t>
            </a:r>
            <a:r>
              <a:rPr sz="900">
                <a:solidFill>
                  <a:srgbClr val="5F646E"/>
                </a:solidFill>
                <a:latin typeface="Segoe UI"/>
              </a:rPr>
              <a:t>100% of energy is directed outward: “Does this genuinely help students learn?” When the learner is the only judge, quality remains uncompromising and transparent.</a:t>
            </a:r>
          </a:p>
        </p:txBody>
      </p:sp>
      <p:sp>
        <p:nvSpPr>
          <p:cNvPr id="22" name="Rounded Rectangle 21"/>
          <p:cNvSpPr/>
          <p:nvPr/>
        </p:nvSpPr>
        <p:spPr>
          <a:xfrm>
            <a:off x="731520" y="5669280"/>
            <a:ext cx="10728655" cy="822960"/>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73152"/>
          <a:lstStyle/>
          <a:p>
            <a:pPr algn="ctr">
              <a:spcAft>
                <a:spcPts val="200"/>
              </a:spcAft>
              <a:defRPr sz="1000" b="1">
                <a:solidFill>
                  <a:srgbClr val="A8432B"/>
                </a:solidFill>
                <a:latin typeface="Segoe UI"/>
              </a:defRPr>
            </a:pPr>
            <a:r>
              <a:t>💡 HOW GABE'S FOUNDING LOGIC EMPOWERS OUR TEACHING TEAM</a:t>
            </a:r>
          </a:p>
          <a:p>
            <a:pPr algn="ctr">
              <a:defRPr sz="1100" i="1" b="1">
                <a:solidFill>
                  <a:srgbClr val="1A1D20"/>
                </a:solidFill>
                <a:latin typeface="Georgia"/>
              </a:defRPr>
            </a:pPr>
            <a:r>
              <a:t>“We aren't making software, but educational design is deeply creative knowledge work. You don't need an administrator's permission slip to make a lesson better. When we trust each other as equals, our students get the very best curriculum.”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VOICES OF EXPERIENCE • TEAMWORK LESSONS</a:t>
            </a:r>
          </a:p>
          <a:p>
            <a:pPr>
              <a:spcAft>
                <a:spcPts val="300"/>
              </a:spcAft>
              <a:defRPr sz="2500" b="1">
                <a:solidFill>
                  <a:srgbClr val="1A1D20"/>
                </a:solidFill>
                <a:latin typeface="Georgia"/>
              </a:defRPr>
            </a:pPr>
            <a:r>
              <a:t>Wisdom on Teamwork: Advice from Veteran Creators</a:t>
            </a:r>
          </a:p>
          <a:p>
            <a:pPr>
              <a:defRPr sz="1300">
                <a:solidFill>
                  <a:srgbClr val="5F646E"/>
                </a:solidFill>
                <a:latin typeface="Segoe UI"/>
              </a:defRPr>
            </a:pPr>
            <a:r>
              <a:t>Practical advice from experienced creators on autonomy, collaboration, and staying healthy:</a:t>
            </a:r>
          </a:p>
        </p:txBody>
      </p:sp>
      <p:sp>
        <p:nvSpPr>
          <p:cNvPr id="4" name="Rounded Rectangle 3"/>
          <p:cNvSpPr/>
          <p:nvPr/>
        </p:nvSpPr>
        <p:spPr>
          <a:xfrm>
            <a:off x="731520" y="1600200"/>
            <a:ext cx="2468880" cy="4846320"/>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41248" y="1728216"/>
            <a:ext cx="2249424" cy="274320"/>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A8432B"/>
                </a:solidFill>
                <a:latin typeface="Segoe UI"/>
              </a:defRPr>
            </a:pPr>
            <a:r>
              <a:t>✦ ACTION OVER PERMISSION</a:t>
            </a:r>
          </a:p>
        </p:txBody>
      </p:sp>
      <p:pic>
        <p:nvPicPr>
          <p:cNvPr id="6" name="Picture 5" descr="chet_plate.jpg"/>
          <p:cNvPicPr>
            <a:picLocks noChangeAspect="1"/>
          </p:cNvPicPr>
          <p:nvPr/>
        </p:nvPicPr>
        <p:blipFill>
          <a:blip r:embed="rId2"/>
          <a:stretch>
            <a:fillRect/>
          </a:stretch>
        </p:blipFill>
        <p:spPr>
          <a:xfrm>
            <a:off x="1234440" y="2057400"/>
            <a:ext cx="1463040" cy="1828800"/>
          </a:xfrm>
          <a:prstGeom prst="rect">
            <a:avLst/>
          </a:prstGeom>
        </p:spPr>
      </p:pic>
      <p:sp>
        <p:nvSpPr>
          <p:cNvPr id="7" name="Rectangle 6"/>
          <p:cNvSpPr/>
          <p:nvPr/>
        </p:nvSpPr>
        <p:spPr>
          <a:xfrm>
            <a:off x="1234440" y="2057400"/>
            <a:ext cx="1463040" cy="182880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 y="3959352"/>
            <a:ext cx="2212848" cy="2395728"/>
          </a:xfrm>
          <a:prstGeom prst="rect">
            <a:avLst/>
          </a:prstGeom>
          <a:noFill/>
        </p:spPr>
        <p:txBody>
          <a:bodyPr wrap="square" lIns="0" rIns="0" tIns="0" bIns="0">
            <a:spAutoFit/>
          </a:bodyPr>
          <a:lstStyle/>
          <a:p>
            <a:pPr algn="ctr">
              <a:spcAft>
                <a:spcPts val="100"/>
              </a:spcAft>
              <a:defRPr sz="1550" b="1">
                <a:solidFill>
                  <a:srgbClr val="1A1D20"/>
                </a:solidFill>
                <a:latin typeface="Georgia"/>
              </a:defRPr>
            </a:pPr>
            <a:r>
              <a:t>Chet Faliszek</a:t>
            </a:r>
          </a:p>
          <a:p>
            <a:pPr algn="ctr">
              <a:spcAft>
                <a:spcPts val="500"/>
              </a:spcAft>
              <a:defRPr sz="850">
                <a:solidFill>
                  <a:srgbClr val="A8432B"/>
                </a:solidFill>
                <a:latin typeface="Segoe UI"/>
              </a:defRPr>
            </a:pPr>
            <a:r>
              <a:t>Writer &amp; Team Lead • Left 4 Dead, Portal</a:t>
            </a:r>
          </a:p>
          <a:p>
            <a:pPr>
              <a:lnSpc>
                <a:spcPct val="115000"/>
              </a:lnSpc>
              <a:spcAft>
                <a:spcPts val="600"/>
              </a:spcAft>
              <a:defRPr i="1" sz="950">
                <a:solidFill>
                  <a:srgbClr val="1A1D20"/>
                </a:solidFill>
                <a:latin typeface="Georgia"/>
              </a:defRPr>
            </a:pPr>
            <a:r>
              <a:t>“Nobody is going to hand you a daily to-do list. When you see something confusing or broken, don't wait for permission. Grab a teammate, try a fix, and see if it works.”</a:t>
            </a:r>
          </a:p>
          <a:p>
            <a:pPr>
              <a:spcAft>
                <a:spcPts val="100"/>
              </a:spcAft>
              <a:defRPr sz="850" b="1">
                <a:solidFill>
                  <a:srgbClr val="A8432B"/>
                </a:solidFill>
                <a:latin typeface="Segoe UI"/>
              </a:defRPr>
            </a:pPr>
            <a:r>
              <a:t>✦ TEAM TAKEAWAY: DON'T WAIT TO BE ASKED</a:t>
            </a:r>
          </a:p>
          <a:p>
            <a:pPr>
              <a:lnSpc>
                <a:spcPct val="112000"/>
              </a:lnSpc>
              <a:defRPr sz="900">
                <a:solidFill>
                  <a:srgbClr val="5F646E"/>
                </a:solidFill>
                <a:latin typeface="Segoe UI"/>
              </a:defRPr>
            </a:pPr>
            <a:r>
              <a:t>If you notice a lesson isn't landing with students, step forward and start improving it with your peers.</a:t>
            </a:r>
          </a:p>
        </p:txBody>
      </p:sp>
      <p:sp>
        <p:nvSpPr>
          <p:cNvPr id="9" name="Rounded Rectangle 8"/>
          <p:cNvSpPr/>
          <p:nvPr/>
        </p:nvSpPr>
        <p:spPr>
          <a:xfrm>
            <a:off x="3483864" y="1600200"/>
            <a:ext cx="2468880" cy="484632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593592" y="1728216"/>
            <a:ext cx="2249424" cy="274320"/>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1E3A5F"/>
                </a:solidFill>
                <a:latin typeface="Segoe UI"/>
              </a:defRPr>
            </a:pPr>
            <a:r>
              <a:t>✦ HEALTHY BOUNDARIES</a:t>
            </a:r>
          </a:p>
        </p:txBody>
      </p:sp>
      <p:pic>
        <p:nvPicPr>
          <p:cNvPr id="11" name="Picture 10" descr="weier_plate.jpg"/>
          <p:cNvPicPr>
            <a:picLocks noChangeAspect="1"/>
          </p:cNvPicPr>
          <p:nvPr/>
        </p:nvPicPr>
        <p:blipFill>
          <a:blip r:embed="rId3"/>
          <a:stretch>
            <a:fillRect/>
          </a:stretch>
        </p:blipFill>
        <p:spPr>
          <a:xfrm>
            <a:off x="3986784" y="2057400"/>
            <a:ext cx="1463040" cy="1828800"/>
          </a:xfrm>
          <a:prstGeom prst="rect">
            <a:avLst/>
          </a:prstGeom>
        </p:spPr>
      </p:pic>
      <p:sp>
        <p:nvSpPr>
          <p:cNvPr id="12" name="Rectangle 11"/>
          <p:cNvSpPr/>
          <p:nvPr/>
        </p:nvSpPr>
        <p:spPr>
          <a:xfrm>
            <a:off x="3986784" y="2057400"/>
            <a:ext cx="1463040" cy="182880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11880" y="3959352"/>
            <a:ext cx="2212848" cy="2395728"/>
          </a:xfrm>
          <a:prstGeom prst="rect">
            <a:avLst/>
          </a:prstGeom>
          <a:noFill/>
        </p:spPr>
        <p:txBody>
          <a:bodyPr wrap="square" lIns="0" rIns="0" tIns="0" bIns="0">
            <a:spAutoFit/>
          </a:bodyPr>
          <a:lstStyle/>
          <a:p>
            <a:pPr algn="ctr">
              <a:spcAft>
                <a:spcPts val="100"/>
              </a:spcAft>
              <a:defRPr sz="1550" b="1">
                <a:solidFill>
                  <a:srgbClr val="1A1D20"/>
                </a:solidFill>
                <a:latin typeface="Georgia"/>
              </a:defRPr>
            </a:pPr>
            <a:r>
              <a:t>Josh Weier</a:t>
            </a:r>
          </a:p>
          <a:p>
            <a:pPr algn="ctr">
              <a:spcAft>
                <a:spcPts val="500"/>
              </a:spcAft>
              <a:defRPr sz="850">
                <a:solidFill>
                  <a:srgbClr val="1E3A5F"/>
                </a:solidFill>
                <a:latin typeface="Segoe UI"/>
              </a:defRPr>
            </a:pPr>
            <a:r>
              <a:t>Project Lead • Portal 2, Half-Life 2</a:t>
            </a:r>
          </a:p>
          <a:p>
            <a:pPr>
              <a:lnSpc>
                <a:spcPct val="115000"/>
              </a:lnSpc>
              <a:spcAft>
                <a:spcPts val="600"/>
              </a:spcAft>
              <a:defRPr i="1" sz="950">
                <a:solidFill>
                  <a:srgbClr val="1A1D20"/>
                </a:solidFill>
                <a:latin typeface="Georgia"/>
              </a:defRPr>
            </a:pPr>
            <a:r>
              <a:t>“If someone is answering emails at 2 AM, nobody thinks they're a hero. We think the workflow is broken. Great teams protect their rest so they stay creative.”</a:t>
            </a:r>
          </a:p>
          <a:p>
            <a:pPr>
              <a:spcAft>
                <a:spcPts val="100"/>
              </a:spcAft>
              <a:defRPr sz="850" b="1">
                <a:solidFill>
                  <a:srgbClr val="1E3A5F"/>
                </a:solidFill>
                <a:latin typeface="Segoe UI"/>
              </a:defRPr>
            </a:pPr>
            <a:r>
              <a:t>✦ TEAM TAKEAWAY: PROTECT YOUR ENERGY</a:t>
            </a:r>
          </a:p>
          <a:p>
            <a:pPr>
              <a:lnSpc>
                <a:spcPct val="112000"/>
              </a:lnSpc>
              <a:defRPr sz="900">
                <a:solidFill>
                  <a:srgbClr val="5F646E"/>
                </a:solidFill>
                <a:latin typeface="Segoe UI"/>
              </a:defRPr>
            </a:pPr>
            <a:r>
              <a:t>Four or five hours of focused teamwork beats twelve hours of exhausted, distracted grinding every time.</a:t>
            </a:r>
          </a:p>
        </p:txBody>
      </p:sp>
      <p:sp>
        <p:nvSpPr>
          <p:cNvPr id="14" name="Rounded Rectangle 13"/>
          <p:cNvSpPr/>
          <p:nvPr/>
        </p:nvSpPr>
        <p:spPr>
          <a:xfrm>
            <a:off x="6236208" y="1600200"/>
            <a:ext cx="2468880" cy="484632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45936" y="1728216"/>
            <a:ext cx="2249424" cy="274320"/>
          </a:xfrm>
          <a:prstGeom prst="roundRect">
            <a:avLst/>
          </a:prstGeom>
          <a:solidFill>
            <a:srgbClr val="FEF3C7"/>
          </a:solidFill>
          <a:ln w="952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B45309"/>
                </a:solidFill>
                <a:latin typeface="Segoe UI"/>
              </a:defRPr>
            </a:pPr>
            <a:r>
              <a:t>✦ WORKING LIVE TOGETHER</a:t>
            </a:r>
          </a:p>
        </p:txBody>
      </p:sp>
      <p:pic>
        <p:nvPicPr>
          <p:cNvPr id="16" name="Picture 15" descr="morasky_plate.jpg"/>
          <p:cNvPicPr>
            <a:picLocks noChangeAspect="1"/>
          </p:cNvPicPr>
          <p:nvPr/>
        </p:nvPicPr>
        <p:blipFill>
          <a:blip r:embed="rId4"/>
          <a:stretch>
            <a:fillRect/>
          </a:stretch>
        </p:blipFill>
        <p:spPr>
          <a:xfrm>
            <a:off x="6739128" y="2057400"/>
            <a:ext cx="1463040" cy="1828800"/>
          </a:xfrm>
          <a:prstGeom prst="rect">
            <a:avLst/>
          </a:prstGeom>
        </p:spPr>
      </p:pic>
      <p:sp>
        <p:nvSpPr>
          <p:cNvPr id="17" name="Rectangle 16"/>
          <p:cNvSpPr/>
          <p:nvPr/>
        </p:nvSpPr>
        <p:spPr>
          <a:xfrm>
            <a:off x="6739128" y="2057400"/>
            <a:ext cx="1463040" cy="182880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4224" y="3959352"/>
            <a:ext cx="2212848" cy="2395728"/>
          </a:xfrm>
          <a:prstGeom prst="rect">
            <a:avLst/>
          </a:prstGeom>
          <a:noFill/>
        </p:spPr>
        <p:txBody>
          <a:bodyPr wrap="square" lIns="0" rIns="0" tIns="0" bIns="0">
            <a:spAutoFit/>
          </a:bodyPr>
          <a:lstStyle/>
          <a:p>
            <a:pPr algn="ctr">
              <a:spcAft>
                <a:spcPts val="100"/>
              </a:spcAft>
              <a:defRPr sz="1550" b="1">
                <a:solidFill>
                  <a:srgbClr val="1A1D20"/>
                </a:solidFill>
                <a:latin typeface="Georgia"/>
              </a:defRPr>
            </a:pPr>
            <a:r>
              <a:t>Mike Morasky</a:t>
            </a:r>
          </a:p>
          <a:p>
            <a:pPr algn="ctr">
              <a:spcAft>
                <a:spcPts val="500"/>
              </a:spcAft>
              <a:defRPr sz="850">
                <a:solidFill>
                  <a:srgbClr val="B45309"/>
                </a:solidFill>
                <a:latin typeface="Segoe UI"/>
              </a:defRPr>
            </a:pPr>
            <a:r>
              <a:t>Audio Director • Portal 2, TF2</a:t>
            </a:r>
          </a:p>
          <a:p>
            <a:pPr>
              <a:lnSpc>
                <a:spcPct val="115000"/>
              </a:lnSpc>
              <a:spcAft>
                <a:spcPts val="600"/>
              </a:spcAft>
              <a:defRPr i="1" sz="950">
                <a:solidFill>
                  <a:srgbClr val="1A1D20"/>
                </a:solidFill>
                <a:latin typeface="Georgia"/>
              </a:defRPr>
            </a:pPr>
            <a:r>
              <a:t>“Collaboration isn't an email thread or a boring meeting. It's sitting together, trying an idea, and reacting in real-time. You build off each other's energy.”</a:t>
            </a:r>
          </a:p>
          <a:p>
            <a:pPr>
              <a:spcAft>
                <a:spcPts val="100"/>
              </a:spcAft>
              <a:defRPr sz="850" b="1">
                <a:solidFill>
                  <a:srgbClr val="B45309"/>
                </a:solidFill>
                <a:latin typeface="Segoe UI"/>
              </a:defRPr>
            </a:pPr>
            <a:r>
              <a:t>✦ TEAM TAKEAWAY: REAL-TIME COLLABORATION</a:t>
            </a:r>
          </a:p>
          <a:p>
            <a:pPr>
              <a:lnSpc>
                <a:spcPct val="112000"/>
              </a:lnSpc>
              <a:defRPr sz="900">
                <a:solidFill>
                  <a:srgbClr val="5F646E"/>
                </a:solidFill>
                <a:latin typeface="Segoe UI"/>
              </a:defRPr>
            </a:pPr>
            <a:r>
              <a:t>Work together on a live document or call instead of passing files back and forth for three weeks.</a:t>
            </a:r>
          </a:p>
        </p:txBody>
      </p:sp>
      <p:sp>
        <p:nvSpPr>
          <p:cNvPr id="19" name="Rounded Rectangle 18"/>
          <p:cNvSpPr/>
          <p:nvPr/>
        </p:nvSpPr>
        <p:spPr>
          <a:xfrm>
            <a:off x="8988552" y="1600200"/>
            <a:ext cx="2468880" cy="4846320"/>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98280" y="1728216"/>
            <a:ext cx="2249424" cy="274320"/>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166534"/>
                </a:solidFill>
                <a:latin typeface="Segoe UI"/>
              </a:defRPr>
            </a:pPr>
            <a:r>
              <a:t>✦ LEAVING EGOS AT THE DOOR</a:t>
            </a:r>
          </a:p>
        </p:txBody>
      </p:sp>
      <p:pic>
        <p:nvPicPr>
          <p:cNvPr id="21" name="Picture 20" descr="wolpaw_plate.jpg"/>
          <p:cNvPicPr>
            <a:picLocks noChangeAspect="1"/>
          </p:cNvPicPr>
          <p:nvPr/>
        </p:nvPicPr>
        <p:blipFill>
          <a:blip r:embed="rId5"/>
          <a:stretch>
            <a:fillRect/>
          </a:stretch>
        </p:blipFill>
        <p:spPr>
          <a:xfrm>
            <a:off x="9491472" y="2057400"/>
            <a:ext cx="1463040" cy="1828800"/>
          </a:xfrm>
          <a:prstGeom prst="rect">
            <a:avLst/>
          </a:prstGeom>
        </p:spPr>
      </p:pic>
      <p:sp>
        <p:nvSpPr>
          <p:cNvPr id="22" name="Rectangle 21"/>
          <p:cNvSpPr/>
          <p:nvPr/>
        </p:nvSpPr>
        <p:spPr>
          <a:xfrm>
            <a:off x="9491472" y="2057400"/>
            <a:ext cx="1463040" cy="182880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116568" y="3959352"/>
            <a:ext cx="2212848" cy="2395728"/>
          </a:xfrm>
          <a:prstGeom prst="rect">
            <a:avLst/>
          </a:prstGeom>
          <a:noFill/>
        </p:spPr>
        <p:txBody>
          <a:bodyPr wrap="square" lIns="0" rIns="0" tIns="0" bIns="0">
            <a:spAutoFit/>
          </a:bodyPr>
          <a:lstStyle/>
          <a:p>
            <a:pPr algn="ctr">
              <a:spcAft>
                <a:spcPts val="100"/>
              </a:spcAft>
              <a:defRPr sz="1550" b="1">
                <a:solidFill>
                  <a:srgbClr val="1A1D20"/>
                </a:solidFill>
                <a:latin typeface="Georgia"/>
              </a:defRPr>
            </a:pPr>
            <a:r>
              <a:t>Erik Wolpaw</a:t>
            </a:r>
          </a:p>
          <a:p>
            <a:pPr algn="ctr">
              <a:spcAft>
                <a:spcPts val="500"/>
              </a:spcAft>
              <a:defRPr sz="850">
                <a:solidFill>
                  <a:srgbClr val="166534"/>
                </a:solidFill>
                <a:latin typeface="Segoe UI"/>
              </a:defRPr>
            </a:pPr>
            <a:r>
              <a:t>Lead Writer • Portal 1 &amp; 2</a:t>
            </a:r>
          </a:p>
          <a:p>
            <a:pPr>
              <a:lnSpc>
                <a:spcPct val="115000"/>
              </a:lnSpc>
              <a:spcAft>
                <a:spcPts val="600"/>
              </a:spcAft>
              <a:defRPr i="1" sz="950">
                <a:solidFill>
                  <a:srgbClr val="1A1D20"/>
                </a:solidFill>
                <a:latin typeface="Georgia"/>
              </a:defRPr>
            </a:pPr>
            <a:r>
              <a:t>“Leave your ego outside the room. If you create an exercise and students get confused or bored, don't get defensive. Laugh, adjust it, and make it better together.”</a:t>
            </a:r>
          </a:p>
          <a:p>
            <a:pPr>
              <a:spcAft>
                <a:spcPts val="100"/>
              </a:spcAft>
              <a:defRPr sz="850" b="1">
                <a:solidFill>
                  <a:srgbClr val="166534"/>
                </a:solidFill>
                <a:latin typeface="Segoe UI"/>
              </a:defRPr>
            </a:pPr>
            <a:r>
              <a:t>✦ TEAM TAKEAWAY: STAY OPEN &amp; CURIOUS</a:t>
            </a:r>
          </a:p>
          <a:p>
            <a:pPr>
              <a:lnSpc>
                <a:spcPct val="112000"/>
              </a:lnSpc>
              <a:defRPr sz="900">
                <a:solidFill>
                  <a:srgbClr val="5F646E"/>
                </a:solidFill>
                <a:latin typeface="Segoe UI"/>
              </a:defRPr>
            </a:pPr>
            <a:r>
              <a:t>Don't fall in love with your first draft. When students struggle, take it as helpful learning and improve it as a team.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PRACTICAL TEAMWORK • INSPIRATION FROM VALVE</a:t>
            </a:r>
          </a:p>
          <a:p>
            <a:pPr>
              <a:spcAft>
                <a:spcPts val="300"/>
              </a:spcAft>
              <a:defRPr sz="2500" b="1">
                <a:solidFill>
                  <a:srgbClr val="1A1D20"/>
                </a:solidFill>
                <a:latin typeface="Georgia"/>
              </a:defRPr>
            </a:pPr>
            <a:r>
              <a:t>Three Great Teamwork Habits We Learn from Valve</a:t>
            </a:r>
          </a:p>
          <a:p>
            <a:pPr>
              <a:defRPr sz="1300">
                <a:solidFill>
                  <a:srgbClr val="5F646E"/>
                </a:solidFill>
                <a:latin typeface="Segoe UI"/>
              </a:defRPr>
            </a:pPr>
            <a:r>
              <a:t>Practical ways successful flat teams collaborate every day without managers:</a:t>
            </a:r>
          </a:p>
        </p:txBody>
      </p:sp>
      <p:sp>
        <p:nvSpPr>
          <p:cNvPr id="4" name="Rounded Rectangle 3"/>
          <p:cNvSpPr/>
          <p:nvPr/>
        </p:nvSpPr>
        <p:spPr>
          <a:xfrm>
            <a:off x="731520" y="1600200"/>
            <a:ext cx="3364992" cy="4846320"/>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764792"/>
            <a:ext cx="2999232" cy="310896"/>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01 • ROLLING TO THE NEED</a:t>
            </a:r>
          </a:p>
        </p:txBody>
      </p:sp>
      <p:sp>
        <p:nvSpPr>
          <p:cNvPr id="6" name="TextBox 5"/>
          <p:cNvSpPr txBox="1"/>
          <p:nvPr/>
        </p:nvSpPr>
        <p:spPr>
          <a:xfrm>
            <a:off x="914400" y="2130552"/>
            <a:ext cx="2999232" cy="3044952"/>
          </a:xfrm>
          <a:prstGeom prst="rect">
            <a:avLst/>
          </a:prstGeom>
          <a:noFill/>
        </p:spPr>
        <p:txBody>
          <a:bodyPr wrap="square" lIns="0" rIns="0" tIns="0" bIns="0">
            <a:spAutoFit/>
          </a:bodyPr>
          <a:lstStyle/>
          <a:p>
            <a:pPr>
              <a:spcAft>
                <a:spcPts val="200"/>
              </a:spcAft>
              <a:defRPr sz="2000" b="1">
                <a:solidFill>
                  <a:srgbClr val="1A1D20"/>
                </a:solidFill>
                <a:latin typeface="Georgia"/>
              </a:defRPr>
            </a:pPr>
            <a:r>
              <a:t>Desks on Wheels</a:t>
            </a:r>
          </a:p>
          <a:p>
            <a:pPr>
              <a:spcAft>
                <a:spcPts val="800"/>
              </a:spcAft>
              <a:defRPr sz="1050">
                <a:solidFill>
                  <a:srgbClr val="166534"/>
                </a:solidFill>
                <a:latin typeface="Segoe UI Semibold"/>
              </a:defRPr>
            </a:pPr>
            <a:r>
              <a:t>✦ Roll over to where teammates need help</a:t>
            </a:r>
          </a:p>
          <a:p>
            <a:pPr>
              <a:lnSpc>
                <a:spcPct val="116000"/>
              </a:lnSpc>
              <a:spcAft>
                <a:spcPts val="600"/>
              </a:spcAft>
              <a:defRPr sz="1050">
                <a:solidFill>
                  <a:srgbClr val="166534"/>
                </a:solidFill>
                <a:latin typeface="Segoe UI"/>
              </a:defRPr>
            </a:pPr>
            <a:r>
              <a:t>• </a:t>
            </a:r>
            <a:r>
              <a:rPr sz="1100">
                <a:solidFill>
                  <a:srgbClr val="1A1D20"/>
                </a:solidFill>
                <a:latin typeface="Segoe UI Semibold"/>
              </a:rPr>
              <a:t>Go where the need is: </a:t>
            </a:r>
            <a:r>
              <a:rPr sz="1050">
                <a:solidFill>
                  <a:srgbClr val="5F646E"/>
                </a:solidFill>
                <a:latin typeface="Segoe UI"/>
              </a:rPr>
              <a:t>Don't stay isolated at your own desk. When you see a colleague feeling stuck, roll over and offer a hand.</a:t>
            </a:r>
          </a:p>
          <a:p>
            <a:pPr>
              <a:lnSpc>
                <a:spcPct val="116000"/>
              </a:lnSpc>
              <a:spcAft>
                <a:spcPts val="600"/>
              </a:spcAft>
              <a:defRPr sz="1050">
                <a:solidFill>
                  <a:srgbClr val="166534"/>
                </a:solidFill>
                <a:latin typeface="Segoe UI"/>
              </a:defRPr>
            </a:pPr>
            <a:r>
              <a:t>• </a:t>
            </a:r>
            <a:r>
              <a:rPr sz="1100">
                <a:solidFill>
                  <a:srgbClr val="1A1D20"/>
                </a:solidFill>
                <a:latin typeface="Segoe UI Semibold"/>
              </a:rPr>
              <a:t>No territorial walls: </a:t>
            </a:r>
            <a:r>
              <a:rPr sz="1050">
                <a:solidFill>
                  <a:srgbClr val="5F646E"/>
                </a:solidFill>
                <a:latin typeface="Segoe UI"/>
              </a:rPr>
              <a:t>We never say 'that's not my job.' If an activity needs fresh eyes or extra ideas, anyone can jump in.</a:t>
            </a:r>
          </a:p>
          <a:p>
            <a:pPr>
              <a:lnSpc>
                <a:spcPct val="116000"/>
              </a:lnSpc>
              <a:spcAft>
                <a:spcPts val="600"/>
              </a:spcAft>
              <a:defRPr sz="1050">
                <a:solidFill>
                  <a:srgbClr val="166534"/>
                </a:solidFill>
                <a:latin typeface="Segoe UI"/>
              </a:defRPr>
            </a:pPr>
            <a:r>
              <a:t>• </a:t>
            </a:r>
            <a:r>
              <a:rPr sz="1100">
                <a:solidFill>
                  <a:srgbClr val="1A1D20"/>
                </a:solidFill>
                <a:latin typeface="Segoe UI Semibold"/>
              </a:rPr>
              <a:t>Natural initiative: </a:t>
            </a:r>
            <a:r>
              <a:rPr sz="1050">
                <a:solidFill>
                  <a:srgbClr val="5F646E"/>
                </a:solidFill>
                <a:latin typeface="Segoe UI"/>
              </a:rPr>
              <a:t>You don't wait for someone to delegate a task. You see an opportunity to help and you step forward.</a:t>
            </a:r>
          </a:p>
        </p:txBody>
      </p:sp>
      <p:sp>
        <p:nvSpPr>
          <p:cNvPr id="7" name="Rounded Rectangle 6"/>
          <p:cNvSpPr/>
          <p:nvPr/>
        </p:nvSpPr>
        <p:spPr>
          <a:xfrm>
            <a:off x="896112" y="5230368"/>
            <a:ext cx="3035808" cy="1051560"/>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24128" y="5321808"/>
            <a:ext cx="2779776" cy="868680"/>
          </a:xfrm>
          <a:prstGeom prst="rect">
            <a:avLst/>
          </a:prstGeom>
          <a:noFill/>
        </p:spPr>
        <p:txBody>
          <a:bodyPr wrap="square" lIns="0" rIns="0" tIns="0" bIns="0">
            <a:spAutoFit/>
          </a:bodyPr>
          <a:lstStyle/>
          <a:p>
            <a:pPr>
              <a:lnSpc>
                <a:spcPct val="115000"/>
              </a:lnSpc>
              <a:spcAft>
                <a:spcPts val="200"/>
              </a:spcAft>
              <a:defRPr sz="1000" i="1">
                <a:solidFill>
                  <a:srgbClr val="1A1D20"/>
                </a:solidFill>
                <a:latin typeface="Georgia"/>
              </a:defRPr>
            </a:pPr>
            <a:r>
              <a:t>“Your desk has wheels for a reason. Roll it to where you can make the biggest difference for your team.”</a:t>
            </a:r>
          </a:p>
          <a:p>
            <a:pPr>
              <a:defRPr sz="850">
                <a:solidFill>
                  <a:srgbClr val="166534"/>
                </a:solidFill>
                <a:latin typeface="Segoe UI Semibold"/>
              </a:defRPr>
            </a:pPr>
            <a:r>
              <a:t>— Valve Employee Handbook</a:t>
            </a:r>
          </a:p>
        </p:txBody>
      </p:sp>
      <p:sp>
        <p:nvSpPr>
          <p:cNvPr id="9" name="Rounded Rectangle 8"/>
          <p:cNvSpPr/>
          <p:nvPr/>
        </p:nvSpPr>
        <p:spPr>
          <a:xfrm>
            <a:off x="4407408" y="1600200"/>
            <a:ext cx="3364992" cy="484632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590288" y="1764792"/>
            <a:ext cx="2999232" cy="310896"/>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02 • LEARNING TOGETHER</a:t>
            </a:r>
          </a:p>
        </p:txBody>
      </p:sp>
      <p:sp>
        <p:nvSpPr>
          <p:cNvPr id="11" name="TextBox 10"/>
          <p:cNvSpPr txBox="1"/>
          <p:nvPr/>
        </p:nvSpPr>
        <p:spPr>
          <a:xfrm>
            <a:off x="4590288" y="2130552"/>
            <a:ext cx="2999232" cy="3044952"/>
          </a:xfrm>
          <a:prstGeom prst="rect">
            <a:avLst/>
          </a:prstGeom>
          <a:noFill/>
        </p:spPr>
        <p:txBody>
          <a:bodyPr wrap="square" lIns="0" rIns="0" tIns="0" bIns="0">
            <a:spAutoFit/>
          </a:bodyPr>
          <a:lstStyle/>
          <a:p>
            <a:pPr>
              <a:spcAft>
                <a:spcPts val="200"/>
              </a:spcAft>
              <a:defRPr sz="2000" b="1">
                <a:solidFill>
                  <a:srgbClr val="1A1D20"/>
                </a:solidFill>
                <a:latin typeface="Georgia"/>
              </a:defRPr>
            </a:pPr>
            <a:r>
              <a:t>Sharing Our Strengths</a:t>
            </a:r>
          </a:p>
          <a:p>
            <a:pPr>
              <a:spcAft>
                <a:spcPts val="800"/>
              </a:spcAft>
              <a:defRPr sz="1050">
                <a:solidFill>
                  <a:srgbClr val="1E3A5F"/>
                </a:solidFill>
                <a:latin typeface="Segoe UI Semibold"/>
              </a:defRPr>
            </a:pPr>
            <a:r>
              <a:t>✦ Growing broader skills as a team</a:t>
            </a:r>
          </a:p>
          <a:p>
            <a:pPr>
              <a:lnSpc>
                <a:spcPct val="116000"/>
              </a:lnSpc>
              <a:spcAft>
                <a:spcPts val="600"/>
              </a:spcAft>
              <a:defRPr sz="1050">
                <a:solidFill>
                  <a:srgbClr val="1E3A5F"/>
                </a:solidFill>
                <a:latin typeface="Segoe UI"/>
              </a:defRPr>
            </a:pPr>
            <a:r>
              <a:t>• </a:t>
            </a:r>
            <a:r>
              <a:rPr sz="1100">
                <a:solidFill>
                  <a:srgbClr val="1A1D20"/>
                </a:solidFill>
                <a:latin typeface="Segoe UI Semibold"/>
              </a:rPr>
              <a:t>Bring your unique craft: </a:t>
            </a:r>
            <a:r>
              <a:rPr sz="1050">
                <a:solidFill>
                  <a:srgbClr val="5F646E"/>
                </a:solidFill>
                <a:latin typeface="Segoe UI"/>
              </a:rPr>
              <a:t>Whether you're great at clear explanations, student motivation, or audio tools, share your tricks openly.</a:t>
            </a:r>
          </a:p>
          <a:p>
            <a:pPr>
              <a:lnSpc>
                <a:spcPct val="116000"/>
              </a:lnSpc>
              <a:spcAft>
                <a:spcPts val="600"/>
              </a:spcAft>
              <a:defRPr sz="1050">
                <a:solidFill>
                  <a:srgbClr val="1E3A5F"/>
                </a:solidFill>
                <a:latin typeface="Segoe UI"/>
              </a:defRPr>
            </a:pPr>
            <a:r>
              <a:t>• </a:t>
            </a:r>
            <a:r>
              <a:rPr sz="1100">
                <a:solidFill>
                  <a:srgbClr val="1A1D20"/>
                </a:solidFill>
                <a:latin typeface="Segoe UI Semibold"/>
              </a:rPr>
              <a:t>Learn from each other: </a:t>
            </a:r>
            <a:r>
              <a:rPr sz="1050">
                <a:solidFill>
                  <a:srgbClr val="5F646E"/>
                </a:solidFill>
                <a:latin typeface="Segoe UI"/>
              </a:rPr>
              <a:t>Watch how your peers approach teaching hurdles. Trying new tools together makes everyone stronger.</a:t>
            </a:r>
          </a:p>
          <a:p>
            <a:pPr>
              <a:lnSpc>
                <a:spcPct val="116000"/>
              </a:lnSpc>
              <a:spcAft>
                <a:spcPts val="600"/>
              </a:spcAft>
              <a:defRPr sz="1050">
                <a:solidFill>
                  <a:srgbClr val="1E3A5F"/>
                </a:solidFill>
                <a:latin typeface="Segoe UI"/>
              </a:defRPr>
            </a:pPr>
            <a:r>
              <a:t>• </a:t>
            </a:r>
            <a:r>
              <a:rPr sz="1100">
                <a:solidFill>
                  <a:srgbClr val="1A1D20"/>
                </a:solidFill>
                <a:latin typeface="Segoe UI Semibold"/>
              </a:rPr>
              <a:t>Self-reliant small groups: </a:t>
            </a:r>
            <a:r>
              <a:rPr sz="1050">
                <a:solidFill>
                  <a:srgbClr val="5F646E"/>
                </a:solidFill>
                <a:latin typeface="Segoe UI"/>
              </a:rPr>
              <a:t>A small group of 3 or 4 teachers can create complete, polished lessons without waiting on outside help.</a:t>
            </a:r>
          </a:p>
        </p:txBody>
      </p:sp>
      <p:sp>
        <p:nvSpPr>
          <p:cNvPr id="12" name="Rounded Rectangle 11"/>
          <p:cNvSpPr/>
          <p:nvPr/>
        </p:nvSpPr>
        <p:spPr>
          <a:xfrm>
            <a:off x="4572000" y="5230368"/>
            <a:ext cx="3035808" cy="1051560"/>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00016" y="5321808"/>
            <a:ext cx="2779776" cy="868680"/>
          </a:xfrm>
          <a:prstGeom prst="rect">
            <a:avLst/>
          </a:prstGeom>
          <a:noFill/>
        </p:spPr>
        <p:txBody>
          <a:bodyPr wrap="square" lIns="0" rIns="0" tIns="0" bIns="0">
            <a:spAutoFit/>
          </a:bodyPr>
          <a:lstStyle/>
          <a:p>
            <a:pPr>
              <a:lnSpc>
                <a:spcPct val="115000"/>
              </a:lnSpc>
              <a:spcAft>
                <a:spcPts val="200"/>
              </a:spcAft>
              <a:defRPr sz="1000" i="1">
                <a:solidFill>
                  <a:srgbClr val="1A1D20"/>
                </a:solidFill>
                <a:latin typeface="Georgia"/>
              </a:defRPr>
            </a:pPr>
            <a:r>
              <a:t>“The best teammates bring deep passion for their craft, but are always excited to learn from those around them.”</a:t>
            </a:r>
          </a:p>
          <a:p>
            <a:pPr>
              <a:defRPr sz="850">
                <a:solidFill>
                  <a:srgbClr val="1E3A5F"/>
                </a:solidFill>
                <a:latin typeface="Segoe UI Semibold"/>
              </a:defRPr>
            </a:pPr>
            <a:r>
              <a:t>— Valve Teamwork Philosophy</a:t>
            </a:r>
          </a:p>
        </p:txBody>
      </p:sp>
      <p:sp>
        <p:nvSpPr>
          <p:cNvPr id="14" name="Rounded Rectangle 13"/>
          <p:cNvSpPr/>
          <p:nvPr/>
        </p:nvSpPr>
        <p:spPr>
          <a:xfrm>
            <a:off x="8083296" y="1600200"/>
            <a:ext cx="3364992" cy="4846320"/>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266176" y="1764792"/>
            <a:ext cx="2999232" cy="310896"/>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A8432B"/>
                </a:solidFill>
                <a:latin typeface="Segoe UI"/>
              </a:defRPr>
            </a:pPr>
            <a:r>
              <a:t>03 • SHOWING OVER DEBATING</a:t>
            </a:r>
          </a:p>
        </p:txBody>
      </p:sp>
      <p:sp>
        <p:nvSpPr>
          <p:cNvPr id="16" name="TextBox 15"/>
          <p:cNvSpPr txBox="1"/>
          <p:nvPr/>
        </p:nvSpPr>
        <p:spPr>
          <a:xfrm>
            <a:off x="8266176" y="2130552"/>
            <a:ext cx="2999232" cy="3044952"/>
          </a:xfrm>
          <a:prstGeom prst="rect">
            <a:avLst/>
          </a:prstGeom>
          <a:noFill/>
        </p:spPr>
        <p:txBody>
          <a:bodyPr wrap="square" lIns="0" rIns="0" tIns="0" bIns="0">
            <a:spAutoFit/>
          </a:bodyPr>
          <a:lstStyle/>
          <a:p>
            <a:pPr>
              <a:spcAft>
                <a:spcPts val="200"/>
              </a:spcAft>
              <a:defRPr sz="2000" b="1">
                <a:solidFill>
                  <a:srgbClr val="1A1D20"/>
                </a:solidFill>
                <a:latin typeface="Georgia"/>
              </a:defRPr>
            </a:pPr>
            <a:r>
              <a:t>Try It First, Don't Just Talk</a:t>
            </a:r>
          </a:p>
          <a:p>
            <a:pPr>
              <a:spcAft>
                <a:spcPts val="800"/>
              </a:spcAft>
              <a:defRPr sz="1050">
                <a:solidFill>
                  <a:srgbClr val="A8432B"/>
                </a:solidFill>
                <a:latin typeface="Segoe UI Semibold"/>
              </a:defRPr>
            </a:pPr>
            <a:r>
              <a:t>✦ Build a quick draft to see if it works</a:t>
            </a:r>
          </a:p>
          <a:p>
            <a:pPr>
              <a:lnSpc>
                <a:spcPct val="116000"/>
              </a:lnSpc>
              <a:spcAft>
                <a:spcPts val="600"/>
              </a:spcAft>
              <a:defRPr sz="1050">
                <a:solidFill>
                  <a:srgbClr val="A8432B"/>
                </a:solidFill>
                <a:latin typeface="Segoe UI"/>
              </a:defRPr>
            </a:pPr>
            <a:r>
              <a:t>• </a:t>
            </a:r>
            <a:r>
              <a:rPr sz="1100">
                <a:solidFill>
                  <a:srgbClr val="1A1D20"/>
                </a:solidFill>
                <a:latin typeface="Segoe UI Semibold"/>
              </a:rPr>
              <a:t>Action beats endless talk: </a:t>
            </a:r>
            <a:r>
              <a:rPr sz="1050">
                <a:solidFill>
                  <a:srgbClr val="5F646E"/>
                </a:solidFill>
                <a:latin typeface="Segoe UI"/>
              </a:rPr>
              <a:t>Instead of spending an hour arguing about an idea, spend 15 minutes making a quick draft or sample.</a:t>
            </a:r>
          </a:p>
          <a:p>
            <a:pPr>
              <a:lnSpc>
                <a:spcPct val="116000"/>
              </a:lnSpc>
              <a:spcAft>
                <a:spcPts val="600"/>
              </a:spcAft>
              <a:defRPr sz="1050">
                <a:solidFill>
                  <a:srgbClr val="A8432B"/>
                </a:solidFill>
                <a:latin typeface="Segoe UI"/>
              </a:defRPr>
            </a:pPr>
            <a:r>
              <a:t>• </a:t>
            </a:r>
            <a:r>
              <a:rPr sz="1100">
                <a:solidFill>
                  <a:srgbClr val="1A1D20"/>
                </a:solidFill>
                <a:latin typeface="Segoe UI Semibold"/>
              </a:rPr>
              <a:t>Let the work guide you: </a:t>
            </a:r>
            <a:r>
              <a:rPr sz="1050">
                <a:solidFill>
                  <a:srgbClr val="5F646E"/>
                </a:solidFill>
                <a:latin typeface="Segoe UI"/>
              </a:rPr>
              <a:t>When you can see and hear a real example, making decisions together becomes simple and obvious.</a:t>
            </a:r>
          </a:p>
          <a:p>
            <a:pPr>
              <a:lnSpc>
                <a:spcPct val="116000"/>
              </a:lnSpc>
              <a:spcAft>
                <a:spcPts val="600"/>
              </a:spcAft>
              <a:defRPr sz="1050">
                <a:solidFill>
                  <a:srgbClr val="A8432B"/>
                </a:solidFill>
                <a:latin typeface="Segoe UI"/>
              </a:defRPr>
            </a:pPr>
            <a:r>
              <a:t>• </a:t>
            </a:r>
            <a:r>
              <a:rPr sz="1100">
                <a:solidFill>
                  <a:srgbClr val="1A1D20"/>
                </a:solidFill>
                <a:latin typeface="Segoe UI Semibold"/>
              </a:rPr>
              <a:t>Safe to experiment: </a:t>
            </a:r>
            <a:r>
              <a:rPr sz="1050">
                <a:solidFill>
                  <a:srgbClr val="5F646E"/>
                </a:solidFill>
                <a:latin typeface="Segoe UI"/>
              </a:rPr>
              <a:t>If a draft doesn't work, that's completely fine. We learn what doesn't work and adjust together immediately.</a:t>
            </a:r>
          </a:p>
        </p:txBody>
      </p:sp>
      <p:sp>
        <p:nvSpPr>
          <p:cNvPr id="17" name="Rounded Rectangle 16"/>
          <p:cNvSpPr/>
          <p:nvPr/>
        </p:nvSpPr>
        <p:spPr>
          <a:xfrm>
            <a:off x="8247888" y="5230368"/>
            <a:ext cx="3035808" cy="1051560"/>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et_plate.jpg"/>
          <p:cNvPicPr>
            <a:picLocks noChangeAspect="1"/>
          </p:cNvPicPr>
          <p:nvPr/>
        </p:nvPicPr>
        <p:blipFill>
          <a:blip r:embed="rId2"/>
          <a:stretch>
            <a:fillRect/>
          </a:stretch>
        </p:blipFill>
        <p:spPr>
          <a:xfrm>
            <a:off x="8339328" y="5344668"/>
            <a:ext cx="658368" cy="822960"/>
          </a:xfrm>
          <a:prstGeom prst="rect">
            <a:avLst/>
          </a:prstGeom>
        </p:spPr>
      </p:pic>
      <p:sp>
        <p:nvSpPr>
          <p:cNvPr id="19" name="Rectangle 18"/>
          <p:cNvSpPr/>
          <p:nvPr/>
        </p:nvSpPr>
        <p:spPr>
          <a:xfrm>
            <a:off x="8339328" y="5344668"/>
            <a:ext cx="658368" cy="822960"/>
          </a:xfrm>
          <a:prstGeom prst="rect">
            <a:avLst/>
          </a:prstGeom>
          <a:no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89136" y="5285232"/>
            <a:ext cx="2194560" cy="941832"/>
          </a:xfrm>
          <a:prstGeom prst="rect">
            <a:avLst/>
          </a:prstGeom>
          <a:noFill/>
        </p:spPr>
        <p:txBody>
          <a:bodyPr wrap="square" lIns="0" rIns="0" tIns="0" bIns="0">
            <a:spAutoFit/>
          </a:bodyPr>
          <a:lstStyle/>
          <a:p>
            <a:pPr>
              <a:lnSpc>
                <a:spcPct val="112000"/>
              </a:lnSpc>
              <a:spcAft>
                <a:spcPts val="200"/>
              </a:spcAft>
              <a:defRPr sz="950" i="1">
                <a:solidFill>
                  <a:srgbClr val="1A1D20"/>
                </a:solidFill>
                <a:latin typeface="Georgia"/>
              </a:defRPr>
            </a:pPr>
            <a:r>
              <a:t>“Don't get stuck in meetings. Build a quick draft, show it to your team, and let real results do the talking.”</a:t>
            </a:r>
          </a:p>
          <a:p>
            <a:pPr>
              <a:defRPr sz="850">
                <a:solidFill>
                  <a:srgbClr val="A8432B"/>
                </a:solidFill>
                <a:latin typeface="Segoe UI Semibold"/>
              </a:defRPr>
            </a:pPr>
            <a:r>
              <a:t>— Chet Faliszek • Valve Team Lead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TEAM PITFALLS • WHAT WE WATCH OUT FOR</a:t>
            </a:r>
          </a:p>
          <a:p>
            <a:pPr>
              <a:spcAft>
                <a:spcPts val="300"/>
              </a:spcAft>
              <a:defRPr sz="2500" b="1">
                <a:solidFill>
                  <a:srgbClr val="1A1D20"/>
                </a:solidFill>
                <a:latin typeface="Georgia"/>
              </a:defRPr>
            </a:pPr>
            <a:r>
              <a:t>The 3 Traps to Watch Out For (And How We Avoid Them)</a:t>
            </a:r>
          </a:p>
          <a:p>
            <a:pPr>
              <a:defRPr sz="1300">
                <a:solidFill>
                  <a:srgbClr val="5F646E"/>
                </a:solidFill>
                <a:latin typeface="Segoe UI"/>
              </a:defRPr>
            </a:pPr>
            <a:r>
              <a:t>Every team without managers encounters these three hurdles. Here is how we protect our culture:</a:t>
            </a:r>
          </a:p>
        </p:txBody>
      </p:sp>
      <p:sp>
        <p:nvSpPr>
          <p:cNvPr id="4" name="Rounded Rectangle 3"/>
          <p:cNvSpPr/>
          <p:nvPr/>
        </p:nvSpPr>
        <p:spPr>
          <a:xfrm>
            <a:off x="731520" y="1600200"/>
            <a:ext cx="3364992" cy="4846320"/>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96112" y="1728216"/>
            <a:ext cx="3035808" cy="274320"/>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A8432B"/>
                </a:solidFill>
                <a:latin typeface="Segoe UI"/>
              </a:defRPr>
            </a:pPr>
            <a:r>
              <a:t>⚠️ TRAP 01 • POPULARITY CONTESTS</a:t>
            </a:r>
          </a:p>
        </p:txBody>
      </p:sp>
      <p:pic>
        <p:nvPicPr>
          <p:cNvPr id="6" name="Picture 5" descr="freeman_plate.jpg"/>
          <p:cNvPicPr>
            <a:picLocks noChangeAspect="1"/>
          </p:cNvPicPr>
          <p:nvPr/>
        </p:nvPicPr>
        <p:blipFill>
          <a:blip r:embed="rId2"/>
          <a:stretch>
            <a:fillRect/>
          </a:stretch>
        </p:blipFill>
        <p:spPr>
          <a:xfrm>
            <a:off x="896112" y="2057400"/>
            <a:ext cx="914400" cy="1143000"/>
          </a:xfrm>
          <a:prstGeom prst="rect">
            <a:avLst/>
          </a:prstGeom>
        </p:spPr>
      </p:pic>
      <p:sp>
        <p:nvSpPr>
          <p:cNvPr id="7" name="Rectangle 6"/>
          <p:cNvSpPr/>
          <p:nvPr/>
        </p:nvSpPr>
        <p:spPr>
          <a:xfrm>
            <a:off x="896112" y="2057400"/>
            <a:ext cx="914400" cy="114300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920240" y="2039112"/>
            <a:ext cx="2048256" cy="1188720"/>
          </a:xfrm>
          <a:prstGeom prst="rect">
            <a:avLst/>
          </a:prstGeom>
          <a:noFill/>
        </p:spPr>
        <p:txBody>
          <a:bodyPr wrap="square" lIns="0" rIns="0" tIns="0" bIns="0">
            <a:spAutoFit/>
          </a:bodyPr>
          <a:lstStyle/>
          <a:p>
            <a:pPr>
              <a:spcAft>
                <a:spcPts val="100"/>
              </a:spcAft>
              <a:defRPr sz="1700" b="1">
                <a:solidFill>
                  <a:srgbClr val="1A1D20"/>
                </a:solidFill>
                <a:latin typeface="Georgia"/>
              </a:defRPr>
            </a:pPr>
            <a:r>
              <a:t>Hidden Cliques</a:t>
            </a:r>
          </a:p>
          <a:p>
            <a:pPr>
              <a:spcAft>
                <a:spcPts val="300"/>
              </a:spcAft>
              <a:defRPr sz="950">
                <a:solidFill>
                  <a:srgbClr val="B45309"/>
                </a:solidFill>
                <a:latin typeface="Segoe UI Semibold"/>
              </a:defRPr>
            </a:pPr>
            <a:r>
              <a:t>⚠️ The Danger of Whispers</a:t>
            </a:r>
          </a:p>
          <a:p>
            <a:pPr>
              <a:defRPr sz="850">
                <a:solidFill>
                  <a:srgbClr val="5F646E"/>
                </a:solidFill>
                <a:latin typeface="Segoe UI"/>
              </a:defRPr>
            </a:pPr>
            <a:r>
              <a:t>Jo Freeman • Team Researcher</a:t>
            </a:r>
          </a:p>
        </p:txBody>
      </p:sp>
      <p:sp>
        <p:nvSpPr>
          <p:cNvPr id="9" name="TextBox 8"/>
          <p:cNvSpPr txBox="1"/>
          <p:nvPr/>
        </p:nvSpPr>
        <p:spPr>
          <a:xfrm>
            <a:off x="896112" y="3291840"/>
            <a:ext cx="3035808" cy="2157984"/>
          </a:xfrm>
          <a:prstGeom prst="rect">
            <a:avLst/>
          </a:prstGeom>
          <a:noFill/>
        </p:spPr>
        <p:txBody>
          <a:bodyPr wrap="square" lIns="0" rIns="0" tIns="0" bIns="0">
            <a:spAutoFit/>
          </a:bodyPr>
          <a:lstStyle/>
          <a:p>
            <a:pPr>
              <a:spcAft>
                <a:spcPts val="100"/>
              </a:spcAft>
              <a:defRPr sz="900" b="1">
                <a:solidFill>
                  <a:srgbClr val="A8432B"/>
                </a:solidFill>
                <a:latin typeface="Segoe UI"/>
              </a:defRPr>
            </a:pPr>
            <a:r>
              <a:t>THE RISK TO WATCH:</a:t>
            </a:r>
          </a:p>
          <a:p>
            <a:pPr>
              <a:lnSpc>
                <a:spcPct val="115000"/>
              </a:lnSpc>
              <a:spcAft>
                <a:spcPts val="600"/>
              </a:spcAft>
              <a:defRPr sz="950">
                <a:solidFill>
                  <a:srgbClr val="5F646E"/>
                </a:solidFill>
                <a:latin typeface="Segoe UI"/>
              </a:defRPr>
            </a:pPr>
            <a:r>
              <a:t>When there are no formal managers, influence can quietly drift to informal friend groups, whisper conversations, or whoever speaks the loudest.</a:t>
            </a:r>
          </a:p>
          <a:p>
            <a:pPr>
              <a:spcAft>
                <a:spcPts val="100"/>
              </a:spcAft>
              <a:defRPr sz="900" b="1">
                <a:solidFill>
                  <a:srgbClr val="166534"/>
                </a:solidFill>
                <a:latin typeface="Segoe UI"/>
              </a:defRPr>
            </a:pPr>
            <a:r>
              <a:t>OUR TEAM DEFENSE:</a:t>
            </a:r>
          </a:p>
          <a:p>
            <a:pPr>
              <a:lnSpc>
                <a:spcPct val="115000"/>
              </a:lnSpc>
              <a:defRPr sz="950">
                <a:solidFill>
                  <a:srgbClr val="1A1D20"/>
                </a:solidFill>
                <a:latin typeface="Segoe UI"/>
              </a:defRPr>
            </a:pPr>
            <a:r>
              <a:t>Open Conversations: We share ideas in public team channels, write down our choices openly, and make sure every single teammate has an equal voice.</a:t>
            </a:r>
          </a:p>
        </p:txBody>
      </p:sp>
      <p:sp>
        <p:nvSpPr>
          <p:cNvPr id="10" name="Rounded Rectangle 9"/>
          <p:cNvSpPr/>
          <p:nvPr/>
        </p:nvSpPr>
        <p:spPr>
          <a:xfrm>
            <a:off x="896112" y="5522976"/>
            <a:ext cx="3035808" cy="777240"/>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lnSpc>
                <a:spcPct val="114000"/>
              </a:lnSpc>
              <a:defRPr i="1" b="1" sz="950">
                <a:solidFill>
                  <a:srgbClr val="A8432B"/>
                </a:solidFill>
                <a:latin typeface="Georgia"/>
              </a:defRPr>
            </a:pPr>
            <a:r>
              <a:t>“Cliques grow in the dark. Open, transparent sharing keeps our team fair and equal for everyone.”</a:t>
            </a:r>
          </a:p>
        </p:txBody>
      </p:sp>
      <p:sp>
        <p:nvSpPr>
          <p:cNvPr id="11" name="Rounded Rectangle 10"/>
          <p:cNvSpPr/>
          <p:nvPr/>
        </p:nvSpPr>
        <p:spPr>
          <a:xfrm>
            <a:off x="4407408" y="1600200"/>
            <a:ext cx="3364992" cy="4846320"/>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572000" y="1728216"/>
            <a:ext cx="3035808" cy="274320"/>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A8432B"/>
                </a:solidFill>
                <a:latin typeface="Segoe UI"/>
              </a:defRPr>
            </a:pPr>
            <a:r>
              <a:t>⚠️ TRAP 02 • GUILT-DRIVEN OVERTIME</a:t>
            </a:r>
          </a:p>
        </p:txBody>
      </p:sp>
      <p:pic>
        <p:nvPicPr>
          <p:cNvPr id="13" name="Picture 12" descr="weier_plate.jpg"/>
          <p:cNvPicPr>
            <a:picLocks noChangeAspect="1"/>
          </p:cNvPicPr>
          <p:nvPr/>
        </p:nvPicPr>
        <p:blipFill>
          <a:blip r:embed="rId3"/>
          <a:stretch>
            <a:fillRect/>
          </a:stretch>
        </p:blipFill>
        <p:spPr>
          <a:xfrm>
            <a:off x="4572000" y="2057400"/>
            <a:ext cx="914400" cy="1143000"/>
          </a:xfrm>
          <a:prstGeom prst="rect">
            <a:avLst/>
          </a:prstGeom>
        </p:spPr>
      </p:pic>
      <p:sp>
        <p:nvSpPr>
          <p:cNvPr id="14" name="Rectangle 13"/>
          <p:cNvSpPr/>
          <p:nvPr/>
        </p:nvSpPr>
        <p:spPr>
          <a:xfrm>
            <a:off x="4572000" y="2057400"/>
            <a:ext cx="914400" cy="114300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596128" y="2039112"/>
            <a:ext cx="2048256" cy="1188720"/>
          </a:xfrm>
          <a:prstGeom prst="rect">
            <a:avLst/>
          </a:prstGeom>
          <a:noFill/>
        </p:spPr>
        <p:txBody>
          <a:bodyPr wrap="square" lIns="0" rIns="0" tIns="0" bIns="0">
            <a:spAutoFit/>
          </a:bodyPr>
          <a:lstStyle/>
          <a:p>
            <a:pPr>
              <a:spcAft>
                <a:spcPts val="100"/>
              </a:spcAft>
              <a:defRPr sz="1700" b="1">
                <a:solidFill>
                  <a:srgbClr val="1A1D20"/>
                </a:solidFill>
                <a:latin typeface="Georgia"/>
              </a:defRPr>
            </a:pPr>
            <a:r>
              <a:t>Silent Overtime</a:t>
            </a:r>
          </a:p>
          <a:p>
            <a:pPr>
              <a:spcAft>
                <a:spcPts val="300"/>
              </a:spcAft>
              <a:defRPr sz="950">
                <a:solidFill>
                  <a:srgbClr val="B45309"/>
                </a:solidFill>
                <a:latin typeface="Segoe UI Semibold"/>
              </a:defRPr>
            </a:pPr>
            <a:r>
              <a:t>⚠️ The Burnout Trap</a:t>
            </a:r>
          </a:p>
          <a:p>
            <a:pPr>
              <a:defRPr sz="850">
                <a:solidFill>
                  <a:srgbClr val="5F646E"/>
                </a:solidFill>
                <a:latin typeface="Segoe UI"/>
              </a:defRPr>
            </a:pPr>
            <a:r>
              <a:t>Josh Weier • Project Lead</a:t>
            </a:r>
          </a:p>
        </p:txBody>
      </p:sp>
      <p:sp>
        <p:nvSpPr>
          <p:cNvPr id="16" name="TextBox 15"/>
          <p:cNvSpPr txBox="1"/>
          <p:nvPr/>
        </p:nvSpPr>
        <p:spPr>
          <a:xfrm>
            <a:off x="4572000" y="3291840"/>
            <a:ext cx="3035808" cy="2157984"/>
          </a:xfrm>
          <a:prstGeom prst="rect">
            <a:avLst/>
          </a:prstGeom>
          <a:noFill/>
        </p:spPr>
        <p:txBody>
          <a:bodyPr wrap="square" lIns="0" rIns="0" tIns="0" bIns="0">
            <a:spAutoFit/>
          </a:bodyPr>
          <a:lstStyle/>
          <a:p>
            <a:pPr>
              <a:spcAft>
                <a:spcPts val="100"/>
              </a:spcAft>
              <a:defRPr sz="900" b="1">
                <a:solidFill>
                  <a:srgbClr val="A8432B"/>
                </a:solidFill>
                <a:latin typeface="Segoe UI"/>
              </a:defRPr>
            </a:pPr>
            <a:r>
              <a:t>THE RISK TO WATCH:</a:t>
            </a:r>
          </a:p>
          <a:p>
            <a:pPr>
              <a:lnSpc>
                <a:spcPct val="115000"/>
              </a:lnSpc>
              <a:spcAft>
                <a:spcPts val="600"/>
              </a:spcAft>
              <a:defRPr sz="950">
                <a:solidFill>
                  <a:srgbClr val="5F646E"/>
                </a:solidFill>
                <a:latin typeface="Segoe UI"/>
              </a:defRPr>
            </a:pPr>
            <a:r>
              <a:t>Without a manager telling people when to stop, dedicated teachers feel quiet pressure to answer messages late at night to prove they are working hard.</a:t>
            </a:r>
          </a:p>
          <a:p>
            <a:pPr>
              <a:spcAft>
                <a:spcPts val="100"/>
              </a:spcAft>
              <a:defRPr sz="900" b="1">
                <a:solidFill>
                  <a:srgbClr val="166534"/>
                </a:solidFill>
                <a:latin typeface="Segoe UI"/>
              </a:defRPr>
            </a:pPr>
            <a:r>
              <a:t>OUR TEAM DEFENSE:</a:t>
            </a:r>
          </a:p>
          <a:p>
            <a:pPr>
              <a:lnSpc>
                <a:spcPct val="115000"/>
              </a:lnSpc>
              <a:defRPr sz="950">
                <a:solidFill>
                  <a:srgbClr val="1A1D20"/>
                </a:solidFill>
                <a:latin typeface="Segoe UI"/>
              </a:defRPr>
            </a:pPr>
            <a:r>
              <a:t>Protected Rest: We encourage focused daytime hours, turn off notifications in the evening, and treat late-night burnout as a signal to slow down.</a:t>
            </a:r>
          </a:p>
        </p:txBody>
      </p:sp>
      <p:sp>
        <p:nvSpPr>
          <p:cNvPr id="17" name="Rounded Rectangle 16"/>
          <p:cNvSpPr/>
          <p:nvPr/>
        </p:nvSpPr>
        <p:spPr>
          <a:xfrm>
            <a:off x="4572000" y="5522976"/>
            <a:ext cx="3035808" cy="777240"/>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lnSpc>
                <a:spcPct val="114000"/>
              </a:lnSpc>
              <a:defRPr i="1" b="1" sz="950">
                <a:solidFill>
                  <a:srgbClr val="A8432B"/>
                </a:solidFill>
                <a:latin typeface="Georgia"/>
              </a:defRPr>
            </a:pPr>
            <a:r>
              <a:t>“Working late into the night doesn't make you a hero. A well-rested teacher brings the best energy to students.”</a:t>
            </a:r>
          </a:p>
        </p:txBody>
      </p:sp>
      <p:sp>
        <p:nvSpPr>
          <p:cNvPr id="18" name="Rounded Rectangle 17"/>
          <p:cNvSpPr/>
          <p:nvPr/>
        </p:nvSpPr>
        <p:spPr>
          <a:xfrm>
            <a:off x="8083296" y="1600200"/>
            <a:ext cx="3364992" cy="4846320"/>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47888" y="1728216"/>
            <a:ext cx="3035808" cy="274320"/>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850" b="1">
                <a:solidFill>
                  <a:srgbClr val="A8432B"/>
                </a:solidFill>
                <a:latin typeface="Segoe UI"/>
              </a:defRPr>
            </a:pPr>
            <a:r>
              <a:t>⚠️ TRAP 03 • PEER COMPETITION</a:t>
            </a:r>
          </a:p>
        </p:txBody>
      </p:sp>
      <p:pic>
        <p:nvPicPr>
          <p:cNvPr id="20" name="Picture 19" descr="geldreich_plate.jpg"/>
          <p:cNvPicPr>
            <a:picLocks noChangeAspect="1"/>
          </p:cNvPicPr>
          <p:nvPr/>
        </p:nvPicPr>
        <p:blipFill>
          <a:blip r:embed="rId4"/>
          <a:stretch>
            <a:fillRect/>
          </a:stretch>
        </p:blipFill>
        <p:spPr>
          <a:xfrm>
            <a:off x="8247888" y="2057400"/>
            <a:ext cx="914400" cy="1143000"/>
          </a:xfrm>
          <a:prstGeom prst="rect">
            <a:avLst/>
          </a:prstGeom>
        </p:spPr>
      </p:pic>
      <p:sp>
        <p:nvSpPr>
          <p:cNvPr id="21" name="Rectangle 20"/>
          <p:cNvSpPr/>
          <p:nvPr/>
        </p:nvSpPr>
        <p:spPr>
          <a:xfrm>
            <a:off x="8247888" y="2057400"/>
            <a:ext cx="914400" cy="114300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2016" y="2039112"/>
            <a:ext cx="2048256" cy="1188720"/>
          </a:xfrm>
          <a:prstGeom prst="rect">
            <a:avLst/>
          </a:prstGeom>
          <a:noFill/>
        </p:spPr>
        <p:txBody>
          <a:bodyPr wrap="square" lIns="0" rIns="0" tIns="0" bIns="0">
            <a:spAutoFit/>
          </a:bodyPr>
          <a:lstStyle/>
          <a:p>
            <a:pPr>
              <a:spcAft>
                <a:spcPts val="100"/>
              </a:spcAft>
              <a:defRPr sz="1700" b="1">
                <a:solidFill>
                  <a:srgbClr val="1A1D20"/>
                </a:solidFill>
                <a:latin typeface="Georgia"/>
              </a:defRPr>
            </a:pPr>
            <a:r>
              <a:t>Comparing Ourselves</a:t>
            </a:r>
          </a:p>
          <a:p>
            <a:pPr>
              <a:spcAft>
                <a:spcPts val="300"/>
              </a:spcAft>
              <a:defRPr sz="950">
                <a:solidFill>
                  <a:srgbClr val="B45309"/>
                </a:solidFill>
                <a:latin typeface="Segoe UI Semibold"/>
              </a:defRPr>
            </a:pPr>
            <a:r>
              <a:t>⚠️ The Rivalry Trap</a:t>
            </a:r>
          </a:p>
          <a:p>
            <a:pPr>
              <a:defRPr sz="850">
                <a:solidFill>
                  <a:srgbClr val="5F646E"/>
                </a:solidFill>
                <a:latin typeface="Segoe UI"/>
              </a:defRPr>
            </a:pPr>
            <a:r>
              <a:t>Rich Geldreich • Senior Engineer</a:t>
            </a:r>
          </a:p>
        </p:txBody>
      </p:sp>
      <p:sp>
        <p:nvSpPr>
          <p:cNvPr id="23" name="TextBox 22"/>
          <p:cNvSpPr txBox="1"/>
          <p:nvPr/>
        </p:nvSpPr>
        <p:spPr>
          <a:xfrm>
            <a:off x="8247888" y="3291840"/>
            <a:ext cx="3035808" cy="2157984"/>
          </a:xfrm>
          <a:prstGeom prst="rect">
            <a:avLst/>
          </a:prstGeom>
          <a:noFill/>
        </p:spPr>
        <p:txBody>
          <a:bodyPr wrap="square" lIns="0" rIns="0" tIns="0" bIns="0">
            <a:spAutoFit/>
          </a:bodyPr>
          <a:lstStyle/>
          <a:p>
            <a:pPr>
              <a:spcAft>
                <a:spcPts val="100"/>
              </a:spcAft>
              <a:defRPr sz="900" b="1">
                <a:solidFill>
                  <a:srgbClr val="A8432B"/>
                </a:solidFill>
                <a:latin typeface="Segoe UI"/>
              </a:defRPr>
            </a:pPr>
            <a:r>
              <a:t>THE RISK TO WATCH:</a:t>
            </a:r>
          </a:p>
          <a:p>
            <a:pPr>
              <a:lnSpc>
                <a:spcPct val="115000"/>
              </a:lnSpc>
              <a:spcAft>
                <a:spcPts val="600"/>
              </a:spcAft>
              <a:defRPr sz="950">
                <a:solidFill>
                  <a:srgbClr val="5F646E"/>
                </a:solidFill>
                <a:latin typeface="Segoe UI"/>
              </a:defRPr>
            </a:pPr>
            <a:r>
              <a:t>When colleagues feel secretly compared against one another, trust disappears. People hold back their best ideas and stop helping their peers.</a:t>
            </a:r>
          </a:p>
          <a:p>
            <a:pPr>
              <a:spcAft>
                <a:spcPts val="100"/>
              </a:spcAft>
              <a:defRPr sz="900" b="1">
                <a:solidFill>
                  <a:srgbClr val="166534"/>
                </a:solidFill>
                <a:latin typeface="Segoe UI"/>
              </a:defRPr>
            </a:pPr>
            <a:r>
              <a:t>OUR TEAM DEFENSE:</a:t>
            </a:r>
          </a:p>
          <a:p>
            <a:pPr>
              <a:lnSpc>
                <a:spcPct val="115000"/>
              </a:lnSpc>
              <a:defRPr sz="950">
                <a:solidFill>
                  <a:srgbClr val="1A1D20"/>
                </a:solidFill>
                <a:latin typeface="Segoe UI"/>
              </a:defRPr>
            </a:pPr>
            <a:r>
              <a:t>One Shared Mission: We succeed together or not at all. We celebrate when a teammate does great work, knowing it helps our entire team grow.</a:t>
            </a:r>
          </a:p>
        </p:txBody>
      </p:sp>
      <p:sp>
        <p:nvSpPr>
          <p:cNvPr id="24" name="Rounded Rectangle 23"/>
          <p:cNvSpPr/>
          <p:nvPr/>
        </p:nvSpPr>
        <p:spPr>
          <a:xfrm>
            <a:off x="8247888" y="5522976"/>
            <a:ext cx="3035808" cy="777240"/>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54864" bIns="54864"/>
          <a:lstStyle/>
          <a:p>
            <a:pPr algn="ctr">
              <a:lnSpc>
                <a:spcPct val="114000"/>
              </a:lnSpc>
              <a:defRPr i="1" b="1" sz="950">
                <a:solidFill>
                  <a:srgbClr val="A8432B"/>
                </a:solidFill>
                <a:latin typeface="Georgia"/>
              </a:defRPr>
            </a:pPr>
            <a:r>
              <a:t>“Never turn colleagues into rivals. We succeed by lifting each other up, not by competing for attention.”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HOW WORK GETS STUCK • THE TRADITIONAL RELAY</a:t>
            </a:r>
          </a:p>
          <a:p>
            <a:pPr>
              <a:spcAft>
                <a:spcPts val="300"/>
              </a:spcAft>
              <a:defRPr sz="2500" b="1">
                <a:solidFill>
                  <a:srgbClr val="1A1D20"/>
                </a:solidFill>
                <a:latin typeface="Georgia"/>
              </a:defRPr>
            </a:pPr>
            <a:r>
              <a:t>The Old Relay Race: Passing Files Back and Forth</a:t>
            </a:r>
          </a:p>
          <a:p>
            <a:pPr>
              <a:defRPr sz="1300">
                <a:solidFill>
                  <a:srgbClr val="5F646E"/>
                </a:solidFill>
                <a:latin typeface="Segoe UI"/>
              </a:defRPr>
            </a:pPr>
            <a:r>
              <a:t>Why traditional school handoffs make teamwork feel frustrating, lonely, and slow:</a:t>
            </a:r>
          </a:p>
        </p:txBody>
      </p:sp>
      <p:sp>
        <p:nvSpPr>
          <p:cNvPr id="4" name="Rounded Rectangle 3"/>
          <p:cNvSpPr/>
          <p:nvPr/>
        </p:nvSpPr>
        <p:spPr>
          <a:xfrm>
            <a:off x="731520" y="1645920"/>
            <a:ext cx="1645920" cy="214884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64592"/>
          <a:lstStyle/>
          <a:p>
            <a:pPr algn="ctr">
              <a:spcAft>
                <a:spcPts val="600"/>
              </a:spcAft>
              <a:defRPr sz="1050" b="1">
                <a:solidFill>
                  <a:srgbClr val="1A1D20"/>
                </a:solidFill>
                <a:latin typeface="Segoe UI"/>
              </a:defRPr>
            </a:pPr>
            <a:r>
              <a:t>01 WORKING ALONE</a:t>
            </a:r>
          </a:p>
          <a:p>
            <a:pPr>
              <a:lnSpc>
                <a:spcPct val="118000"/>
              </a:lnSpc>
              <a:defRPr sz="1100">
                <a:solidFill>
                  <a:srgbClr val="5F646E"/>
                </a:solidFill>
                <a:latin typeface="Segoe UI"/>
              </a:defRPr>
            </a:pPr>
            <a:r>
              <a:t>A teacher sits in isolation for a week drafting an exercise without talking to anyone.</a:t>
            </a:r>
          </a:p>
        </p:txBody>
      </p:sp>
      <p:sp>
        <p:nvSpPr>
          <p:cNvPr id="5" name="Right Arrow 4"/>
          <p:cNvSpPr/>
          <p:nvPr/>
        </p:nvSpPr>
        <p:spPr>
          <a:xfrm>
            <a:off x="2414016" y="2606040"/>
            <a:ext cx="128016"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560320" y="1645920"/>
            <a:ext cx="1188720" cy="2148840"/>
          </a:xfrm>
          <a:prstGeom prst="roundRect">
            <a:avLst/>
          </a:prstGeom>
          <a:solidFill>
            <a:srgbClr val="FEF2F2"/>
          </a:solidFill>
          <a:ln w="1270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tIns="228600"/>
          <a:lstStyle/>
          <a:p>
            <a:pPr algn="ctr">
              <a:spcAft>
                <a:spcPts val="400"/>
              </a:spcAft>
              <a:defRPr sz="1000" b="1">
                <a:solidFill>
                  <a:srgbClr val="A8432B"/>
                </a:solidFill>
                <a:latin typeface="Segoe UI"/>
              </a:defRPr>
            </a:pPr>
            <a:r>
              <a:t>⏳ WAITING 1</a:t>
            </a:r>
          </a:p>
          <a:p>
            <a:pPr algn="ctr">
              <a:spcAft>
                <a:spcPts val="200"/>
              </a:spcAft>
              <a:defRPr sz="1100" b="1">
                <a:solidFill>
                  <a:srgbClr val="1A1D20"/>
                </a:solidFill>
                <a:latin typeface="Segoe UI"/>
              </a:defRPr>
            </a:pPr>
            <a:r>
              <a:t>Wait 5–7 Days</a:t>
            </a:r>
          </a:p>
          <a:p>
            <a:pPr algn="ctr">
              <a:defRPr sz="1000">
                <a:solidFill>
                  <a:srgbClr val="5F646E"/>
                </a:solidFill>
                <a:latin typeface="Segoe UI"/>
              </a:defRPr>
            </a:pPr>
            <a:r>
              <a:t>Sitting in an inbox</a:t>
            </a:r>
          </a:p>
        </p:txBody>
      </p:sp>
      <p:sp>
        <p:nvSpPr>
          <p:cNvPr id="7" name="Right Arrow 6"/>
          <p:cNvSpPr/>
          <p:nvPr/>
        </p:nvSpPr>
        <p:spPr>
          <a:xfrm>
            <a:off x="3785616" y="2606040"/>
            <a:ext cx="128016"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931920" y="1645920"/>
            <a:ext cx="1645920" cy="214884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64592"/>
          <a:lstStyle/>
          <a:p>
            <a:pPr algn="ctr">
              <a:spcAft>
                <a:spcPts val="600"/>
              </a:spcAft>
              <a:defRPr sz="1050" b="1">
                <a:solidFill>
                  <a:srgbClr val="1A1D20"/>
                </a:solidFill>
                <a:latin typeface="Segoe UI"/>
              </a:defRPr>
            </a:pPr>
            <a:r>
              <a:t>02 SUPERVISOR REVIEW</a:t>
            </a:r>
          </a:p>
          <a:p>
            <a:pPr>
              <a:lnSpc>
                <a:spcPct val="118000"/>
              </a:lnSpc>
              <a:defRPr sz="1100">
                <a:solidFill>
                  <a:srgbClr val="5F646E"/>
                </a:solidFill>
                <a:latin typeface="Segoe UI"/>
              </a:defRPr>
            </a:pPr>
            <a:r>
              <a:t>A supervisor marks it up with red pens, demanding changes days later.</a:t>
            </a:r>
          </a:p>
        </p:txBody>
      </p:sp>
      <p:sp>
        <p:nvSpPr>
          <p:cNvPr id="9" name="Right Arrow 8"/>
          <p:cNvSpPr/>
          <p:nvPr/>
        </p:nvSpPr>
        <p:spPr>
          <a:xfrm>
            <a:off x="5614416" y="2606040"/>
            <a:ext cx="128016"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760720" y="1645920"/>
            <a:ext cx="1188720" cy="2148840"/>
          </a:xfrm>
          <a:prstGeom prst="roundRect">
            <a:avLst/>
          </a:prstGeom>
          <a:solidFill>
            <a:srgbClr val="FEF2F2"/>
          </a:solidFill>
          <a:ln w="1270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tIns="228600"/>
          <a:lstStyle/>
          <a:p>
            <a:pPr algn="ctr">
              <a:spcAft>
                <a:spcPts val="400"/>
              </a:spcAft>
              <a:defRPr sz="1000" b="1">
                <a:solidFill>
                  <a:srgbClr val="A8432B"/>
                </a:solidFill>
                <a:latin typeface="Segoe UI"/>
              </a:defRPr>
            </a:pPr>
            <a:r>
              <a:t>⏳ WAITING 2</a:t>
            </a:r>
          </a:p>
          <a:p>
            <a:pPr algn="ctr">
              <a:spcAft>
                <a:spcPts val="200"/>
              </a:spcAft>
              <a:defRPr sz="1100" b="1">
                <a:solidFill>
                  <a:srgbClr val="1A1D20"/>
                </a:solidFill>
                <a:latin typeface="Segoe UI"/>
              </a:defRPr>
            </a:pPr>
            <a:r>
              <a:t>Wait 4–6 Days</a:t>
            </a:r>
          </a:p>
          <a:p>
            <a:pPr algn="ctr">
              <a:defRPr sz="1000">
                <a:solidFill>
                  <a:srgbClr val="5F646E"/>
                </a:solidFill>
                <a:latin typeface="Segoe UI"/>
              </a:defRPr>
            </a:pPr>
            <a:r>
              <a:t>Waiting for approval</a:t>
            </a:r>
          </a:p>
        </p:txBody>
      </p:sp>
      <p:sp>
        <p:nvSpPr>
          <p:cNvPr id="11" name="Right Arrow 10"/>
          <p:cNvSpPr/>
          <p:nvPr/>
        </p:nvSpPr>
        <p:spPr>
          <a:xfrm>
            <a:off x="6986016" y="2606040"/>
            <a:ext cx="128016"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132320" y="1645920"/>
            <a:ext cx="1645920" cy="214884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64592"/>
          <a:lstStyle/>
          <a:p>
            <a:pPr algn="ctr">
              <a:spcAft>
                <a:spcPts val="600"/>
              </a:spcAft>
              <a:defRPr sz="1050" b="1">
                <a:solidFill>
                  <a:srgbClr val="1A1D20"/>
                </a:solidFill>
                <a:latin typeface="Segoe UI"/>
              </a:defRPr>
            </a:pPr>
            <a:r>
              <a:t>03 PASSING TO OTHERS</a:t>
            </a:r>
          </a:p>
          <a:p>
            <a:pPr>
              <a:lnSpc>
                <a:spcPct val="118000"/>
              </a:lnSpc>
              <a:defRPr sz="1100">
                <a:solidFill>
                  <a:srgbClr val="5F646E"/>
                </a:solidFill>
                <a:latin typeface="Segoe UI"/>
              </a:defRPr>
            </a:pPr>
            <a:r>
              <a:t>The draft gets sent to someone else who doesn't understand the original idea.</a:t>
            </a:r>
          </a:p>
        </p:txBody>
      </p:sp>
      <p:sp>
        <p:nvSpPr>
          <p:cNvPr id="13" name="Right Arrow 12"/>
          <p:cNvSpPr/>
          <p:nvPr/>
        </p:nvSpPr>
        <p:spPr>
          <a:xfrm>
            <a:off x="8814816" y="2606040"/>
            <a:ext cx="128016"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961120" y="1645920"/>
            <a:ext cx="1188720" cy="2148840"/>
          </a:xfrm>
          <a:prstGeom prst="roundRect">
            <a:avLst/>
          </a:prstGeom>
          <a:solidFill>
            <a:srgbClr val="FEF2F2"/>
          </a:solidFill>
          <a:ln w="1270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tIns="228600"/>
          <a:lstStyle/>
          <a:p>
            <a:pPr algn="ctr">
              <a:spcAft>
                <a:spcPts val="400"/>
              </a:spcAft>
              <a:defRPr sz="1000" b="1">
                <a:solidFill>
                  <a:srgbClr val="A8432B"/>
                </a:solidFill>
                <a:latin typeface="Segoe UI"/>
              </a:defRPr>
            </a:pPr>
            <a:r>
              <a:t>⏳ WAITING 3</a:t>
            </a:r>
          </a:p>
          <a:p>
            <a:pPr algn="ctr">
              <a:spcAft>
                <a:spcPts val="200"/>
              </a:spcAft>
              <a:defRPr sz="1100" b="1">
                <a:solidFill>
                  <a:srgbClr val="1A1D20"/>
                </a:solidFill>
                <a:latin typeface="Segoe UI"/>
              </a:defRPr>
            </a:pPr>
            <a:r>
              <a:t>Wait 3–5 Days</a:t>
            </a:r>
          </a:p>
          <a:p>
            <a:pPr algn="ctr">
              <a:defRPr sz="1000">
                <a:solidFill>
                  <a:srgbClr val="5F646E"/>
                </a:solidFill>
                <a:latin typeface="Segoe UI"/>
              </a:defRPr>
            </a:pPr>
            <a:r>
              <a:t>Endless back-and-forth</a:t>
            </a:r>
          </a:p>
        </p:txBody>
      </p:sp>
      <p:sp>
        <p:nvSpPr>
          <p:cNvPr id="15" name="Right Arrow 14"/>
          <p:cNvSpPr/>
          <p:nvPr/>
        </p:nvSpPr>
        <p:spPr>
          <a:xfrm>
            <a:off x="10186416" y="2606040"/>
            <a:ext cx="128016"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0332720" y="1645920"/>
            <a:ext cx="1645920" cy="214884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28016" rIns="128016" tIns="164592"/>
          <a:lstStyle/>
          <a:p>
            <a:pPr algn="ctr">
              <a:spcAft>
                <a:spcPts val="600"/>
              </a:spcAft>
              <a:defRPr sz="1050" b="1">
                <a:solidFill>
                  <a:srgbClr val="1A1D20"/>
                </a:solidFill>
                <a:latin typeface="Segoe UI"/>
              </a:defRPr>
            </a:pPr>
            <a:r>
              <a:t>04 STARTING OVER</a:t>
            </a:r>
          </a:p>
          <a:p>
            <a:pPr>
              <a:lnSpc>
                <a:spcPct val="118000"/>
              </a:lnSpc>
              <a:defRPr sz="1100">
                <a:solidFill>
                  <a:srgbClr val="5F646E"/>
                </a:solidFill>
                <a:latin typeface="Segoe UI"/>
              </a:defRPr>
            </a:pPr>
            <a:r>
              <a:t>A mistake is caught at the end and the whole file is sent back to step one!</a:t>
            </a:r>
          </a:p>
        </p:txBody>
      </p:sp>
      <p:sp>
        <p:nvSpPr>
          <p:cNvPr id="17" name="Rounded Rectangle 16"/>
          <p:cNvSpPr/>
          <p:nvPr/>
        </p:nvSpPr>
        <p:spPr>
          <a:xfrm>
            <a:off x="731520" y="3977639"/>
            <a:ext cx="3364992" cy="155448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spcAft>
                <a:spcPts val="400"/>
              </a:spcAft>
              <a:defRPr sz="1250" b="1">
                <a:solidFill>
                  <a:srgbClr val="A8432B"/>
                </a:solidFill>
                <a:latin typeface="Segoe UI"/>
              </a:defRPr>
            </a:pPr>
            <a:r>
              <a:t>⏱️ WEEKS OF WAITING</a:t>
            </a:r>
          </a:p>
          <a:p>
            <a:pPr algn="ctr">
              <a:lnSpc>
                <a:spcPct val="118000"/>
              </a:lnSpc>
              <a:defRPr sz="1100">
                <a:solidFill>
                  <a:srgbClr val="5F646E"/>
                </a:solidFill>
                <a:latin typeface="Segoe UI"/>
              </a:defRPr>
            </a:pPr>
            <a:r>
              <a:t>A simple 5-minute exercise takes a month to complete because of constant handoffs and waiting for approvals.</a:t>
            </a:r>
          </a:p>
        </p:txBody>
      </p:sp>
      <p:sp>
        <p:nvSpPr>
          <p:cNvPr id="18" name="Rounded Rectangle 17"/>
          <p:cNvSpPr/>
          <p:nvPr/>
        </p:nvSpPr>
        <p:spPr>
          <a:xfrm>
            <a:off x="4407408" y="3977639"/>
            <a:ext cx="3364992" cy="155448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spcAft>
                <a:spcPts val="400"/>
              </a:spcAft>
              <a:defRPr sz="1250" b="1">
                <a:solidFill>
                  <a:srgbClr val="A8432B"/>
                </a:solidFill>
                <a:latin typeface="Segoe UI"/>
              </a:defRPr>
            </a:pPr>
            <a:r>
              <a:t>📉 LOST MOMENTUM</a:t>
            </a:r>
          </a:p>
          <a:p>
            <a:pPr algn="ctr">
              <a:lnSpc>
                <a:spcPct val="118000"/>
              </a:lnSpc>
              <a:defRPr sz="1100">
                <a:solidFill>
                  <a:srgbClr val="5F646E"/>
                </a:solidFill>
                <a:latin typeface="Segoe UI"/>
              </a:defRPr>
            </a:pPr>
            <a:r>
              <a:t>By the time feedback finally comes back weeks later, you have forgotten why you were excited about the idea.</a:t>
            </a:r>
          </a:p>
        </p:txBody>
      </p:sp>
      <p:sp>
        <p:nvSpPr>
          <p:cNvPr id="19" name="Rounded Rectangle 18"/>
          <p:cNvSpPr/>
          <p:nvPr/>
        </p:nvSpPr>
        <p:spPr>
          <a:xfrm>
            <a:off x="8083296" y="3977639"/>
            <a:ext cx="3364992" cy="1554480"/>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46304"/>
          <a:lstStyle/>
          <a:p>
            <a:pPr algn="ctr">
              <a:spcAft>
                <a:spcPts val="400"/>
              </a:spcAft>
              <a:defRPr sz="1250" b="1">
                <a:solidFill>
                  <a:srgbClr val="1E3A5F"/>
                </a:solidFill>
                <a:latin typeface="Segoe UI"/>
              </a:defRPr>
            </a:pPr>
            <a:r>
              <a:t>👮 FEELING MICROMANAGED</a:t>
            </a:r>
          </a:p>
          <a:p>
            <a:pPr algn="ctr">
              <a:lnSpc>
                <a:spcPct val="118000"/>
              </a:lnSpc>
              <a:defRPr sz="1100">
                <a:solidFill>
                  <a:srgbClr val="5F646E"/>
                </a:solidFill>
                <a:latin typeface="Segoe UI"/>
              </a:defRPr>
            </a:pPr>
            <a:r>
              <a:t>Teachers feel like factory workers waiting for permission instead of trusted, creative educators.</a:t>
            </a:r>
          </a:p>
        </p:txBody>
      </p:sp>
      <p:sp>
        <p:nvSpPr>
          <p:cNvPr id="20" name="Rounded Rectangle 19"/>
          <p:cNvSpPr/>
          <p:nvPr/>
        </p:nvSpPr>
        <p:spPr>
          <a:xfrm>
            <a:off x="731520" y="5715000"/>
            <a:ext cx="10728655" cy="658368"/>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ctr">
              <a:spcAft>
                <a:spcPts val="200"/>
              </a:spcAft>
              <a:defRPr sz="1100">
                <a:solidFill>
                  <a:srgbClr val="A8432B"/>
                </a:solidFill>
                <a:latin typeface="Segoe UI Semibold"/>
              </a:defRPr>
            </a:pPr>
            <a:r>
              <a:t>💡 THE SECRET OF HIERARCHY: Every handoff creates a waiting line. Every waiting line kills momentum.</a:t>
            </a:r>
          </a:p>
          <a:p>
            <a:pPr algn="ctr">
              <a:defRPr sz="1050">
                <a:solidFill>
                  <a:srgbClr val="5F646E"/>
                </a:solidFill>
                <a:latin typeface="Segoe UI"/>
              </a:defRPr>
            </a:pPr>
            <a:r>
              <a:t>When work moves in linear sequences, teams need managers just to chase replies. Working live together eliminates this waste.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TEAMWORK IN PRACTICE • SMALL WORKING HUBS</a:t>
            </a:r>
          </a:p>
          <a:p>
            <a:pPr>
              <a:spcAft>
                <a:spcPts val="300"/>
              </a:spcAft>
              <a:defRPr sz="2500" b="1">
                <a:solidFill>
                  <a:srgbClr val="1A1D20"/>
                </a:solidFill>
                <a:latin typeface="Georgia"/>
              </a:defRPr>
            </a:pPr>
            <a:r>
              <a:t>The Small Group Hub: Creating Together in Real Time</a:t>
            </a:r>
          </a:p>
          <a:p>
            <a:pPr>
              <a:defRPr sz="1300">
                <a:solidFill>
                  <a:srgbClr val="5F646E"/>
                </a:solidFill>
                <a:latin typeface="Segoe UI"/>
              </a:defRPr>
            </a:pPr>
            <a:r>
              <a:t>How 3 to 4 teammates turn weeks of back-and-forth into an energizing 2-hour working session:</a:t>
            </a:r>
          </a:p>
        </p:txBody>
      </p:sp>
      <p:sp>
        <p:nvSpPr>
          <p:cNvPr id="4" name="Rounded Rectangle 3"/>
          <p:cNvSpPr/>
          <p:nvPr/>
        </p:nvSpPr>
        <p:spPr>
          <a:xfrm>
            <a:off x="731520" y="1600200"/>
            <a:ext cx="2834640" cy="1874519"/>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300"/>
              </a:spcAft>
              <a:defRPr sz="950" b="1">
                <a:solidFill>
                  <a:srgbClr val="1E3A5F"/>
                </a:solidFill>
                <a:latin typeface="Segoe UI"/>
              </a:defRPr>
            </a:pPr>
            <a:r>
              <a:t>HAT #1: THE LESSON GUIDE</a:t>
            </a:r>
          </a:p>
          <a:p>
            <a:pPr algn="ctr">
              <a:spcAft>
                <a:spcPts val="300"/>
              </a:spcAft>
              <a:defRPr sz="1400" b="1">
                <a:solidFill>
                  <a:srgbClr val="1A1D20"/>
                </a:solidFill>
                <a:latin typeface="Georgia"/>
              </a:defRPr>
            </a:pPr>
            <a:r>
              <a:t>Clear Flow &amp; Concept</a:t>
            </a:r>
          </a:p>
          <a:p>
            <a:pPr algn="ctr">
              <a:lnSpc>
                <a:spcPct val="115000"/>
              </a:lnSpc>
              <a:defRPr sz="1050">
                <a:solidFill>
                  <a:srgbClr val="5F646E"/>
                </a:solidFill>
                <a:latin typeface="Segoe UI"/>
              </a:defRPr>
            </a:pPr>
            <a:r>
              <a:t>Focuses on the clear explanation, step-by-step logic, and making sure the main concept is easy to grasp.</a:t>
            </a:r>
          </a:p>
        </p:txBody>
      </p:sp>
      <p:sp>
        <p:nvSpPr>
          <p:cNvPr id="5" name="Rounded Rectangle 4"/>
          <p:cNvSpPr/>
          <p:nvPr/>
        </p:nvSpPr>
        <p:spPr>
          <a:xfrm>
            <a:off x="731520" y="3703320"/>
            <a:ext cx="2834640" cy="1874519"/>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300"/>
              </a:spcAft>
              <a:defRPr sz="950" b="1">
                <a:solidFill>
                  <a:srgbClr val="A8432B"/>
                </a:solidFill>
                <a:latin typeface="Segoe UI"/>
              </a:defRPr>
            </a:pPr>
            <a:r>
              <a:t>HAT #2: THE ACTIVITY CRAFTER</a:t>
            </a:r>
          </a:p>
          <a:p>
            <a:pPr algn="ctr">
              <a:spcAft>
                <a:spcPts val="300"/>
              </a:spcAft>
              <a:defRPr sz="1400" b="1">
                <a:solidFill>
                  <a:srgbClr val="1A1D20"/>
                </a:solidFill>
                <a:latin typeface="Georgia"/>
              </a:defRPr>
            </a:pPr>
            <a:r>
              <a:t>Interactive Practice</a:t>
            </a:r>
          </a:p>
          <a:p>
            <a:pPr algn="ctr">
              <a:lnSpc>
                <a:spcPct val="115000"/>
              </a:lnSpc>
              <a:defRPr sz="1050">
                <a:solidFill>
                  <a:srgbClr val="5F646E"/>
                </a:solidFill>
                <a:latin typeface="Segoe UI"/>
              </a:defRPr>
            </a:pPr>
            <a:r>
              <a:t>Designs engaging drills, conversational games, and exercises that get students actively talking.</a:t>
            </a:r>
          </a:p>
        </p:txBody>
      </p:sp>
      <p:sp>
        <p:nvSpPr>
          <p:cNvPr id="6" name="Rounded Rectangle 5"/>
          <p:cNvSpPr/>
          <p:nvPr/>
        </p:nvSpPr>
        <p:spPr>
          <a:xfrm>
            <a:off x="8625535" y="1600200"/>
            <a:ext cx="2834640" cy="1874519"/>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300"/>
              </a:spcAft>
              <a:defRPr sz="950" b="1">
                <a:solidFill>
                  <a:srgbClr val="B45309"/>
                </a:solidFill>
                <a:latin typeface="Segoe UI"/>
              </a:defRPr>
            </a:pPr>
            <a:r>
              <a:t>HAT #3: THE LISTENING EAR</a:t>
            </a:r>
          </a:p>
          <a:p>
            <a:pPr algn="ctr">
              <a:spcAft>
                <a:spcPts val="300"/>
              </a:spcAft>
              <a:defRPr sz="1400" b="1">
                <a:solidFill>
                  <a:srgbClr val="1A1D20"/>
                </a:solidFill>
                <a:latin typeface="Georgia"/>
              </a:defRPr>
            </a:pPr>
            <a:r>
              <a:t>Natural Sound &amp; Clarity</a:t>
            </a:r>
          </a:p>
          <a:p>
            <a:pPr algn="ctr">
              <a:lnSpc>
                <a:spcPct val="115000"/>
              </a:lnSpc>
              <a:defRPr sz="1050">
                <a:solidFill>
                  <a:srgbClr val="5F646E"/>
                </a:solidFill>
                <a:latin typeface="Segoe UI"/>
              </a:defRPr>
            </a:pPr>
            <a:r>
              <a:t>Listens carefully to ensure every audio prompt, sentence cadence, and example sounds natural and warm.</a:t>
            </a:r>
          </a:p>
        </p:txBody>
      </p:sp>
      <p:sp>
        <p:nvSpPr>
          <p:cNvPr id="7" name="Rounded Rectangle 6"/>
          <p:cNvSpPr/>
          <p:nvPr/>
        </p:nvSpPr>
        <p:spPr>
          <a:xfrm>
            <a:off x="8625535" y="3703320"/>
            <a:ext cx="2834640" cy="1874519"/>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a:lstStyle/>
          <a:p>
            <a:pPr algn="ctr">
              <a:spcAft>
                <a:spcPts val="300"/>
              </a:spcAft>
              <a:defRPr sz="950" b="1">
                <a:solidFill>
                  <a:srgbClr val="166534"/>
                </a:solidFill>
                <a:latin typeface="Segoe UI"/>
              </a:defRPr>
            </a:pPr>
            <a:r>
              <a:t>HAT #4: THE STUDENT CHAMPION</a:t>
            </a:r>
          </a:p>
          <a:p>
            <a:pPr algn="ctr">
              <a:spcAft>
                <a:spcPts val="300"/>
              </a:spcAft>
              <a:defRPr sz="1400" b="1">
                <a:solidFill>
                  <a:srgbClr val="1A1D20"/>
                </a:solidFill>
                <a:latin typeface="Georgia"/>
              </a:defRPr>
            </a:pPr>
            <a:r>
              <a:t>The Learner's Perspective</a:t>
            </a:r>
          </a:p>
          <a:p>
            <a:pPr algn="ctr">
              <a:lnSpc>
                <a:spcPct val="115000"/>
              </a:lnSpc>
              <a:defRPr sz="1050">
                <a:solidFill>
                  <a:srgbClr val="5F646E"/>
                </a:solidFill>
                <a:latin typeface="Segoe UI"/>
              </a:defRPr>
            </a:pPr>
            <a:r>
              <a:t>Asks the key questions: 'Would a beginner get this?' 'Does this feel fun or confusing?'</a:t>
            </a:r>
          </a:p>
        </p:txBody>
      </p:sp>
      <p:sp>
        <p:nvSpPr>
          <p:cNvPr id="8" name="Right Arrow 7"/>
          <p:cNvSpPr/>
          <p:nvPr/>
        </p:nvSpPr>
        <p:spPr>
          <a:xfrm>
            <a:off x="3611880" y="2423160"/>
            <a:ext cx="182880" cy="228600"/>
          </a:xfrm>
          <a:prstGeom prst="rightArrow">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3611880" y="4526280"/>
            <a:ext cx="182880" cy="228600"/>
          </a:xfrm>
          <a:prstGeom prst="rightArrow">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eft Arrow 9"/>
          <p:cNvSpPr/>
          <p:nvPr/>
        </p:nvSpPr>
        <p:spPr>
          <a:xfrm>
            <a:off x="8394192" y="2423160"/>
            <a:ext cx="182880" cy="228600"/>
          </a:xfrm>
          <a:prstGeom prst="leftArrow">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eft Arrow 10"/>
          <p:cNvSpPr/>
          <p:nvPr/>
        </p:nvSpPr>
        <p:spPr>
          <a:xfrm>
            <a:off x="8394192" y="4526280"/>
            <a:ext cx="182880" cy="228600"/>
          </a:xfrm>
          <a:prstGeom prst="leftArrow">
            <a:avLst/>
          </a:prstGeom>
          <a:solidFill>
            <a:srgbClr val="16653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840480" y="1783080"/>
            <a:ext cx="4510735" cy="3566160"/>
          </a:xfrm>
          <a:prstGeom prst="roundRect">
            <a:avLst/>
          </a:prstGeom>
          <a:solidFill>
            <a:srgbClr val="ECFDF5"/>
          </a:solidFill>
          <a:ln w="254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82880"/>
          <a:lstStyle/>
          <a:p>
            <a:pPr algn="ctr">
              <a:spcAft>
                <a:spcPts val="400"/>
              </a:spcAft>
              <a:defRPr sz="1050" b="1">
                <a:solidFill>
                  <a:srgbClr val="166534"/>
                </a:solidFill>
                <a:latin typeface="Segoe UI"/>
              </a:defRPr>
            </a:pPr>
            <a:r>
              <a:t>REAL-TIME COLLABORATION BENCH</a:t>
            </a:r>
          </a:p>
          <a:p>
            <a:pPr algn="ctr">
              <a:spcAft>
                <a:spcPts val="400"/>
              </a:spcAft>
              <a:defRPr sz="2400" b="1">
                <a:solidFill>
                  <a:srgbClr val="1A1D20"/>
                </a:solidFill>
                <a:latin typeface="Georgia"/>
              </a:defRPr>
            </a:pPr>
            <a:r>
              <a:t>The Small Group Hub</a:t>
            </a:r>
          </a:p>
          <a:p>
            <a:pPr algn="ctr">
              <a:spcAft>
                <a:spcPts val="1000"/>
              </a:spcAft>
              <a:defRPr sz="1150">
                <a:solidFill>
                  <a:srgbClr val="1E3A5F"/>
                </a:solidFill>
                <a:latin typeface="Segoe UI Semibold"/>
              </a:defRPr>
            </a:pPr>
            <a:r>
              <a:t>1 Screen  •  Shared Ideas  •  Instant Tweaks  •  Zero Waiting</a:t>
            </a:r>
          </a:p>
          <a:p>
            <a:pPr algn="ctr">
              <a:lnSpc>
                <a:spcPct val="122000"/>
              </a:lnSpc>
              <a:spcAft>
                <a:spcPts val="1000"/>
              </a:spcAft>
              <a:defRPr i="1" sz="1200">
                <a:solidFill>
                  <a:srgbClr val="1A1D20"/>
                </a:solidFill>
                <a:latin typeface="Georgia"/>
              </a:defRPr>
            </a:pPr>
            <a:r>
              <a:t>“Instead of sending documents back and forth over email, we pull up one document and work together. We bounce ideas around, test sounds immediately, and finish in an afternoon.”</a:t>
            </a:r>
          </a:p>
          <a:p>
            <a:pPr algn="ctr">
              <a:defRPr sz="1250" b="1">
                <a:solidFill>
                  <a:srgbClr val="A8432B"/>
                </a:solidFill>
                <a:latin typeface="Segoe UI"/>
              </a:defRPr>
            </a:pPr>
            <a:r>
              <a:t>⚡ FINISHED IN 2 TO 3 HOURS WITH ZERO EMAILS</a:t>
            </a:r>
          </a:p>
        </p:txBody>
      </p:sp>
      <p:sp>
        <p:nvSpPr>
          <p:cNvPr id="13" name="Rounded Rectangle 12"/>
          <p:cNvSpPr/>
          <p:nvPr/>
        </p:nvSpPr>
        <p:spPr>
          <a:xfrm>
            <a:off x="731520" y="5715000"/>
            <a:ext cx="10728655" cy="658368"/>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ctr">
              <a:spcAft>
                <a:spcPts val="200"/>
              </a:spcAft>
              <a:defRPr sz="1100">
                <a:solidFill>
                  <a:srgbClr val="166534"/>
                </a:solidFill>
                <a:latin typeface="Segoe UI Semibold"/>
              </a:defRPr>
            </a:pPr>
            <a:r>
              <a:t>🎯 THE POWER OF SMALL HUBS: Instant feedback replaces weeks of waiting.</a:t>
            </a:r>
          </a:p>
          <a:p>
            <a:pPr algn="ctr">
              <a:defRPr sz="1050">
                <a:solidFill>
                  <a:srgbClr val="5F646E"/>
                </a:solidFill>
                <a:latin typeface="Segoe UI"/>
              </a:defRPr>
            </a:pPr>
            <a:r>
              <a:t>When teammates co-create together in real time, confusion is caught and resolved in seconds, and everyone shares pride in the finished result.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TEAMWORK IN ACTION • A REAL MORNING STORY</a:t>
            </a:r>
          </a:p>
          <a:p>
            <a:pPr>
              <a:spcAft>
                <a:spcPts val="300"/>
              </a:spcAft>
              <a:defRPr sz="2500" b="1">
                <a:solidFill>
                  <a:srgbClr val="1A1D20"/>
                </a:solidFill>
                <a:latin typeface="Georgia"/>
              </a:defRPr>
            </a:pPr>
            <a:r>
              <a:t>A Real Morning Story: Fixing a Tricky Lesson Together</a:t>
            </a:r>
          </a:p>
          <a:p>
            <a:pPr>
              <a:defRPr sz="1300">
                <a:solidFill>
                  <a:srgbClr val="5F646E"/>
                </a:solidFill>
                <a:latin typeface="Segoe UI"/>
              </a:defRPr>
            </a:pPr>
            <a:r>
              <a:t>How 4 colleagues turned a common student hurdle into an engaging practice before lunch:</a:t>
            </a:r>
          </a:p>
        </p:txBody>
      </p:sp>
      <p:sp>
        <p:nvSpPr>
          <p:cNvPr id="4" name="Rounded Rectangle 3"/>
          <p:cNvSpPr/>
          <p:nvPr/>
        </p:nvSpPr>
        <p:spPr>
          <a:xfrm>
            <a:off x="731520" y="1600200"/>
            <a:ext cx="2468880" cy="3977639"/>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41248" y="1728216"/>
            <a:ext cx="2249424" cy="310896"/>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09:00 AM • Maria • Noticing the Need</a:t>
            </a:r>
          </a:p>
        </p:txBody>
      </p:sp>
      <p:sp>
        <p:nvSpPr>
          <p:cNvPr id="6" name="TextBox 5"/>
          <p:cNvSpPr txBox="1"/>
          <p:nvPr/>
        </p:nvSpPr>
        <p:spPr>
          <a:xfrm>
            <a:off x="859536" y="2112264"/>
            <a:ext cx="2212848" cy="3355847"/>
          </a:xfrm>
          <a:prstGeom prst="rect">
            <a:avLst/>
          </a:prstGeom>
          <a:noFill/>
        </p:spPr>
        <p:txBody>
          <a:bodyPr wrap="square" lIns="0" rIns="0" tIns="0" bIns="0">
            <a:spAutoFit/>
          </a:bodyPr>
          <a:lstStyle/>
          <a:p>
            <a:pPr>
              <a:spcAft>
                <a:spcPts val="600"/>
              </a:spcAft>
              <a:defRPr sz="1700" b="1">
                <a:solidFill>
                  <a:srgbClr val="1A1D20"/>
                </a:solidFill>
                <a:latin typeface="Georgia"/>
              </a:defRPr>
            </a:pPr>
            <a:r>
              <a:t>Noticing the Struggle</a:t>
            </a:r>
          </a:p>
          <a:p>
            <a:pPr>
              <a:lnSpc>
                <a:spcPct val="120000"/>
              </a:lnSpc>
              <a:spcAft>
                <a:spcPts val="800"/>
              </a:spcAft>
              <a:defRPr i="1" sz="1100">
                <a:solidFill>
                  <a:srgbClr val="1A1D20"/>
                </a:solidFill>
                <a:latin typeface="Georgia"/>
              </a:defRPr>
            </a:pPr>
            <a:r>
              <a:t>“Our beginners keep confusing words like 'seat' and 'sit'—the old explanation of 'long vs short sound' isn't clicking at all. Can we rethink this together?”</a:t>
            </a:r>
          </a:p>
          <a:p>
            <a:pPr>
              <a:spcAft>
                <a:spcPts val="200"/>
              </a:spcAft>
              <a:defRPr sz="1050" b="1">
                <a:solidFill>
                  <a:srgbClr val="1E3A5F"/>
                </a:solidFill>
                <a:latin typeface="Segoe UI"/>
              </a:defRPr>
            </a:pPr>
            <a:r>
              <a:t>🎯 SPRINT OUTCOME:</a:t>
            </a:r>
          </a:p>
          <a:p>
            <a:pPr>
              <a:lnSpc>
                <a:spcPct val="115000"/>
              </a:lnSpc>
              <a:defRPr sz="1100">
                <a:solidFill>
                  <a:srgbClr val="1A1D20"/>
                </a:solidFill>
                <a:latin typeface="Segoe UI"/>
              </a:defRPr>
            </a:pPr>
            <a:r>
              <a:t>The team rallies around the problem immediately without waiting for a formal meeting.</a:t>
            </a:r>
          </a:p>
        </p:txBody>
      </p:sp>
      <p:sp>
        <p:nvSpPr>
          <p:cNvPr id="7" name="Right Arrow 6"/>
          <p:cNvSpPr/>
          <p:nvPr/>
        </p:nvSpPr>
        <p:spPr>
          <a:xfrm>
            <a:off x="3273552" y="3429000"/>
            <a:ext cx="137160"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483864" y="1600200"/>
            <a:ext cx="2468880" cy="3977639"/>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3593592" y="1728216"/>
            <a:ext cx="2249424" cy="310896"/>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A8432B"/>
                </a:solidFill>
                <a:latin typeface="Segoe UI"/>
              </a:defRPr>
            </a:pPr>
            <a:r>
              <a:t>09:30 AM • David • Designing Practice</a:t>
            </a:r>
          </a:p>
        </p:txBody>
      </p:sp>
      <p:sp>
        <p:nvSpPr>
          <p:cNvPr id="10" name="TextBox 9"/>
          <p:cNvSpPr txBox="1"/>
          <p:nvPr/>
        </p:nvSpPr>
        <p:spPr>
          <a:xfrm>
            <a:off x="3611880" y="2112264"/>
            <a:ext cx="2212848" cy="3355847"/>
          </a:xfrm>
          <a:prstGeom prst="rect">
            <a:avLst/>
          </a:prstGeom>
          <a:noFill/>
        </p:spPr>
        <p:txBody>
          <a:bodyPr wrap="square" lIns="0" rIns="0" tIns="0" bIns="0">
            <a:spAutoFit/>
          </a:bodyPr>
          <a:lstStyle/>
          <a:p>
            <a:pPr>
              <a:spcAft>
                <a:spcPts val="600"/>
              </a:spcAft>
              <a:defRPr sz="1700" b="1">
                <a:solidFill>
                  <a:srgbClr val="1A1D20"/>
                </a:solidFill>
                <a:latin typeface="Georgia"/>
              </a:defRPr>
            </a:pPr>
            <a:r>
              <a:t>Creating a Fun Trick</a:t>
            </a:r>
          </a:p>
          <a:p>
            <a:pPr>
              <a:lnSpc>
                <a:spcPct val="120000"/>
              </a:lnSpc>
              <a:spcAft>
                <a:spcPts val="800"/>
              </a:spcAft>
              <a:defRPr i="1" sz="1100">
                <a:solidFill>
                  <a:srgbClr val="1A1D20"/>
                </a:solidFill>
                <a:latin typeface="Georgia"/>
              </a:defRPr>
            </a:pPr>
            <a:r>
              <a:t>“What if we teach it using mouth smiles? For 'seat', smile wide! For 'sit', drop your jaw and relax. Let's make it an interactive mirror game.”</a:t>
            </a:r>
          </a:p>
          <a:p>
            <a:pPr>
              <a:spcAft>
                <a:spcPts val="200"/>
              </a:spcAft>
              <a:defRPr sz="1050" b="1">
                <a:solidFill>
                  <a:srgbClr val="A8432B"/>
                </a:solidFill>
                <a:latin typeface="Segoe UI"/>
              </a:defRPr>
            </a:pPr>
            <a:r>
              <a:t>🎯 SPRINT OUTCOME:</a:t>
            </a:r>
          </a:p>
          <a:p>
            <a:pPr>
              <a:lnSpc>
                <a:spcPct val="115000"/>
              </a:lnSpc>
              <a:defRPr sz="1100">
                <a:solidFill>
                  <a:srgbClr val="1A1D20"/>
                </a:solidFill>
                <a:latin typeface="Segoe UI"/>
              </a:defRPr>
            </a:pPr>
            <a:r>
              <a:t>David drafts the interactive game right on the shared screen while the team watches.</a:t>
            </a:r>
          </a:p>
        </p:txBody>
      </p:sp>
      <p:sp>
        <p:nvSpPr>
          <p:cNvPr id="11" name="Right Arrow 10"/>
          <p:cNvSpPr/>
          <p:nvPr/>
        </p:nvSpPr>
        <p:spPr>
          <a:xfrm>
            <a:off x="6025896" y="3429000"/>
            <a:ext cx="137160"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36208" y="1600200"/>
            <a:ext cx="2468880" cy="3977639"/>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45936" y="1728216"/>
            <a:ext cx="2249424" cy="310896"/>
          </a:xfrm>
          <a:prstGeom prst="roundRect">
            <a:avLst/>
          </a:prstGeom>
          <a:solidFill>
            <a:srgbClr val="FEF3C7"/>
          </a:solidFill>
          <a:ln w="952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B45309"/>
                </a:solidFill>
                <a:latin typeface="Segoe UI"/>
              </a:defRPr>
            </a:pPr>
            <a:r>
              <a:t>10:15 AM • Sarah • Checking Audio</a:t>
            </a:r>
          </a:p>
        </p:txBody>
      </p:sp>
      <p:sp>
        <p:nvSpPr>
          <p:cNvPr id="14" name="TextBox 13"/>
          <p:cNvSpPr txBox="1"/>
          <p:nvPr/>
        </p:nvSpPr>
        <p:spPr>
          <a:xfrm>
            <a:off x="6364224" y="2112264"/>
            <a:ext cx="2212848" cy="3355847"/>
          </a:xfrm>
          <a:prstGeom prst="rect">
            <a:avLst/>
          </a:prstGeom>
          <a:noFill/>
        </p:spPr>
        <p:txBody>
          <a:bodyPr wrap="square" lIns="0" rIns="0" tIns="0" bIns="0">
            <a:spAutoFit/>
          </a:bodyPr>
          <a:lstStyle/>
          <a:p>
            <a:pPr>
              <a:spcAft>
                <a:spcPts val="600"/>
              </a:spcAft>
              <a:defRPr sz="1700" b="1">
                <a:solidFill>
                  <a:srgbClr val="1A1D20"/>
                </a:solidFill>
                <a:latin typeface="Georgia"/>
              </a:defRPr>
            </a:pPr>
            <a:r>
              <a:t>Testing the Examples</a:t>
            </a:r>
          </a:p>
          <a:p>
            <a:pPr>
              <a:lnSpc>
                <a:spcPct val="120000"/>
              </a:lnSpc>
              <a:spcAft>
                <a:spcPts val="800"/>
              </a:spcAft>
              <a:defRPr i="1" sz="1100">
                <a:solidFill>
                  <a:srgbClr val="1A1D20"/>
                </a:solidFill>
                <a:latin typeface="Georgia"/>
              </a:defRPr>
            </a:pPr>
            <a:r>
              <a:t>“Sarah creates clear audio examples. She closes her eyes and asks David to quiz her. They can both hear the contrast loud and clear on the first try.”</a:t>
            </a:r>
          </a:p>
          <a:p>
            <a:pPr>
              <a:spcAft>
                <a:spcPts val="200"/>
              </a:spcAft>
              <a:defRPr sz="1050" b="1">
                <a:solidFill>
                  <a:srgbClr val="B45309"/>
                </a:solidFill>
                <a:latin typeface="Segoe UI"/>
              </a:defRPr>
            </a:pPr>
            <a:r>
              <a:t>🎯 SPRINT OUTCOME:</a:t>
            </a:r>
          </a:p>
          <a:p>
            <a:pPr>
              <a:lnSpc>
                <a:spcPct val="115000"/>
              </a:lnSpc>
              <a:defRPr sz="1100">
                <a:solidFill>
                  <a:srgbClr val="1A1D20"/>
                </a:solidFill>
                <a:latin typeface="Segoe UI"/>
              </a:defRPr>
            </a:pPr>
            <a:r>
              <a:t>Audio examples sound crystal-clear, natural, and friendly.</a:t>
            </a:r>
          </a:p>
        </p:txBody>
      </p:sp>
      <p:sp>
        <p:nvSpPr>
          <p:cNvPr id="15" name="Right Arrow 14"/>
          <p:cNvSpPr/>
          <p:nvPr/>
        </p:nvSpPr>
        <p:spPr>
          <a:xfrm>
            <a:off x="8778240" y="3429000"/>
            <a:ext cx="137160" cy="22860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988552" y="1600200"/>
            <a:ext cx="2468880" cy="3977639"/>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9098280" y="1728216"/>
            <a:ext cx="2249424" cy="310896"/>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11:00 AM • Alex • Trying with a Learner</a:t>
            </a:r>
          </a:p>
        </p:txBody>
      </p:sp>
      <p:sp>
        <p:nvSpPr>
          <p:cNvPr id="18" name="TextBox 17"/>
          <p:cNvSpPr txBox="1"/>
          <p:nvPr/>
        </p:nvSpPr>
        <p:spPr>
          <a:xfrm>
            <a:off x="9116568" y="2112264"/>
            <a:ext cx="2212848" cy="3355847"/>
          </a:xfrm>
          <a:prstGeom prst="rect">
            <a:avLst/>
          </a:prstGeom>
          <a:noFill/>
        </p:spPr>
        <p:txBody>
          <a:bodyPr wrap="square" lIns="0" rIns="0" tIns="0" bIns="0">
            <a:spAutoFit/>
          </a:bodyPr>
          <a:lstStyle/>
          <a:p>
            <a:pPr>
              <a:spcAft>
                <a:spcPts val="600"/>
              </a:spcAft>
              <a:defRPr sz="1700" b="1">
                <a:solidFill>
                  <a:srgbClr val="1A1D20"/>
                </a:solidFill>
                <a:latin typeface="Georgia"/>
              </a:defRPr>
            </a:pPr>
            <a:r>
              <a:t>Testing with a Student</a:t>
            </a:r>
          </a:p>
          <a:p>
            <a:pPr>
              <a:lnSpc>
                <a:spcPct val="120000"/>
              </a:lnSpc>
              <a:spcAft>
                <a:spcPts val="800"/>
              </a:spcAft>
              <a:defRPr i="1" sz="1100">
                <a:solidFill>
                  <a:srgbClr val="1A1D20"/>
                </a:solidFill>
                <a:latin typeface="Georgia"/>
              </a:defRPr>
            </a:pPr>
            <a:r>
              <a:t>“Alex invites a beginner student to try the smile game for 5 minutes. The student laughs, gets it right away, and says 'Oh! Now I feel the difference!'”</a:t>
            </a:r>
          </a:p>
          <a:p>
            <a:pPr>
              <a:spcAft>
                <a:spcPts val="200"/>
              </a:spcAft>
              <a:defRPr sz="1050" b="1">
                <a:solidFill>
                  <a:srgbClr val="166534"/>
                </a:solidFill>
                <a:latin typeface="Segoe UI"/>
              </a:defRPr>
            </a:pPr>
            <a:r>
              <a:t>🎯 SPRINT OUTCOME:</a:t>
            </a:r>
          </a:p>
          <a:p>
            <a:pPr>
              <a:lnSpc>
                <a:spcPct val="115000"/>
              </a:lnSpc>
              <a:defRPr sz="1100">
                <a:solidFill>
                  <a:srgbClr val="1A1D20"/>
                </a:solidFill>
                <a:latin typeface="Segoe UI"/>
              </a:defRPr>
            </a:pPr>
            <a:r>
              <a:t>11:45 AM: The new lesson is finished, tested, and ready to use!</a:t>
            </a:r>
          </a:p>
        </p:txBody>
      </p:sp>
      <p:sp>
        <p:nvSpPr>
          <p:cNvPr id="19" name="Rounded Rectangle 18"/>
          <p:cNvSpPr/>
          <p:nvPr/>
        </p:nvSpPr>
        <p:spPr>
          <a:xfrm>
            <a:off x="731520" y="5715000"/>
            <a:ext cx="10728655" cy="658368"/>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ctr">
              <a:spcAft>
                <a:spcPts val="200"/>
              </a:spcAft>
              <a:defRPr sz="1100">
                <a:solidFill>
                  <a:srgbClr val="166534"/>
                </a:solidFill>
                <a:latin typeface="Segoe UI Semibold"/>
              </a:defRPr>
            </a:pPr>
            <a:r>
              <a:t>💡 THE LESSON: In traditional schools, this would have taken 3 months of committee memos.</a:t>
            </a:r>
          </a:p>
          <a:p>
            <a:pPr algn="ctr">
              <a:defRPr sz="1050">
                <a:solidFill>
                  <a:srgbClr val="5F646E"/>
                </a:solidFill>
                <a:latin typeface="Segoe UI"/>
              </a:defRPr>
            </a:pPr>
            <a:r>
              <a:t>Because the team jumped in together, they solved a real student frustration before lunch—and had fun doing it.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MAKING DECISIONS AS EQUALS • THE ADVICE PROCESS</a:t>
            </a:r>
          </a:p>
          <a:p>
            <a:pPr>
              <a:spcAft>
                <a:spcPts val="300"/>
              </a:spcAft>
              <a:defRPr sz="2800" b="1">
                <a:solidFill>
                  <a:srgbClr val="1A1D20"/>
                </a:solidFill>
                <a:latin typeface="Georgia"/>
              </a:defRPr>
            </a:pPr>
            <a:r>
              <a:t>How We Make Decisions: The Advice Process</a:t>
            </a:r>
          </a:p>
          <a:p>
            <a:pPr>
              <a:defRPr sz="1300">
                <a:solidFill>
                  <a:srgbClr val="5F646E"/>
                </a:solidFill>
                <a:latin typeface="Segoe UI"/>
              </a:defRPr>
            </a:pPr>
            <a:r>
              <a:t>How any teammate can make great decisions without waiting for a boss or getting stuck in meetings:</a:t>
            </a:r>
          </a:p>
        </p:txBody>
      </p:sp>
      <p:sp>
        <p:nvSpPr>
          <p:cNvPr id="4" name="Rounded Rectangle 3"/>
          <p:cNvSpPr/>
          <p:nvPr/>
        </p:nvSpPr>
        <p:spPr>
          <a:xfrm>
            <a:off x="731520" y="1600200"/>
            <a:ext cx="1993392" cy="3858768"/>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2960" y="1728216"/>
            <a:ext cx="1810512" cy="292608"/>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STAGE 01</a:t>
            </a:r>
          </a:p>
        </p:txBody>
      </p:sp>
      <p:sp>
        <p:nvSpPr>
          <p:cNvPr id="6" name="TextBox 5"/>
          <p:cNvSpPr txBox="1"/>
          <p:nvPr/>
        </p:nvSpPr>
        <p:spPr>
          <a:xfrm>
            <a:off x="841248" y="2075688"/>
            <a:ext cx="1773936" cy="3328416"/>
          </a:xfrm>
          <a:prstGeom prst="rect">
            <a:avLst/>
          </a:prstGeom>
          <a:noFill/>
        </p:spPr>
        <p:txBody>
          <a:bodyPr wrap="square" lIns="0" rIns="0" tIns="0" bIns="0">
            <a:spAutoFit/>
          </a:bodyPr>
          <a:lstStyle/>
          <a:p>
            <a:pPr>
              <a:spcAft>
                <a:spcPts val="200"/>
              </a:spcAft>
              <a:defRPr sz="1550" b="1">
                <a:solidFill>
                  <a:srgbClr val="1A1D20"/>
                </a:solidFill>
                <a:latin typeface="Georgia"/>
              </a:defRPr>
            </a:pPr>
            <a:r>
              <a:t>Spot a Need</a:t>
            </a:r>
          </a:p>
          <a:p>
            <a:pPr>
              <a:spcAft>
                <a:spcPts val="600"/>
              </a:spcAft>
              <a:defRPr sz="1000">
                <a:solidFill>
                  <a:srgbClr val="1E3A5F"/>
                </a:solidFill>
                <a:latin typeface="Segoe UI Semibold"/>
              </a:defRPr>
            </a:pPr>
            <a:r>
              <a:t>✦ You Step Forward</a:t>
            </a:r>
          </a:p>
          <a:p>
            <a:pPr>
              <a:lnSpc>
                <a:spcPct val="115000"/>
              </a:lnSpc>
              <a:spcAft>
                <a:spcPts val="600"/>
              </a:spcAft>
              <a:defRPr sz="1050">
                <a:solidFill>
                  <a:srgbClr val="5F646E"/>
                </a:solidFill>
                <a:latin typeface="Segoe UI"/>
              </a:defRPr>
            </a:pPr>
            <a:r>
              <a:t>You notice something confusing for students or a bumpy process on the team. You don't have to wait for someone else to notice.</a:t>
            </a:r>
          </a:p>
          <a:p>
            <a:pPr>
              <a:lnSpc>
                <a:spcPct val="114000"/>
              </a:lnSpc>
              <a:spcAft>
                <a:spcPts val="600"/>
              </a:spcAft>
              <a:defRPr sz="1000" b="1">
                <a:solidFill>
                  <a:srgbClr val="1A1D20"/>
                </a:solidFill>
                <a:latin typeface="Segoe UI"/>
              </a:defRPr>
            </a:pPr>
            <a:r>
              <a:t>Take Action: The person who spots the problem has the green light to lead the solution.</a:t>
            </a:r>
          </a:p>
          <a:p>
            <a:pPr>
              <a:defRPr i="1" sz="1000">
                <a:solidFill>
                  <a:srgbClr val="1E3A5F"/>
                </a:solidFill>
                <a:latin typeface="Georgia"/>
              </a:defRPr>
            </a:pPr>
            <a:r>
              <a:t>“Never wait for someone else to step up.”</a:t>
            </a:r>
          </a:p>
        </p:txBody>
      </p:sp>
      <p:sp>
        <p:nvSpPr>
          <p:cNvPr id="7" name="Right Arrow 6"/>
          <p:cNvSpPr/>
          <p:nvPr/>
        </p:nvSpPr>
        <p:spPr>
          <a:xfrm>
            <a:off x="2761488" y="3429000"/>
            <a:ext cx="109728" cy="18288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2907792" y="1600200"/>
            <a:ext cx="1993392" cy="3858768"/>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999232" y="1728216"/>
            <a:ext cx="1810512" cy="292608"/>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STAGE 02</a:t>
            </a:r>
          </a:p>
        </p:txBody>
      </p:sp>
      <p:sp>
        <p:nvSpPr>
          <p:cNvPr id="10" name="TextBox 9"/>
          <p:cNvSpPr txBox="1"/>
          <p:nvPr/>
        </p:nvSpPr>
        <p:spPr>
          <a:xfrm>
            <a:off x="3017520" y="2075688"/>
            <a:ext cx="1773936" cy="3328416"/>
          </a:xfrm>
          <a:prstGeom prst="rect">
            <a:avLst/>
          </a:prstGeom>
          <a:noFill/>
        </p:spPr>
        <p:txBody>
          <a:bodyPr wrap="square" lIns="0" rIns="0" tIns="0" bIns="0">
            <a:spAutoFit/>
          </a:bodyPr>
          <a:lstStyle/>
          <a:p>
            <a:pPr>
              <a:spcAft>
                <a:spcPts val="200"/>
              </a:spcAft>
              <a:defRPr sz="1550" b="1">
                <a:solidFill>
                  <a:srgbClr val="1A1D20"/>
                </a:solidFill>
                <a:latin typeface="Georgia"/>
              </a:defRPr>
            </a:pPr>
            <a:r>
              <a:t>Quick Draft</a:t>
            </a:r>
          </a:p>
          <a:p>
            <a:pPr>
              <a:spcAft>
                <a:spcPts val="600"/>
              </a:spcAft>
              <a:defRPr sz="1000">
                <a:solidFill>
                  <a:srgbClr val="1E3A5F"/>
                </a:solidFill>
                <a:latin typeface="Segoe UI Semibold"/>
              </a:defRPr>
            </a:pPr>
            <a:r>
              <a:t>✦ Show, Don't Just Talk</a:t>
            </a:r>
          </a:p>
          <a:p>
            <a:pPr>
              <a:lnSpc>
                <a:spcPct val="115000"/>
              </a:lnSpc>
              <a:spcAft>
                <a:spcPts val="600"/>
              </a:spcAft>
              <a:defRPr sz="1050">
                <a:solidFill>
                  <a:srgbClr val="5F646E"/>
                </a:solidFill>
                <a:latin typeface="Segoe UI"/>
              </a:defRPr>
            </a:pPr>
            <a:r>
              <a:t>Before calling a meeting, put together a simple draft, quick sketch, or short audio sample so teammates have something real to look at.</a:t>
            </a:r>
          </a:p>
          <a:p>
            <a:pPr>
              <a:lnSpc>
                <a:spcPct val="114000"/>
              </a:lnSpc>
              <a:spcAft>
                <a:spcPts val="600"/>
              </a:spcAft>
              <a:defRPr sz="1000" b="1">
                <a:solidFill>
                  <a:srgbClr val="1A1D20"/>
                </a:solidFill>
                <a:latin typeface="Segoe UI"/>
              </a:defRPr>
            </a:pPr>
            <a:r>
              <a:t>Draft Rule: A rough example is worth a thousand abstract discussions.</a:t>
            </a:r>
          </a:p>
          <a:p>
            <a:pPr>
              <a:defRPr i="1" sz="1000">
                <a:solidFill>
                  <a:srgbClr val="1E3A5F"/>
                </a:solidFill>
                <a:latin typeface="Georgia"/>
              </a:defRPr>
            </a:pPr>
            <a:r>
              <a:t>“Start with a simple, tangible draft.”</a:t>
            </a:r>
          </a:p>
        </p:txBody>
      </p:sp>
      <p:sp>
        <p:nvSpPr>
          <p:cNvPr id="11" name="Right Arrow 10"/>
          <p:cNvSpPr/>
          <p:nvPr/>
        </p:nvSpPr>
        <p:spPr>
          <a:xfrm>
            <a:off x="4937760" y="3429000"/>
            <a:ext cx="109728" cy="18288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084064" y="1600200"/>
            <a:ext cx="1993392" cy="3858768"/>
          </a:xfrm>
          <a:prstGeom prst="roundRect">
            <a:avLst/>
          </a:prstGeom>
          <a:solidFill>
            <a:srgbClr val="FFFFFF"/>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175504" y="1728216"/>
            <a:ext cx="1810512" cy="292608"/>
          </a:xfrm>
          <a:prstGeom prst="roundRect">
            <a:avLst/>
          </a:prstGeom>
          <a:solidFill>
            <a:srgbClr val="FDF2F0"/>
          </a:solidFill>
          <a:ln w="952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A8432B"/>
                </a:solidFill>
                <a:latin typeface="Segoe UI"/>
              </a:defRPr>
            </a:pPr>
            <a:r>
              <a:t>STAGE 03</a:t>
            </a:r>
          </a:p>
        </p:txBody>
      </p:sp>
      <p:sp>
        <p:nvSpPr>
          <p:cNvPr id="14" name="TextBox 13"/>
          <p:cNvSpPr txBox="1"/>
          <p:nvPr/>
        </p:nvSpPr>
        <p:spPr>
          <a:xfrm>
            <a:off x="5193792" y="2075688"/>
            <a:ext cx="1773936" cy="3328416"/>
          </a:xfrm>
          <a:prstGeom prst="rect">
            <a:avLst/>
          </a:prstGeom>
          <a:noFill/>
        </p:spPr>
        <p:txBody>
          <a:bodyPr wrap="square" lIns="0" rIns="0" tIns="0" bIns="0">
            <a:spAutoFit/>
          </a:bodyPr>
          <a:lstStyle/>
          <a:p>
            <a:pPr>
              <a:spcAft>
                <a:spcPts val="200"/>
              </a:spcAft>
              <a:defRPr sz="1550" b="1">
                <a:solidFill>
                  <a:srgbClr val="1A1D20"/>
                </a:solidFill>
                <a:latin typeface="Georgia"/>
              </a:defRPr>
            </a:pPr>
            <a:r>
              <a:t>Ask Advice</a:t>
            </a:r>
          </a:p>
          <a:p>
            <a:pPr>
              <a:spcAft>
                <a:spcPts val="600"/>
              </a:spcAft>
              <a:defRPr sz="1000">
                <a:solidFill>
                  <a:srgbClr val="A8432B"/>
                </a:solidFill>
                <a:latin typeface="Segoe UI Semibold"/>
              </a:defRPr>
            </a:pPr>
            <a:r>
              <a:t>✦ Listen to Teammates</a:t>
            </a:r>
          </a:p>
          <a:p>
            <a:pPr>
              <a:lnSpc>
                <a:spcPct val="115000"/>
              </a:lnSpc>
              <a:spcAft>
                <a:spcPts val="600"/>
              </a:spcAft>
              <a:defRPr sz="1050">
                <a:solidFill>
                  <a:srgbClr val="5F646E"/>
                </a:solidFill>
                <a:latin typeface="Segoe UI"/>
              </a:defRPr>
            </a:pPr>
            <a:r>
              <a:t>Ask two groups for input:</a:t>
            </a:r>
            <a:br/>
            <a:r>
              <a:t>1. Teammates with experience in this area</a:t>
            </a:r>
            <a:br/>
            <a:r>
              <a:t>2. Those who will be affected by the change.</a:t>
            </a:r>
          </a:p>
          <a:p>
            <a:pPr>
              <a:lnSpc>
                <a:spcPct val="114000"/>
              </a:lnSpc>
              <a:spcAft>
                <a:spcPts val="600"/>
              </a:spcAft>
              <a:defRPr sz="1000" b="1">
                <a:solidFill>
                  <a:srgbClr val="A8432B"/>
                </a:solidFill>
                <a:latin typeface="Segoe UI"/>
              </a:defRPr>
            </a:pPr>
            <a:r>
              <a:t>Golden Rule: Advice is wisdom to help you, not permission to wait for! No consensus needed.</a:t>
            </a:r>
          </a:p>
          <a:p>
            <a:pPr>
              <a:defRPr i="1" sz="1000">
                <a:solidFill>
                  <a:srgbClr val="A8432B"/>
                </a:solidFill>
                <a:latin typeface="Georgia"/>
              </a:defRPr>
            </a:pPr>
            <a:r>
              <a:t>“Seek good advice, not permission.”</a:t>
            </a:r>
          </a:p>
        </p:txBody>
      </p:sp>
      <p:sp>
        <p:nvSpPr>
          <p:cNvPr id="15" name="Right Arrow 14"/>
          <p:cNvSpPr/>
          <p:nvPr/>
        </p:nvSpPr>
        <p:spPr>
          <a:xfrm>
            <a:off x="7114032" y="3429000"/>
            <a:ext cx="109728" cy="18288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260336" y="1600200"/>
            <a:ext cx="1993392" cy="3858768"/>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351776" y="1728216"/>
            <a:ext cx="1810512" cy="292608"/>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STAGE 04</a:t>
            </a:r>
          </a:p>
        </p:txBody>
      </p:sp>
      <p:sp>
        <p:nvSpPr>
          <p:cNvPr id="18" name="TextBox 17"/>
          <p:cNvSpPr txBox="1"/>
          <p:nvPr/>
        </p:nvSpPr>
        <p:spPr>
          <a:xfrm>
            <a:off x="7370064" y="2075688"/>
            <a:ext cx="1773936" cy="3328416"/>
          </a:xfrm>
          <a:prstGeom prst="rect">
            <a:avLst/>
          </a:prstGeom>
          <a:noFill/>
        </p:spPr>
        <p:txBody>
          <a:bodyPr wrap="square" lIns="0" rIns="0" tIns="0" bIns="0">
            <a:spAutoFit/>
          </a:bodyPr>
          <a:lstStyle/>
          <a:p>
            <a:pPr>
              <a:spcAft>
                <a:spcPts val="200"/>
              </a:spcAft>
              <a:defRPr sz="1550" b="1">
                <a:solidFill>
                  <a:srgbClr val="1A1D20"/>
                </a:solidFill>
                <a:latin typeface="Georgia"/>
              </a:defRPr>
            </a:pPr>
            <a:r>
              <a:t>Make the Call</a:t>
            </a:r>
          </a:p>
          <a:p>
            <a:pPr>
              <a:spcAft>
                <a:spcPts val="600"/>
              </a:spcAft>
              <a:defRPr sz="1000">
                <a:solidFill>
                  <a:srgbClr val="166534"/>
                </a:solidFill>
                <a:latin typeface="Segoe UI Semibold"/>
              </a:defRPr>
            </a:pPr>
            <a:r>
              <a:t>✦ You Decide</a:t>
            </a:r>
          </a:p>
          <a:p>
            <a:pPr>
              <a:lnSpc>
                <a:spcPct val="115000"/>
              </a:lnSpc>
              <a:spcAft>
                <a:spcPts val="600"/>
              </a:spcAft>
              <a:defRPr sz="1050">
                <a:solidFill>
                  <a:srgbClr val="5F646E"/>
                </a:solidFill>
                <a:latin typeface="Segoe UI"/>
              </a:defRPr>
            </a:pPr>
            <a:r>
              <a:t>Weigh the advice you heard, shape the best solution you can, and make the final decision yourself.</a:t>
            </a:r>
          </a:p>
          <a:p>
            <a:pPr>
              <a:lnSpc>
                <a:spcPct val="114000"/>
              </a:lnSpc>
              <a:spcAft>
                <a:spcPts val="600"/>
              </a:spcAft>
              <a:defRPr sz="1000" b="1">
                <a:solidFill>
                  <a:srgbClr val="1A1D20"/>
                </a:solidFill>
                <a:latin typeface="Segoe UI"/>
              </a:defRPr>
            </a:pPr>
            <a:r>
              <a:t>Ownership Rule: You don't need everyone to agree. You make the call and own the result.</a:t>
            </a:r>
          </a:p>
          <a:p>
            <a:pPr>
              <a:defRPr i="1" sz="1000">
                <a:solidFill>
                  <a:srgbClr val="166534"/>
                </a:solidFill>
                <a:latin typeface="Georgia"/>
              </a:defRPr>
            </a:pPr>
            <a:r>
              <a:t>“Trust your judgment to make the call.”</a:t>
            </a:r>
          </a:p>
        </p:txBody>
      </p:sp>
      <p:sp>
        <p:nvSpPr>
          <p:cNvPr id="19" name="Right Arrow 18"/>
          <p:cNvSpPr/>
          <p:nvPr/>
        </p:nvSpPr>
        <p:spPr>
          <a:xfrm>
            <a:off x="9290304" y="3429000"/>
            <a:ext cx="109728" cy="182880"/>
          </a:xfrm>
          <a:prstGeom prst="rightArrow">
            <a:avLst/>
          </a:prstGeom>
          <a:solidFill>
            <a:srgbClr val="CDC8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436608" y="1600200"/>
            <a:ext cx="1993392" cy="3858768"/>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528048" y="1728216"/>
            <a:ext cx="1810512" cy="292608"/>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STAGE 05</a:t>
            </a:r>
          </a:p>
        </p:txBody>
      </p:sp>
      <p:sp>
        <p:nvSpPr>
          <p:cNvPr id="22" name="TextBox 21"/>
          <p:cNvSpPr txBox="1"/>
          <p:nvPr/>
        </p:nvSpPr>
        <p:spPr>
          <a:xfrm>
            <a:off x="9546336" y="2075688"/>
            <a:ext cx="1773936" cy="3328416"/>
          </a:xfrm>
          <a:prstGeom prst="rect">
            <a:avLst/>
          </a:prstGeom>
          <a:noFill/>
        </p:spPr>
        <p:txBody>
          <a:bodyPr wrap="square" lIns="0" rIns="0" tIns="0" bIns="0">
            <a:spAutoFit/>
          </a:bodyPr>
          <a:lstStyle/>
          <a:p>
            <a:pPr>
              <a:spcAft>
                <a:spcPts val="200"/>
              </a:spcAft>
              <a:defRPr sz="1550" b="1">
                <a:solidFill>
                  <a:srgbClr val="1A1D20"/>
                </a:solidFill>
                <a:latin typeface="Georgia"/>
              </a:defRPr>
            </a:pPr>
            <a:r>
              <a:t>Share &amp; Learn</a:t>
            </a:r>
          </a:p>
          <a:p>
            <a:pPr>
              <a:spcAft>
                <a:spcPts val="600"/>
              </a:spcAft>
              <a:defRPr sz="1000">
                <a:solidFill>
                  <a:srgbClr val="166534"/>
                </a:solidFill>
                <a:latin typeface="Segoe UI Semibold"/>
              </a:defRPr>
            </a:pPr>
            <a:r>
              <a:t>✦ Keep Peers Informed</a:t>
            </a:r>
          </a:p>
          <a:p>
            <a:pPr>
              <a:lnSpc>
                <a:spcPct val="115000"/>
              </a:lnSpc>
              <a:spcAft>
                <a:spcPts val="600"/>
              </a:spcAft>
              <a:defRPr sz="1050">
                <a:solidFill>
                  <a:srgbClr val="5F646E"/>
                </a:solidFill>
                <a:latin typeface="Segoe UI"/>
              </a:defRPr>
            </a:pPr>
            <a:r>
              <a:t>Tell the team what you decided and share how it went with real students. If it didn't work, tweak it together.</a:t>
            </a:r>
          </a:p>
          <a:p>
            <a:pPr>
              <a:lnSpc>
                <a:spcPct val="114000"/>
              </a:lnSpc>
              <a:spcAft>
                <a:spcPts val="600"/>
              </a:spcAft>
              <a:defRPr sz="1000" b="1">
                <a:solidFill>
                  <a:srgbClr val="1A1D20"/>
                </a:solidFill>
                <a:latin typeface="Segoe UI"/>
              </a:defRPr>
            </a:pPr>
            <a:r>
              <a:t>Learning Rule: Sharing results openly keeps everyone learning together.</a:t>
            </a:r>
          </a:p>
          <a:p>
            <a:pPr>
              <a:defRPr i="1" sz="1000">
                <a:solidFill>
                  <a:srgbClr val="166534"/>
                </a:solidFill>
                <a:latin typeface="Georgia"/>
              </a:defRPr>
            </a:pPr>
            <a:r>
              <a:t>“Be open about what worked and what didn't.”</a:t>
            </a:r>
          </a:p>
        </p:txBody>
      </p:sp>
      <p:sp>
        <p:nvSpPr>
          <p:cNvPr id="23" name="Rounded Rectangle 22"/>
          <p:cNvSpPr/>
          <p:nvPr/>
        </p:nvSpPr>
        <p:spPr>
          <a:xfrm>
            <a:off x="731520" y="5596128"/>
            <a:ext cx="10728655" cy="987552"/>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laloux_plate.jpg"/>
          <p:cNvPicPr>
            <a:picLocks noChangeAspect="1"/>
          </p:cNvPicPr>
          <p:nvPr/>
        </p:nvPicPr>
        <p:blipFill>
          <a:blip r:embed="rId2"/>
          <a:stretch>
            <a:fillRect/>
          </a:stretch>
        </p:blipFill>
        <p:spPr>
          <a:xfrm>
            <a:off x="868680" y="5678424"/>
            <a:ext cx="658368" cy="822960"/>
          </a:xfrm>
          <a:prstGeom prst="rect">
            <a:avLst/>
          </a:prstGeom>
        </p:spPr>
      </p:pic>
      <p:sp>
        <p:nvSpPr>
          <p:cNvPr id="25" name="Rectangle 24"/>
          <p:cNvSpPr/>
          <p:nvPr/>
        </p:nvSpPr>
        <p:spPr>
          <a:xfrm>
            <a:off x="868680" y="5678424"/>
            <a:ext cx="658368" cy="82296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645920" y="5669280"/>
            <a:ext cx="9692640" cy="841248"/>
          </a:xfrm>
          <a:prstGeom prst="rect">
            <a:avLst/>
          </a:prstGeom>
          <a:noFill/>
        </p:spPr>
        <p:txBody>
          <a:bodyPr wrap="square" lIns="0" rIns="0" tIns="0" bIns="0">
            <a:spAutoFit/>
          </a:bodyPr>
          <a:lstStyle/>
          <a:p>
            <a:pPr>
              <a:spcAft>
                <a:spcPts val="200"/>
              </a:spcAft>
              <a:defRPr sz="950" b="1">
                <a:solidFill>
                  <a:srgbClr val="166534"/>
                </a:solidFill>
                <a:latin typeface="Segoe UI"/>
              </a:defRPr>
            </a:pPr>
            <a:r>
              <a:t>⚡ FRÉDÉRIC LALOUX • AUTHOR, REINVENTING ORGANIZATIONS</a:t>
            </a:r>
          </a:p>
          <a:p>
            <a:pPr>
              <a:spcAft>
                <a:spcPts val="200"/>
              </a:spcAft>
              <a:defRPr sz="1100" i="1" b="1">
                <a:solidFill>
                  <a:srgbClr val="1A1D20"/>
                </a:solidFill>
                <a:latin typeface="Georgia"/>
              </a:defRPr>
            </a:pPr>
            <a:r>
              <a:t>“Any person can make any decision, as long as they seek advice from knowledgeable peers and those affected. Advice is not permission—ownership stays with the person making the call.”</a:t>
            </a:r>
          </a:p>
          <a:p>
            <a:pPr>
              <a:defRPr sz="950">
                <a:solidFill>
                  <a:srgbClr val="5F646E"/>
                </a:solidFill>
                <a:latin typeface="Segoe UI"/>
              </a:defRPr>
            </a:pPr>
            <a:r>
              <a:t>We trust each other's good judgment. We listen deeply to advice, but we don't wait for permission or get paralyzed trying to make everyone agree.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WORKING THROUGH DIFFERENCES • MAKING CHOICES TOGETHER</a:t>
            </a:r>
          </a:p>
          <a:p>
            <a:pPr>
              <a:spcAft>
                <a:spcPts val="300"/>
              </a:spcAft>
              <a:defRPr sz="2500" b="1">
                <a:solidFill>
                  <a:srgbClr val="1A1D20"/>
                </a:solidFill>
                <a:latin typeface="Georgia"/>
              </a:defRPr>
            </a:pPr>
            <a:r>
              <a:t>Three Ways to Decide: Why the Advice Way Works Best</a:t>
            </a:r>
          </a:p>
          <a:p>
            <a:pPr>
              <a:defRPr sz="1300">
                <a:solidFill>
                  <a:srgbClr val="5F646E"/>
                </a:solidFill>
                <a:latin typeface="Segoe UI"/>
              </a:defRPr>
            </a:pPr>
            <a:r>
              <a:t>How we avoid endless arguing while making sure everyone feels heard and respected:</a:t>
            </a:r>
          </a:p>
        </p:txBody>
      </p:sp>
      <p:sp>
        <p:nvSpPr>
          <p:cNvPr id="4" name="Rounded Rectangle 3"/>
          <p:cNvSpPr/>
          <p:nvPr/>
        </p:nvSpPr>
        <p:spPr>
          <a:xfrm>
            <a:off x="731520" y="1600200"/>
            <a:ext cx="3364992" cy="2926080"/>
          </a:xfrm>
          <a:prstGeom prst="roundRect">
            <a:avLst/>
          </a:prstGeom>
          <a:solidFill>
            <a:srgbClr val="FDF2F0"/>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1050" b="1">
                <a:solidFill>
                  <a:srgbClr val="A8432B"/>
                </a:solidFill>
                <a:latin typeface="Segoe UI"/>
              </a:defRPr>
            </a:pPr>
            <a:r>
              <a:t>❌ TRYING TO MAKE EVERYONE AGREE</a:t>
            </a:r>
          </a:p>
          <a:p>
            <a:pPr>
              <a:spcAft>
                <a:spcPts val="600"/>
              </a:spcAft>
              <a:defRPr sz="1700" b="1">
                <a:solidFill>
                  <a:srgbClr val="1A1D20"/>
                </a:solidFill>
                <a:latin typeface="Georgia"/>
              </a:defRPr>
            </a:pPr>
            <a:r>
              <a:t>The Consensus Trap</a:t>
            </a:r>
          </a:p>
          <a:p>
            <a:pPr>
              <a:lnSpc>
                <a:spcPct val="118000"/>
              </a:lnSpc>
              <a:spcAft>
                <a:spcPts val="600"/>
              </a:spcAft>
              <a:defRPr sz="1150">
                <a:solidFill>
                  <a:srgbClr val="1A1D20"/>
                </a:solidFill>
                <a:latin typeface="Segoe UI"/>
              </a:defRPr>
            </a:pPr>
            <a:r>
              <a:t>Trying to get all 10 people to agree on every single detail before anyone can try an idea.</a:t>
            </a:r>
          </a:p>
          <a:p>
            <a:pPr>
              <a:lnSpc>
                <a:spcPct val="116000"/>
              </a:lnSpc>
              <a:defRPr sz="1100">
                <a:solidFill>
                  <a:srgbClr val="A8432B"/>
                </a:solidFill>
                <a:latin typeface="Segoe UI Semibold"/>
              </a:defRPr>
            </a:pPr>
            <a:r>
              <a:t>Why It Stalls: Progress moves at the speed of the most hesitant person. It leads to bland compromises where no one feels excited or fully responsible.</a:t>
            </a:r>
          </a:p>
        </p:txBody>
      </p:sp>
      <p:sp>
        <p:nvSpPr>
          <p:cNvPr id="5" name="Rounded Rectangle 4"/>
          <p:cNvSpPr/>
          <p:nvPr/>
        </p:nvSpPr>
        <p:spPr>
          <a:xfrm>
            <a:off x="4407408" y="1600200"/>
            <a:ext cx="3364992" cy="2926080"/>
          </a:xfrm>
          <a:prstGeom prst="roundRect">
            <a:avLst/>
          </a:prstGeom>
          <a:solidFill>
            <a:srgbClr val="ECFDF5"/>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1050" b="1">
                <a:solidFill>
                  <a:srgbClr val="166534"/>
                </a:solidFill>
                <a:latin typeface="Segoe UI"/>
              </a:defRPr>
            </a:pPr>
            <a:r>
              <a:t>✓ THE ADVICE PROCESS (OUR WAY)</a:t>
            </a:r>
          </a:p>
          <a:p>
            <a:pPr>
              <a:spcAft>
                <a:spcPts val="600"/>
              </a:spcAft>
              <a:defRPr sz="1700" b="1">
                <a:solidFill>
                  <a:srgbClr val="1A1D20"/>
                </a:solidFill>
                <a:latin typeface="Georgia"/>
              </a:defRPr>
            </a:pPr>
            <a:r>
              <a:t>Speed with Shared Wisdom</a:t>
            </a:r>
          </a:p>
          <a:p>
            <a:pPr>
              <a:lnSpc>
                <a:spcPct val="118000"/>
              </a:lnSpc>
              <a:spcAft>
                <a:spcPts val="600"/>
              </a:spcAft>
              <a:defRPr sz="1150">
                <a:solidFill>
                  <a:srgbClr val="1A1D20"/>
                </a:solidFill>
                <a:latin typeface="Segoe UI"/>
              </a:defRPr>
            </a:pPr>
            <a:r>
              <a:t>You actively seek input and listen to advice, but you make the final call yourself.</a:t>
            </a:r>
          </a:p>
          <a:p>
            <a:pPr>
              <a:lnSpc>
                <a:spcPct val="116000"/>
              </a:lnSpc>
              <a:defRPr sz="1100">
                <a:solidFill>
                  <a:srgbClr val="166534"/>
                </a:solidFill>
                <a:latin typeface="Segoe UI Semibold"/>
              </a:defRPr>
            </a:pPr>
            <a:r>
              <a:t>Why It Works: Combines fast execution with great peer advice. You don't need unanimous agreement to test a good idea and see if it helps students.</a:t>
            </a:r>
          </a:p>
        </p:txBody>
      </p:sp>
      <p:sp>
        <p:nvSpPr>
          <p:cNvPr id="6" name="Rounded Rectangle 5"/>
          <p:cNvSpPr/>
          <p:nvPr/>
        </p:nvSpPr>
        <p:spPr>
          <a:xfrm>
            <a:off x="8083296" y="1600200"/>
            <a:ext cx="3364992" cy="2926080"/>
          </a:xfrm>
          <a:prstGeom prst="roundRect">
            <a:avLst/>
          </a:prstGeom>
          <a:solidFill>
            <a:srgbClr val="EEF2F6"/>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64592"/>
          <a:lstStyle/>
          <a:p>
            <a:pPr algn="ctr">
              <a:spcAft>
                <a:spcPts val="200"/>
              </a:spcAft>
              <a:defRPr sz="1050" b="1">
                <a:solidFill>
                  <a:srgbClr val="1E3A5F"/>
                </a:solidFill>
                <a:latin typeface="Segoe UI"/>
              </a:defRPr>
            </a:pPr>
            <a:r>
              <a:t>❌ WAITING FOR A BOSS TO ORDER</a:t>
            </a:r>
          </a:p>
          <a:p>
            <a:pPr>
              <a:spcAft>
                <a:spcPts val="600"/>
              </a:spcAft>
              <a:defRPr sz="1700" b="1">
                <a:solidFill>
                  <a:srgbClr val="1A1D20"/>
                </a:solidFill>
                <a:latin typeface="Georgia"/>
              </a:defRPr>
            </a:pPr>
            <a:r>
              <a:t>The Manager Trap</a:t>
            </a:r>
          </a:p>
          <a:p>
            <a:pPr>
              <a:lnSpc>
                <a:spcPct val="118000"/>
              </a:lnSpc>
              <a:spcAft>
                <a:spcPts val="600"/>
              </a:spcAft>
              <a:defRPr sz="1150">
                <a:solidFill>
                  <a:srgbClr val="1A1D20"/>
                </a:solidFill>
                <a:latin typeface="Segoe UI"/>
              </a:defRPr>
            </a:pPr>
            <a:r>
              <a:t>Waiting for a distant supervisor or administrator to hand down orders from an office.</a:t>
            </a:r>
          </a:p>
          <a:p>
            <a:pPr>
              <a:lnSpc>
                <a:spcPct val="116000"/>
              </a:lnSpc>
              <a:defRPr sz="1100">
                <a:solidFill>
                  <a:srgbClr val="1E3A5F"/>
                </a:solidFill>
                <a:latin typeface="Segoe UI Semibold"/>
              </a:defRPr>
            </a:pPr>
            <a:r>
              <a:t>Why It Fails: Managers are often far removed from actual students. It disempowers teachers, creates bottlenecks, and crushes creative energy.</a:t>
            </a:r>
          </a:p>
        </p:txBody>
      </p:sp>
      <p:sp>
        <p:nvSpPr>
          <p:cNvPr id="7" name="TextBox 6"/>
          <p:cNvSpPr txBox="1"/>
          <p:nvPr/>
        </p:nvSpPr>
        <p:spPr>
          <a:xfrm>
            <a:off x="731520" y="4709160"/>
            <a:ext cx="10728655" cy="292608"/>
          </a:xfrm>
          <a:prstGeom prst="rect">
            <a:avLst/>
          </a:prstGeom>
          <a:noFill/>
        </p:spPr>
        <p:txBody>
          <a:bodyPr wrap="none" lIns="0" rIns="0" tIns="0" bIns="0">
            <a:spAutoFit/>
          </a:bodyPr>
          <a:lstStyle/>
          <a:p>
            <a:pPr>
              <a:defRPr sz="1050" b="1">
                <a:solidFill>
                  <a:srgbClr val="1E3A5F"/>
                </a:solidFill>
                <a:latin typeface="Segoe UI"/>
              </a:defRPr>
            </a:pPr>
            <a:r>
              <a:t>🤝 HOW WE RESOLVE DISAGREEMENTS WHEN WE CAN'T AGREE:</a:t>
            </a:r>
          </a:p>
        </p:txBody>
      </p:sp>
      <p:sp>
        <p:nvSpPr>
          <p:cNvPr id="8" name="Rounded Rectangle 7"/>
          <p:cNvSpPr/>
          <p:nvPr/>
        </p:nvSpPr>
        <p:spPr>
          <a:xfrm>
            <a:off x="731520" y="5056632"/>
            <a:ext cx="3364992" cy="1298448"/>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6"/>
          <a:lstStyle/>
          <a:p>
            <a:pPr algn="ctr">
              <a:spcAft>
                <a:spcPts val="400"/>
              </a:spcAft>
              <a:defRPr sz="1000" b="1">
                <a:solidFill>
                  <a:srgbClr val="1E3A5F"/>
                </a:solidFill>
                <a:latin typeface="Segoe UI"/>
              </a:defRPr>
            </a:pPr>
            <a:r>
              <a:t>STEP 1: TALK OVER A COFFEE (1-ON-1)</a:t>
            </a:r>
          </a:p>
          <a:p>
            <a:pPr>
              <a:lnSpc>
                <a:spcPct val="118000"/>
              </a:lnSpc>
              <a:defRPr sz="1100">
                <a:solidFill>
                  <a:srgbClr val="1A1D20"/>
                </a:solidFill>
                <a:latin typeface="Segoe UI"/>
              </a:defRPr>
            </a:pPr>
            <a:r>
              <a:t>Meet privately and warmly within 24 hours. Talk about the work honestly without blaming each other or keeping silent grudges.</a:t>
            </a:r>
          </a:p>
        </p:txBody>
      </p:sp>
      <p:sp>
        <p:nvSpPr>
          <p:cNvPr id="9" name="Rounded Rectangle 8"/>
          <p:cNvSpPr/>
          <p:nvPr/>
        </p:nvSpPr>
        <p:spPr>
          <a:xfrm>
            <a:off x="4407408" y="5056632"/>
            <a:ext cx="3364992" cy="1298448"/>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6"/>
          <a:lstStyle/>
          <a:p>
            <a:pPr algn="ctr">
              <a:spcAft>
                <a:spcPts val="400"/>
              </a:spcAft>
              <a:defRPr sz="1000" b="1">
                <a:solidFill>
                  <a:srgbClr val="1E3A5F"/>
                </a:solidFill>
                <a:latin typeface="Segoe UI"/>
              </a:defRPr>
            </a:pPr>
            <a:r>
              <a:t>STEP 2: BRING IN A TRUSTED PEER</a:t>
            </a:r>
          </a:p>
          <a:p>
            <a:pPr>
              <a:lnSpc>
                <a:spcPct val="118000"/>
              </a:lnSpc>
              <a:defRPr sz="1100">
                <a:solidFill>
                  <a:srgbClr val="1A1D20"/>
                </a:solidFill>
                <a:latin typeface="Segoe UI"/>
              </a:defRPr>
            </a:pPr>
            <a:r>
              <a:t>If you're still stuck, invite a calm teammate to sit with you both, listen with fresh ears, and help you find common ground.</a:t>
            </a:r>
          </a:p>
        </p:txBody>
      </p:sp>
      <p:sp>
        <p:nvSpPr>
          <p:cNvPr id="10" name="Rounded Rectangle 9"/>
          <p:cNvSpPr/>
          <p:nvPr/>
        </p:nvSpPr>
        <p:spPr>
          <a:xfrm>
            <a:off x="8083296" y="5056632"/>
            <a:ext cx="3364992" cy="1298448"/>
          </a:xfrm>
          <a:prstGeom prst="roundRect">
            <a:avLst/>
          </a:prstGeom>
          <a:solidFill>
            <a:srgbClr val="FFFFFF"/>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28016"/>
          <a:lstStyle/>
          <a:p>
            <a:pPr algn="ctr">
              <a:spcAft>
                <a:spcPts val="400"/>
              </a:spcAft>
              <a:defRPr sz="1000" b="1">
                <a:solidFill>
                  <a:srgbClr val="1E3A5F"/>
                </a:solidFill>
                <a:latin typeface="Segoe UI"/>
              </a:defRPr>
            </a:pPr>
            <a:r>
              <a:t>STEP 3: TEST IT WITH STUDENTS</a:t>
            </a:r>
          </a:p>
          <a:p>
            <a:pPr>
              <a:lnSpc>
                <a:spcPct val="118000"/>
              </a:lnSpc>
              <a:defRPr sz="1100">
                <a:solidFill>
                  <a:srgbClr val="1A1D20"/>
                </a:solidFill>
                <a:latin typeface="Segoe UI"/>
              </a:defRPr>
            </a:pPr>
            <a:r>
              <a:t>Instead of arguing opinions back and forth, put both ideas in front of real students! Let real student learning settle the debate.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OUR EVERYDAY CULTURE • HOW WE TREAT EACH OTHER</a:t>
            </a:r>
          </a:p>
          <a:p>
            <a:pPr>
              <a:spcAft>
                <a:spcPts val="300"/>
              </a:spcAft>
              <a:defRPr sz="2500" b="1">
                <a:solidFill>
                  <a:srgbClr val="1A1D20"/>
                </a:solidFill>
                <a:latin typeface="Georgia"/>
              </a:defRPr>
            </a:pPr>
            <a:r>
              <a:t>Our Team Promises: What We Give and What We Expect</a:t>
            </a:r>
          </a:p>
          <a:p>
            <a:pPr>
              <a:defRPr sz="1300">
                <a:solidFill>
                  <a:srgbClr val="5F646E"/>
                </a:solidFill>
                <a:latin typeface="Segoe UI"/>
              </a:defRPr>
            </a:pPr>
            <a:r>
              <a:t>Simple, transparent commitments that keep our team safe, supportive, and energized:</a:t>
            </a:r>
          </a:p>
        </p:txBody>
      </p:sp>
      <p:sp>
        <p:nvSpPr>
          <p:cNvPr id="4" name="Rounded Rectangle 3"/>
          <p:cNvSpPr/>
          <p:nvPr/>
        </p:nvSpPr>
        <p:spPr>
          <a:xfrm>
            <a:off x="731520" y="1554480"/>
            <a:ext cx="5193792" cy="402336"/>
          </a:xfrm>
          <a:prstGeom prst="roundRect">
            <a:avLst/>
          </a:prstGeom>
          <a:solidFill>
            <a:srgbClr val="ECFDF5"/>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50" b="1">
                <a:solidFill>
                  <a:srgbClr val="166534"/>
                </a:solidFill>
                <a:latin typeface="Segoe UI"/>
              </a:defRPr>
            </a:pPr>
            <a:r>
              <a:t>✓ WHAT YOU CAN ALWAYS COUNT ON (OUR PROMISES TO YOU)</a:t>
            </a:r>
          </a:p>
        </p:txBody>
      </p:sp>
      <p:sp>
        <p:nvSpPr>
          <p:cNvPr id="5" name="Rounded Rectangle 4"/>
          <p:cNvSpPr/>
          <p:nvPr/>
        </p:nvSpPr>
        <p:spPr>
          <a:xfrm>
            <a:off x="731520" y="2084831"/>
            <a:ext cx="5193792" cy="1024128"/>
          </a:xfrm>
          <a:prstGeom prst="roundRect">
            <a:avLst/>
          </a:prstGeom>
          <a:solidFill>
            <a:srgbClr val="FFFFFF"/>
          </a:solidFill>
          <a:ln w="1587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300" b="1">
                <a:solidFill>
                  <a:srgbClr val="166534"/>
                </a:solidFill>
                <a:latin typeface="Georgia"/>
              </a:defRPr>
            </a:pPr>
            <a:r>
              <a:t>✓ Full Trust to Try Ideas</a:t>
            </a:r>
          </a:p>
          <a:p>
            <a:pPr>
              <a:lnSpc>
                <a:spcPct val="116000"/>
              </a:lnSpc>
              <a:defRPr sz="1100">
                <a:solidFill>
                  <a:srgbClr val="1A1D20"/>
                </a:solidFill>
                <a:latin typeface="Segoe UI"/>
              </a:defRPr>
            </a:pPr>
            <a:r>
              <a:t>You have the freedom to spot problems, create solutions, and test ideas without having to ask for managerial sign-off.</a:t>
            </a:r>
          </a:p>
        </p:txBody>
      </p:sp>
      <p:sp>
        <p:nvSpPr>
          <p:cNvPr id="6" name="Rounded Rectangle 5"/>
          <p:cNvSpPr/>
          <p:nvPr/>
        </p:nvSpPr>
        <p:spPr>
          <a:xfrm>
            <a:off x="731520" y="3236975"/>
            <a:ext cx="5193792" cy="1024128"/>
          </a:xfrm>
          <a:prstGeom prst="roundRect">
            <a:avLst/>
          </a:prstGeom>
          <a:solidFill>
            <a:srgbClr val="FFFFFF"/>
          </a:solidFill>
          <a:ln w="1587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300" b="1">
                <a:solidFill>
                  <a:srgbClr val="166534"/>
                </a:solidFill>
                <a:latin typeface="Georgia"/>
              </a:defRPr>
            </a:pPr>
            <a:r>
              <a:t>✓ Thoughtful Help and Advice</a:t>
            </a:r>
          </a:p>
          <a:p>
            <a:pPr>
              <a:lnSpc>
                <a:spcPct val="116000"/>
              </a:lnSpc>
              <a:defRPr sz="1100">
                <a:solidFill>
                  <a:srgbClr val="1A1D20"/>
                </a:solidFill>
                <a:latin typeface="Segoe UI"/>
              </a:defRPr>
            </a:pPr>
            <a:r>
              <a:t>Teammates will always take time to give you thoughtful feedback and support whenever you reach out for advice.</a:t>
            </a:r>
          </a:p>
        </p:txBody>
      </p:sp>
      <p:sp>
        <p:nvSpPr>
          <p:cNvPr id="7" name="Rounded Rectangle 6"/>
          <p:cNvSpPr/>
          <p:nvPr/>
        </p:nvSpPr>
        <p:spPr>
          <a:xfrm>
            <a:off x="731520" y="4389119"/>
            <a:ext cx="5193792" cy="1024128"/>
          </a:xfrm>
          <a:prstGeom prst="roundRect">
            <a:avLst/>
          </a:prstGeom>
          <a:solidFill>
            <a:srgbClr val="FFFFFF"/>
          </a:solidFill>
          <a:ln w="1587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300" b="1">
                <a:solidFill>
                  <a:srgbClr val="166534"/>
                </a:solidFill>
                <a:latin typeface="Georgia"/>
              </a:defRPr>
            </a:pPr>
            <a:r>
              <a:t>✓ Respect for Your Personal Time</a:t>
            </a:r>
          </a:p>
          <a:p>
            <a:pPr>
              <a:lnSpc>
                <a:spcPct val="116000"/>
              </a:lnSpc>
              <a:defRPr sz="1100">
                <a:solidFill>
                  <a:srgbClr val="1A1D20"/>
                </a:solidFill>
                <a:latin typeface="Segoe UI"/>
              </a:defRPr>
            </a:pPr>
            <a:r>
              <a:t>We protect reasonable working hours, quiet evenings, and zero weekend messages. Your health and personal life come first.</a:t>
            </a:r>
          </a:p>
        </p:txBody>
      </p:sp>
      <p:sp>
        <p:nvSpPr>
          <p:cNvPr id="8" name="Rounded Rectangle 7"/>
          <p:cNvSpPr/>
          <p:nvPr/>
        </p:nvSpPr>
        <p:spPr>
          <a:xfrm>
            <a:off x="731520" y="5541263"/>
            <a:ext cx="5193792" cy="1024128"/>
          </a:xfrm>
          <a:prstGeom prst="roundRect">
            <a:avLst/>
          </a:prstGeom>
          <a:solidFill>
            <a:srgbClr val="FFFFFF"/>
          </a:solidFill>
          <a:ln w="1587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300" b="1">
                <a:solidFill>
                  <a:srgbClr val="166534"/>
                </a:solidFill>
                <a:latin typeface="Georgia"/>
              </a:defRPr>
            </a:pPr>
            <a:r>
              <a:t>✓ Kind, Honest Support</a:t>
            </a:r>
          </a:p>
          <a:p>
            <a:pPr>
              <a:lnSpc>
                <a:spcPct val="116000"/>
              </a:lnSpc>
              <a:defRPr sz="1100">
                <a:solidFill>
                  <a:srgbClr val="1A1D20"/>
                </a:solidFill>
                <a:latin typeface="Segoe UI"/>
              </a:defRPr>
            </a:pPr>
            <a:r>
              <a:t>A warm, supportive environment where you can speak your mind safely and receive constructive feedback offered with genuine care.</a:t>
            </a:r>
          </a:p>
        </p:txBody>
      </p:sp>
      <p:sp>
        <p:nvSpPr>
          <p:cNvPr id="9" name="Rounded Rectangle 8"/>
          <p:cNvSpPr/>
          <p:nvPr/>
        </p:nvSpPr>
        <p:spPr>
          <a:xfrm>
            <a:off x="6263640" y="1554480"/>
            <a:ext cx="5193792" cy="402336"/>
          </a:xfrm>
          <a:prstGeom prst="roundRect">
            <a:avLst/>
          </a:prstGeom>
          <a:solidFill>
            <a:srgbClr val="FDF2F0"/>
          </a:solidFill>
          <a:ln w="19050">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1150" b="1">
                <a:solidFill>
                  <a:srgbClr val="A8432B"/>
                </a:solidFill>
                <a:latin typeface="Segoe UI"/>
              </a:defRPr>
            </a:pPr>
            <a:r>
              <a:t>✗ WHAT WE CHOOSE TO LEAVE BEHIND (WHAT WE DON'T DO)</a:t>
            </a:r>
          </a:p>
        </p:txBody>
      </p:sp>
      <p:sp>
        <p:nvSpPr>
          <p:cNvPr id="10" name="Rounded Rectangle 9"/>
          <p:cNvSpPr/>
          <p:nvPr/>
        </p:nvSpPr>
        <p:spPr>
          <a:xfrm>
            <a:off x="6263640" y="2084831"/>
            <a:ext cx="5193792" cy="1024128"/>
          </a:xfrm>
          <a:prstGeom prst="roundRect">
            <a:avLst/>
          </a:prstGeom>
          <a:solidFill>
            <a:srgbClr val="FFFFFF"/>
          </a:solidFill>
          <a:ln w="1587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300" b="1">
                <a:solidFill>
                  <a:srgbClr val="A8432B"/>
                </a:solidFill>
                <a:latin typeface="Georgia"/>
              </a:defRPr>
            </a:pPr>
            <a:r>
              <a:t>✗ No Hovering Managers or Busywork</a:t>
            </a:r>
          </a:p>
          <a:p>
            <a:pPr>
              <a:lnSpc>
                <a:spcPct val="116000"/>
              </a:lnSpc>
              <a:defRPr sz="1100">
                <a:solidFill>
                  <a:srgbClr val="1A1D20"/>
                </a:solidFill>
                <a:latin typeface="Segoe UI"/>
              </a:defRPr>
            </a:pPr>
            <a:r>
              <a:t>No timesheets, seat-time policing, or useless status meetings. We care about real student learning, not performative presence.</a:t>
            </a:r>
          </a:p>
        </p:txBody>
      </p:sp>
      <p:sp>
        <p:nvSpPr>
          <p:cNvPr id="11" name="Rounded Rectangle 10"/>
          <p:cNvSpPr/>
          <p:nvPr/>
        </p:nvSpPr>
        <p:spPr>
          <a:xfrm>
            <a:off x="6263640" y="3236975"/>
            <a:ext cx="5193792" cy="1024128"/>
          </a:xfrm>
          <a:prstGeom prst="roundRect">
            <a:avLst/>
          </a:prstGeom>
          <a:solidFill>
            <a:srgbClr val="FFFFFF"/>
          </a:solidFill>
          <a:ln w="1587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300" b="1">
                <a:solidFill>
                  <a:srgbClr val="A8432B"/>
                </a:solidFill>
                <a:latin typeface="Georgia"/>
              </a:defRPr>
            </a:pPr>
            <a:r>
              <a:t>✗ No Getting Stuck in Endless Debates</a:t>
            </a:r>
          </a:p>
          <a:p>
            <a:pPr>
              <a:lnSpc>
                <a:spcPct val="116000"/>
              </a:lnSpc>
              <a:defRPr sz="1100">
                <a:solidFill>
                  <a:srgbClr val="1A1D20"/>
                </a:solidFill>
                <a:latin typeface="Segoe UI"/>
              </a:defRPr>
            </a:pPr>
            <a:r>
              <a:t>No long meetings where people argue back and forth without trying anything. We build quick drafts and learn from real use.</a:t>
            </a:r>
          </a:p>
        </p:txBody>
      </p:sp>
      <p:sp>
        <p:nvSpPr>
          <p:cNvPr id="12" name="Rounded Rectangle 11"/>
          <p:cNvSpPr/>
          <p:nvPr/>
        </p:nvSpPr>
        <p:spPr>
          <a:xfrm>
            <a:off x="6263640" y="4389119"/>
            <a:ext cx="5193792" cy="1024128"/>
          </a:xfrm>
          <a:prstGeom prst="roundRect">
            <a:avLst/>
          </a:prstGeom>
          <a:solidFill>
            <a:srgbClr val="FFFFFF"/>
          </a:solidFill>
          <a:ln w="1587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300" b="1">
                <a:solidFill>
                  <a:srgbClr val="A8432B"/>
                </a:solidFill>
                <a:latin typeface="Georgia"/>
              </a:defRPr>
            </a:pPr>
            <a:r>
              <a:t>✗ No Silent Overtime or Guilt</a:t>
            </a:r>
          </a:p>
          <a:p>
            <a:pPr>
              <a:lnSpc>
                <a:spcPct val="116000"/>
              </a:lnSpc>
              <a:defRPr sz="1100">
                <a:solidFill>
                  <a:srgbClr val="1A1D20"/>
                </a:solidFill>
                <a:latin typeface="Segoe UI"/>
              </a:defRPr>
            </a:pPr>
            <a:r>
              <a:t>Working late into the night is not a badge of honor. When the workday is done, close your laptop with peace of mind.</a:t>
            </a:r>
          </a:p>
        </p:txBody>
      </p:sp>
      <p:sp>
        <p:nvSpPr>
          <p:cNvPr id="13" name="Rounded Rectangle 12"/>
          <p:cNvSpPr/>
          <p:nvPr/>
        </p:nvSpPr>
        <p:spPr>
          <a:xfrm>
            <a:off x="6263640" y="5541263"/>
            <a:ext cx="5193792" cy="1024128"/>
          </a:xfrm>
          <a:prstGeom prst="roundRect">
            <a:avLst/>
          </a:prstGeom>
          <a:solidFill>
            <a:srgbClr val="FFFFFF"/>
          </a:solidFill>
          <a:ln w="15875">
            <a:solidFill>
              <a:srgbClr val="A8432B"/>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09728"/>
          <a:lstStyle/>
          <a:p>
            <a:pPr algn="ctr">
              <a:spcAft>
                <a:spcPts val="200"/>
              </a:spcAft>
              <a:defRPr sz="1300" b="1">
                <a:solidFill>
                  <a:srgbClr val="A8432B"/>
                </a:solidFill>
                <a:latin typeface="Georgia"/>
              </a:defRPr>
            </a:pPr>
            <a:r>
              <a:t>✗ No Holding Back Honest Thoughts</a:t>
            </a:r>
          </a:p>
          <a:p>
            <a:pPr>
              <a:lnSpc>
                <a:spcPct val="116000"/>
              </a:lnSpc>
              <a:defRPr sz="1100">
                <a:solidFill>
                  <a:srgbClr val="1A1D20"/>
                </a:solidFill>
                <a:latin typeface="Segoe UI"/>
              </a:defRPr>
            </a:pPr>
            <a:r>
              <a:t>We don't smile politely when something is broken. We speak up with kindness so that our learning materials stay top quality.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CARING ABOUT EXCELLENCE • TESTING WHAT WE MAKE</a:t>
            </a:r>
          </a:p>
          <a:p>
            <a:pPr>
              <a:spcAft>
                <a:spcPts val="300"/>
              </a:spcAft>
              <a:defRPr sz="2800" b="1">
                <a:solidFill>
                  <a:srgbClr val="1A1D20"/>
                </a:solidFill>
                <a:latin typeface="Georgia"/>
              </a:defRPr>
            </a:pPr>
            <a:r>
              <a:t>Keeping Quality High: 3 Simple Checks We Use</a:t>
            </a:r>
          </a:p>
          <a:p>
            <a:pPr>
              <a:defRPr sz="1300">
                <a:solidFill>
                  <a:srgbClr val="5F646E"/>
                </a:solidFill>
                <a:latin typeface="Segoe UI"/>
              </a:defRPr>
            </a:pPr>
            <a:r>
              <a:t>How we know our lessons are truly great without relying on a supervisor's subjective mood:</a:t>
            </a:r>
          </a:p>
        </p:txBody>
      </p:sp>
      <p:sp>
        <p:nvSpPr>
          <p:cNvPr id="4" name="Rounded Rectangle 3"/>
          <p:cNvSpPr/>
          <p:nvPr/>
        </p:nvSpPr>
        <p:spPr>
          <a:xfrm>
            <a:off x="731520" y="1600200"/>
            <a:ext cx="3364992" cy="397764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764792"/>
            <a:ext cx="2999232" cy="310896"/>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CHECK 01 • THE PEER EAR CHECK</a:t>
            </a:r>
          </a:p>
        </p:txBody>
      </p:sp>
      <p:sp>
        <p:nvSpPr>
          <p:cNvPr id="6" name="TextBox 5"/>
          <p:cNvSpPr txBox="1"/>
          <p:nvPr/>
        </p:nvSpPr>
        <p:spPr>
          <a:xfrm>
            <a:off x="914400" y="2167128"/>
            <a:ext cx="2999232" cy="3337560"/>
          </a:xfrm>
          <a:prstGeom prst="rect">
            <a:avLst/>
          </a:prstGeom>
          <a:noFill/>
        </p:spPr>
        <p:txBody>
          <a:bodyPr wrap="square" lIns="0" rIns="0" tIns="0" bIns="0">
            <a:spAutoFit/>
          </a:bodyPr>
          <a:lstStyle/>
          <a:p>
            <a:pPr>
              <a:spcAft>
                <a:spcPts val="800"/>
              </a:spcAft>
              <a:defRPr sz="1800" b="1">
                <a:solidFill>
                  <a:srgbClr val="1A1D20"/>
                </a:solidFill>
                <a:latin typeface="Georgia"/>
              </a:defRPr>
            </a:pPr>
            <a:r>
              <a:t>The Blind Ear Test</a:t>
            </a:r>
          </a:p>
          <a:p>
            <a:pPr>
              <a:lnSpc>
                <a:spcPct val="118000"/>
              </a:lnSpc>
              <a:spcAft>
                <a:spcPts val="800"/>
              </a:spcAft>
              <a:defRPr sz="1150">
                <a:solidFill>
                  <a:srgbClr val="5F646E"/>
                </a:solidFill>
                <a:latin typeface="Segoe UI"/>
              </a:defRPr>
            </a:pPr>
            <a:r>
              <a:t>How it works: Close your eyes and listen to your teammate's audio examples without looking at any text on screen.</a:t>
            </a:r>
          </a:p>
          <a:p>
            <a:pPr>
              <a:lnSpc>
                <a:spcPct val="118000"/>
              </a:lnSpc>
              <a:spcAft>
                <a:spcPts val="800"/>
              </a:spcAft>
              <a:defRPr sz="1150" b="1">
                <a:solidFill>
                  <a:srgbClr val="1E3A5F"/>
                </a:solidFill>
                <a:latin typeface="Segoe UI"/>
              </a:defRPr>
            </a:pPr>
            <a:r>
              <a:t>🎯 Clear Target: 10 out of 10 times, the words and sound contrast are immediately obvious and natural.</a:t>
            </a:r>
          </a:p>
          <a:p>
            <a:pPr>
              <a:lnSpc>
                <a:spcPct val="118000"/>
              </a:lnSpc>
              <a:defRPr sz="1100">
                <a:solidFill>
                  <a:srgbClr val="1A1D20"/>
                </a:solidFill>
                <a:latin typeface="Segoe UI"/>
              </a:defRPr>
            </a:pPr>
            <a:r>
              <a:t>Why it matters: If an experienced English teacher has to strain to hear the difference, a beginner language learner will definitely struggle.</a:t>
            </a:r>
          </a:p>
        </p:txBody>
      </p:sp>
      <p:sp>
        <p:nvSpPr>
          <p:cNvPr id="7" name="Rounded Rectangle 6"/>
          <p:cNvSpPr/>
          <p:nvPr/>
        </p:nvSpPr>
        <p:spPr>
          <a:xfrm>
            <a:off x="4407408" y="1600200"/>
            <a:ext cx="3364992" cy="3977640"/>
          </a:xfrm>
          <a:prstGeom prst="roundRect">
            <a:avLst/>
          </a:prstGeom>
          <a:solidFill>
            <a:srgbClr val="FFFFFF"/>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590288" y="1764792"/>
            <a:ext cx="2999232" cy="310896"/>
          </a:xfrm>
          <a:prstGeom prst="roundRect">
            <a:avLst/>
          </a:prstGeom>
          <a:solidFill>
            <a:srgbClr val="FEF3C7"/>
          </a:solidFill>
          <a:ln w="9525">
            <a:solidFill>
              <a:srgbClr val="B45309"/>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B45309"/>
                </a:solidFill>
                <a:latin typeface="Segoe UI"/>
              </a:defRPr>
            </a:pPr>
            <a:r>
              <a:t>CHECK 02 • THE VOICE TOOL CHECK</a:t>
            </a:r>
          </a:p>
        </p:txBody>
      </p:sp>
      <p:sp>
        <p:nvSpPr>
          <p:cNvPr id="9" name="TextBox 8"/>
          <p:cNvSpPr txBox="1"/>
          <p:nvPr/>
        </p:nvSpPr>
        <p:spPr>
          <a:xfrm>
            <a:off x="4590288" y="2167128"/>
            <a:ext cx="2999232" cy="3337560"/>
          </a:xfrm>
          <a:prstGeom prst="rect">
            <a:avLst/>
          </a:prstGeom>
          <a:noFill/>
        </p:spPr>
        <p:txBody>
          <a:bodyPr wrap="square" lIns="0" rIns="0" tIns="0" bIns="0">
            <a:spAutoFit/>
          </a:bodyPr>
          <a:lstStyle/>
          <a:p>
            <a:pPr>
              <a:spcAft>
                <a:spcPts val="800"/>
              </a:spcAft>
              <a:defRPr sz="1800" b="1">
                <a:solidFill>
                  <a:srgbClr val="1A1D20"/>
                </a:solidFill>
                <a:latin typeface="Georgia"/>
              </a:defRPr>
            </a:pPr>
            <a:r>
              <a:t>The Dictation Check</a:t>
            </a:r>
          </a:p>
          <a:p>
            <a:pPr>
              <a:lnSpc>
                <a:spcPct val="118000"/>
              </a:lnSpc>
              <a:spcAft>
                <a:spcPts val="800"/>
              </a:spcAft>
              <a:defRPr sz="1150">
                <a:solidFill>
                  <a:srgbClr val="5F646E"/>
                </a:solidFill>
                <a:latin typeface="Segoe UI"/>
              </a:defRPr>
            </a:pPr>
            <a:r>
              <a:t>How it works: Play the audio into your phone or laptop voice typing tool to see what it transcribes.</a:t>
            </a:r>
          </a:p>
          <a:p>
            <a:pPr>
              <a:lnSpc>
                <a:spcPct val="118000"/>
              </a:lnSpc>
              <a:spcAft>
                <a:spcPts val="800"/>
              </a:spcAft>
              <a:defRPr sz="1150" b="1">
                <a:solidFill>
                  <a:srgbClr val="B45309"/>
                </a:solidFill>
                <a:latin typeface="Segoe UI"/>
              </a:defRPr>
            </a:pPr>
            <a:r>
              <a:t>🎯 Clear Target: The voice tool recognizes the words immediately with correct pronunciation and pacing.</a:t>
            </a:r>
          </a:p>
          <a:p>
            <a:pPr>
              <a:lnSpc>
                <a:spcPct val="118000"/>
              </a:lnSpc>
              <a:defRPr sz="1100">
                <a:solidFill>
                  <a:srgbClr val="1A1D20"/>
                </a:solidFill>
                <a:latin typeface="Segoe UI"/>
              </a:defRPr>
            </a:pPr>
            <a:r>
              <a:t>Why it matters: Voice tools have no personal bias. If the app mishears the word, the audio sample needs more clarity.</a:t>
            </a:r>
          </a:p>
        </p:txBody>
      </p:sp>
      <p:sp>
        <p:nvSpPr>
          <p:cNvPr id="10" name="Rounded Rectangle 9"/>
          <p:cNvSpPr/>
          <p:nvPr/>
        </p:nvSpPr>
        <p:spPr>
          <a:xfrm>
            <a:off x="8083296" y="1600200"/>
            <a:ext cx="3364992" cy="3977640"/>
          </a:xfrm>
          <a:prstGeom prst="roundRect">
            <a:avLst/>
          </a:prstGeom>
          <a:solidFill>
            <a:srgbClr val="FFFFFF"/>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8266176" y="1764792"/>
            <a:ext cx="2999232" cy="310896"/>
          </a:xfrm>
          <a:prstGeom prst="roundRect">
            <a:avLst/>
          </a:prstGeom>
          <a:solidFill>
            <a:srgbClr val="ECFDF5"/>
          </a:solidFill>
          <a:ln w="9525">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CHECK 03 • THE REAL LEARNER CHECK</a:t>
            </a:r>
          </a:p>
        </p:txBody>
      </p:sp>
      <p:sp>
        <p:nvSpPr>
          <p:cNvPr id="12" name="TextBox 11"/>
          <p:cNvSpPr txBox="1"/>
          <p:nvPr/>
        </p:nvSpPr>
        <p:spPr>
          <a:xfrm>
            <a:off x="8266176" y="2167128"/>
            <a:ext cx="2999232" cy="3337560"/>
          </a:xfrm>
          <a:prstGeom prst="rect">
            <a:avLst/>
          </a:prstGeom>
          <a:noFill/>
        </p:spPr>
        <p:txBody>
          <a:bodyPr wrap="square" lIns="0" rIns="0" tIns="0" bIns="0">
            <a:spAutoFit/>
          </a:bodyPr>
          <a:lstStyle/>
          <a:p>
            <a:pPr>
              <a:spcAft>
                <a:spcPts val="800"/>
              </a:spcAft>
              <a:defRPr sz="1800" b="1">
                <a:solidFill>
                  <a:srgbClr val="1A1D20"/>
                </a:solidFill>
                <a:latin typeface="Georgia"/>
              </a:defRPr>
            </a:pPr>
            <a:r>
              <a:t>Testing with Students</a:t>
            </a:r>
          </a:p>
          <a:p>
            <a:pPr>
              <a:lnSpc>
                <a:spcPct val="118000"/>
              </a:lnSpc>
              <a:spcAft>
                <a:spcPts val="800"/>
              </a:spcAft>
              <a:defRPr sz="1150">
                <a:solidFill>
                  <a:srgbClr val="5F646E"/>
                </a:solidFill>
                <a:latin typeface="Segoe UI"/>
              </a:defRPr>
            </a:pPr>
            <a:r>
              <a:t>How it works: Share the activity with a real student and watch quietly without stepping in or explaining.</a:t>
            </a:r>
          </a:p>
          <a:p>
            <a:pPr>
              <a:lnSpc>
                <a:spcPct val="118000"/>
              </a:lnSpc>
              <a:spcAft>
                <a:spcPts val="800"/>
              </a:spcAft>
              <a:defRPr sz="1150" b="1">
                <a:solidFill>
                  <a:srgbClr val="166534"/>
                </a:solidFill>
                <a:latin typeface="Segoe UI"/>
              </a:defRPr>
            </a:pPr>
            <a:r>
              <a:t>🎯 Clear Target: The student understands the instructions easily and practices with a confident smile.</a:t>
            </a:r>
          </a:p>
          <a:p>
            <a:pPr>
              <a:lnSpc>
                <a:spcPct val="118000"/>
              </a:lnSpc>
              <a:defRPr sz="1100">
                <a:solidFill>
                  <a:srgbClr val="1A1D20"/>
                </a:solidFill>
                <a:latin typeface="Segoe UI"/>
              </a:defRPr>
            </a:pPr>
            <a:r>
              <a:t>Why it matters: Our golden rule: If the student struggles, it's not the student's fault—it just means we need to make the exercise simpler.</a:t>
            </a:r>
          </a:p>
        </p:txBody>
      </p:sp>
      <p:sp>
        <p:nvSpPr>
          <p:cNvPr id="13" name="Rounded Rectangle 12"/>
          <p:cNvSpPr/>
          <p:nvPr/>
        </p:nvSpPr>
        <p:spPr>
          <a:xfrm>
            <a:off x="731520" y="5715000"/>
            <a:ext cx="10728655" cy="658368"/>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73152" bIns="73152"/>
          <a:lstStyle/>
          <a:p>
            <a:pPr algn="ctr">
              <a:spcAft>
                <a:spcPts val="200"/>
              </a:spcAft>
              <a:defRPr sz="1100">
                <a:solidFill>
                  <a:srgbClr val="166534"/>
                </a:solidFill>
                <a:latin typeface="Segoe UI Semibold"/>
              </a:defRPr>
            </a:pPr>
            <a:r>
              <a:t>🎯 OUR TEAM CREED: Real student learning beats personal opinions every time.</a:t>
            </a:r>
          </a:p>
          <a:p>
            <a:pPr algn="ctr">
              <a:defRPr sz="1050">
                <a:solidFill>
                  <a:srgbClr val="5F646E"/>
                </a:solidFill>
                <a:latin typeface="Segoe UI"/>
              </a:defRPr>
            </a:pPr>
            <a:r>
              <a:t>When we let real student results be our guide, we stop arguing about personal preferences and unite around making great learning experiences.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20040"/>
            <a:ext cx="10728655" cy="1143000"/>
          </a:xfrm>
          <a:prstGeom prst="rect">
            <a:avLst/>
          </a:prstGeom>
          <a:noFill/>
        </p:spPr>
        <p:txBody>
          <a:bodyPr wrap="square" lIns="0" rIns="0" tIns="0" bIns="0">
            <a:spAutoFit/>
          </a:bodyPr>
          <a:lstStyle/>
          <a:p>
            <a:pPr>
              <a:spcAft>
                <a:spcPts val="200"/>
              </a:spcAft>
              <a:defRPr sz="1000" b="1">
                <a:solidFill>
                  <a:srgbClr val="A8432B"/>
                </a:solidFill>
                <a:latin typeface="Segoe UI"/>
              </a:defRPr>
            </a:pPr>
            <a:r>
              <a:t>LOOKING AHEAD • A HEALTHY TEAM RHYTHM</a:t>
            </a:r>
          </a:p>
          <a:p>
            <a:pPr>
              <a:spcAft>
                <a:spcPts val="300"/>
              </a:spcAft>
              <a:defRPr sz="2800" b="1">
                <a:solidFill>
                  <a:srgbClr val="1A1D20"/>
                </a:solidFill>
                <a:latin typeface="Georgia"/>
              </a:defRPr>
            </a:pPr>
            <a:r>
              <a:t>A Sustainable Rhythm for Month 2</a:t>
            </a:r>
          </a:p>
          <a:p>
            <a:pPr>
              <a:defRPr sz="1300">
                <a:solidFill>
                  <a:srgbClr val="5F646E"/>
                </a:solidFill>
                <a:latin typeface="Segoe UI"/>
              </a:defRPr>
            </a:pPr>
            <a:r>
              <a:t>How we work together, protect our energy, and make every week feel rewarding and balanced:</a:t>
            </a:r>
          </a:p>
        </p:txBody>
      </p:sp>
      <p:sp>
        <p:nvSpPr>
          <p:cNvPr id="4" name="Rounded Rectangle 3"/>
          <p:cNvSpPr/>
          <p:nvPr/>
        </p:nvSpPr>
        <p:spPr>
          <a:xfrm>
            <a:off x="731520" y="1600200"/>
            <a:ext cx="5193792" cy="3429000"/>
          </a:xfrm>
          <a:prstGeom prst="roundRect">
            <a:avLst/>
          </a:prstGeom>
          <a:solidFill>
            <a:srgbClr val="FFFFFF"/>
          </a:solidFill>
          <a:ln w="19050">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60120" y="1764792"/>
            <a:ext cx="3108960" cy="310896"/>
          </a:xfrm>
          <a:prstGeom prst="roundRect">
            <a:avLst/>
          </a:prstGeom>
          <a:solidFill>
            <a:srgbClr val="EEF2F6"/>
          </a:solidFill>
          <a:ln w="9525">
            <a:solidFill>
              <a:srgbClr val="1E3A5F"/>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E3A5F"/>
                </a:solidFill>
                <a:latin typeface="Segoe UI"/>
              </a:defRPr>
            </a:pPr>
            <a:r>
              <a:t>VALVE'S LESSON: SUSTAINABLE PACE</a:t>
            </a:r>
          </a:p>
        </p:txBody>
      </p:sp>
      <p:sp>
        <p:nvSpPr>
          <p:cNvPr id="6" name="TextBox 5"/>
          <p:cNvSpPr txBox="1"/>
          <p:nvPr/>
        </p:nvSpPr>
        <p:spPr>
          <a:xfrm>
            <a:off x="960120" y="2148840"/>
            <a:ext cx="3474720" cy="2743200"/>
          </a:xfrm>
          <a:prstGeom prst="rect">
            <a:avLst/>
          </a:prstGeom>
          <a:noFill/>
        </p:spPr>
        <p:txBody>
          <a:bodyPr wrap="square" lIns="0" rIns="0" tIns="0" bIns="0">
            <a:spAutoFit/>
          </a:bodyPr>
          <a:lstStyle/>
          <a:p>
            <a:pPr>
              <a:spcAft>
                <a:spcPts val="600"/>
              </a:spcAft>
              <a:defRPr sz="1900" b="1">
                <a:solidFill>
                  <a:srgbClr val="1A1D20"/>
                </a:solidFill>
                <a:latin typeface="Georgia"/>
              </a:defRPr>
            </a:pPr>
            <a:r>
              <a:t>Working Smart, Resting Well</a:t>
            </a:r>
          </a:p>
          <a:p>
            <a:pPr>
              <a:lnSpc>
                <a:spcPct val="116000"/>
              </a:lnSpc>
              <a:spcAft>
                <a:spcPts val="600"/>
              </a:spcAft>
              <a:defRPr sz="1050">
                <a:solidFill>
                  <a:srgbClr val="1A1D20"/>
                </a:solidFill>
                <a:latin typeface="Segoe UI Semibold"/>
              </a:defRPr>
            </a:pPr>
            <a:r>
              <a:t>• Monday to Thursday (Focused Teamwork): </a:t>
            </a:r>
            <a:r>
              <a:rPr sz="1000">
                <a:solidFill>
                  <a:srgbClr val="5F646E"/>
                </a:solidFill>
                <a:latin typeface="Segoe UI"/>
              </a:rPr>
              <a:t>Work together in small groups on core lessons. Four to five hours of real creative focus, then time to reflect.</a:t>
            </a:r>
          </a:p>
          <a:p>
            <a:pPr>
              <a:lnSpc>
                <a:spcPct val="116000"/>
              </a:lnSpc>
              <a:spcAft>
                <a:spcPts val="600"/>
              </a:spcAft>
              <a:defRPr sz="1050">
                <a:solidFill>
                  <a:srgbClr val="1A1D20"/>
                </a:solidFill>
                <a:latin typeface="Segoe UI Semibold"/>
              </a:defRPr>
            </a:pPr>
            <a:r>
              <a:t>• Friday (Quiet Focus &amp; Personal Time): </a:t>
            </a:r>
            <a:r>
              <a:rPr sz="1000">
                <a:solidFill>
                  <a:srgbClr val="5F646E"/>
                </a:solidFill>
                <a:latin typeface="Segoe UI"/>
              </a:rPr>
              <a:t>Zero meetings. Dedicated time for quiet reading, trying new tools, polishing your own drafts, or resting.</a:t>
            </a:r>
          </a:p>
          <a:p>
            <a:pPr>
              <a:lnSpc>
                <a:spcPct val="116000"/>
              </a:lnSpc>
              <a:defRPr sz="1050">
                <a:solidFill>
                  <a:srgbClr val="1A1D20"/>
                </a:solidFill>
                <a:latin typeface="Segoe UI Semibold"/>
              </a:defRPr>
            </a:pPr>
            <a:r>
              <a:t>• Evenings &amp; Weekends (True Downtime): </a:t>
            </a:r>
            <a:r>
              <a:rPr sz="1000">
                <a:solidFill>
                  <a:srgbClr val="5F646E"/>
                </a:solidFill>
                <a:latin typeface="Segoe UI"/>
              </a:rPr>
              <a:t>Notifications off. Rested minds make the best teachers and creative teammates.</a:t>
            </a:r>
          </a:p>
        </p:txBody>
      </p:sp>
      <p:pic>
        <p:nvPicPr>
          <p:cNvPr id="7" name="Picture 6" descr="birdwell_plate.jpg"/>
          <p:cNvPicPr>
            <a:picLocks noChangeAspect="1"/>
          </p:cNvPicPr>
          <p:nvPr/>
        </p:nvPicPr>
        <p:blipFill>
          <a:blip r:embed="rId2"/>
          <a:stretch>
            <a:fillRect/>
          </a:stretch>
        </p:blipFill>
        <p:spPr>
          <a:xfrm>
            <a:off x="4617720" y="2221992"/>
            <a:ext cx="1097280" cy="1371600"/>
          </a:xfrm>
          <a:prstGeom prst="rect">
            <a:avLst/>
          </a:prstGeom>
        </p:spPr>
      </p:pic>
      <p:sp>
        <p:nvSpPr>
          <p:cNvPr id="8" name="Rectangle 7"/>
          <p:cNvSpPr/>
          <p:nvPr/>
        </p:nvSpPr>
        <p:spPr>
          <a:xfrm>
            <a:off x="4617720" y="2221992"/>
            <a:ext cx="1097280" cy="1371600"/>
          </a:xfrm>
          <a:prstGeom prst="rect">
            <a:avLst/>
          </a:prstGeom>
          <a:no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26280" y="3666744"/>
            <a:ext cx="1280160" cy="1188720"/>
          </a:xfrm>
          <a:prstGeom prst="rect">
            <a:avLst/>
          </a:prstGeom>
          <a:noFill/>
        </p:spPr>
        <p:txBody>
          <a:bodyPr wrap="square" lIns="0" rIns="0" tIns="0" bIns="0">
            <a:spAutoFit/>
          </a:bodyPr>
          <a:lstStyle/>
          <a:p>
            <a:pPr algn="ctr">
              <a:defRPr sz="1200" b="1">
                <a:solidFill>
                  <a:srgbClr val="1A1D20"/>
                </a:solidFill>
                <a:latin typeface="Georgia"/>
              </a:defRPr>
            </a:pPr>
            <a:r>
              <a:t>Ken Birdwell</a:t>
            </a:r>
          </a:p>
          <a:p>
            <a:pPr algn="ctr">
              <a:spcAft>
                <a:spcPts val="200"/>
              </a:spcAft>
              <a:defRPr sz="900">
                <a:solidFill>
                  <a:srgbClr val="5F646E"/>
                </a:solidFill>
                <a:latin typeface="Segoe UI"/>
              </a:defRPr>
            </a:pPr>
            <a:r>
              <a:t>Valve Veteran</a:t>
            </a:r>
          </a:p>
          <a:p>
            <a:pPr algn="ctr">
              <a:defRPr sz="950" i="1">
                <a:solidFill>
                  <a:srgbClr val="1E3A5F"/>
                </a:solidFill>
                <a:latin typeface="Georgia"/>
              </a:defRPr>
            </a:pPr>
            <a:r>
              <a:t>“6 focused hours beats 60h grinding.”</a:t>
            </a:r>
          </a:p>
        </p:txBody>
      </p:sp>
      <p:sp>
        <p:nvSpPr>
          <p:cNvPr id="10" name="Rounded Rectangle 9"/>
          <p:cNvSpPr/>
          <p:nvPr/>
        </p:nvSpPr>
        <p:spPr>
          <a:xfrm>
            <a:off x="6263640" y="1600200"/>
            <a:ext cx="5193792" cy="3429000"/>
          </a:xfrm>
          <a:prstGeom prst="roundRect">
            <a:avLst/>
          </a:prstGeom>
          <a:solidFill>
            <a:srgbClr val="ECFDF5"/>
          </a:solidFill>
          <a:ln w="1905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92240" y="1764792"/>
            <a:ext cx="3108960" cy="310896"/>
          </a:xfrm>
          <a:prstGeom prst="roundRect">
            <a:avLst/>
          </a:prstGeom>
          <a:solidFill>
            <a:srgbClr val="FFFFFF"/>
          </a:solidFill>
          <a:ln w="12700">
            <a:solidFill>
              <a:srgbClr val="166534"/>
            </a:solid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defRPr sz="950" b="1">
                <a:solidFill>
                  <a:srgbClr val="166534"/>
                </a:solidFill>
                <a:latin typeface="Segoe UI"/>
              </a:defRPr>
            </a:pPr>
            <a:r>
              <a:t>OUR SHARED FOCUS FOR MONTH 2</a:t>
            </a:r>
          </a:p>
        </p:txBody>
      </p:sp>
      <p:sp>
        <p:nvSpPr>
          <p:cNvPr id="12" name="TextBox 11"/>
          <p:cNvSpPr txBox="1"/>
          <p:nvPr/>
        </p:nvSpPr>
        <p:spPr>
          <a:xfrm>
            <a:off x="6492240" y="2148840"/>
            <a:ext cx="4736592" cy="2743200"/>
          </a:xfrm>
          <a:prstGeom prst="rect">
            <a:avLst/>
          </a:prstGeom>
          <a:noFill/>
        </p:spPr>
        <p:txBody>
          <a:bodyPr wrap="square" lIns="0" rIns="0" tIns="0" bIns="0">
            <a:spAutoFit/>
          </a:bodyPr>
          <a:lstStyle/>
          <a:p>
            <a:pPr>
              <a:spcAft>
                <a:spcPts val="800"/>
              </a:spcAft>
              <a:defRPr sz="1900" b="1">
                <a:solidFill>
                  <a:srgbClr val="1A1D20"/>
                </a:solidFill>
                <a:latin typeface="Georgia"/>
              </a:defRPr>
            </a:pPr>
            <a:r>
              <a:t>Growing Together as a Team</a:t>
            </a:r>
          </a:p>
          <a:p>
            <a:pPr>
              <a:spcAft>
                <a:spcPts val="200"/>
              </a:spcAft>
              <a:defRPr sz="1200">
                <a:solidFill>
                  <a:srgbClr val="1A1D20"/>
                </a:solidFill>
                <a:latin typeface="Segoe UI Semibold"/>
              </a:defRPr>
            </a:pPr>
            <a:r>
              <a:t>🤝 1. Smooth Everyday Habits</a:t>
            </a:r>
          </a:p>
          <a:p>
            <a:pPr>
              <a:lnSpc>
                <a:spcPct val="116000"/>
              </a:lnSpc>
              <a:spcAft>
                <a:spcPts val="400"/>
              </a:spcAft>
              <a:defRPr sz="1100">
                <a:solidFill>
                  <a:srgbClr val="5F646E"/>
                </a:solidFill>
                <a:latin typeface="Segoe UI"/>
              </a:defRPr>
            </a:pPr>
            <a:r>
              <a:t>Get comfortable using the Advice Process, form small co-creation hubs, and celebrate our first shared wins.</a:t>
            </a:r>
          </a:p>
          <a:p>
            <a:pPr>
              <a:spcAft>
                <a:spcPts val="200"/>
              </a:spcAft>
              <a:defRPr sz="1200">
                <a:solidFill>
                  <a:srgbClr val="1A1D20"/>
                </a:solidFill>
                <a:latin typeface="Segoe UI Semibold"/>
              </a:defRPr>
            </a:pPr>
            <a:r>
              <a:t>🎧 2. Clear, Engaging Lessons</a:t>
            </a:r>
          </a:p>
          <a:p>
            <a:pPr>
              <a:lnSpc>
                <a:spcPct val="116000"/>
              </a:lnSpc>
              <a:spcAft>
                <a:spcPts val="400"/>
              </a:spcAft>
              <a:defRPr sz="1100">
                <a:solidFill>
                  <a:srgbClr val="5F646E"/>
                </a:solidFill>
                <a:latin typeface="Segoe UI"/>
              </a:defRPr>
            </a:pPr>
            <a:r>
              <a:t>Create lessons that students genuinely love, using our 3 simple quality checks to ensure clarity and warmth.</a:t>
            </a:r>
          </a:p>
          <a:p>
            <a:pPr>
              <a:spcAft>
                <a:spcPts val="200"/>
              </a:spcAft>
              <a:defRPr sz="1200">
                <a:solidFill>
                  <a:srgbClr val="1A1D20"/>
                </a:solidFill>
                <a:latin typeface="Segoe UI Semibold"/>
              </a:defRPr>
            </a:pPr>
            <a:r>
              <a:t>🌱 3. Culture of Caring Feedback</a:t>
            </a:r>
          </a:p>
          <a:p>
            <a:pPr>
              <a:lnSpc>
                <a:spcPct val="116000"/>
              </a:lnSpc>
              <a:defRPr sz="1100">
                <a:solidFill>
                  <a:srgbClr val="5F646E"/>
                </a:solidFill>
                <a:latin typeface="Segoe UI"/>
              </a:defRPr>
            </a:pPr>
            <a:r>
              <a:t>Build a team where everyone feels safe to give and receive kind, honest advice every single day.</a:t>
            </a:r>
          </a:p>
        </p:txBody>
      </p:sp>
      <p:sp>
        <p:nvSpPr>
          <p:cNvPr id="13" name="Rounded Rectangle 12"/>
          <p:cNvSpPr/>
          <p:nvPr/>
        </p:nvSpPr>
        <p:spPr>
          <a:xfrm>
            <a:off x="731520" y="5166360"/>
            <a:ext cx="10728655" cy="1325880"/>
          </a:xfrm>
          <a:prstGeom prst="roundRect">
            <a:avLst/>
          </a:prstGeom>
          <a:solidFill>
            <a:srgbClr val="F3EFE9"/>
          </a:solidFill>
          <a:ln w="12700">
            <a:solidFill>
              <a:srgbClr val="E2DDD6"/>
            </a:solidFill>
          </a:ln>
        </p:spPr>
        <p:style>
          <a:lnRef idx="1">
            <a:schemeClr val="accent1"/>
          </a:lnRef>
          <a:fillRef idx="3">
            <a:schemeClr val="accent1"/>
          </a:fillRef>
          <a:effectRef idx="2">
            <a:schemeClr val="accent1"/>
          </a:effectRef>
          <a:fontRef idx="minor">
            <a:schemeClr val="lt1"/>
          </a:fontRef>
        </p:style>
        <p:txBody>
          <a:bodyPr rtlCol="0" anchor="ctr" wrap="square" lIns="228600" rIns="228600" tIns="109728"/>
          <a:lstStyle/>
          <a:p>
            <a:pPr algn="ctr">
              <a:spcAft>
                <a:spcPts val="200"/>
              </a:spcAft>
              <a:defRPr sz="1050" b="1">
                <a:solidFill>
                  <a:srgbClr val="A8432B"/>
                </a:solidFill>
                <a:latin typeface="Segoe UI"/>
              </a:defRPr>
            </a:pPr>
            <a:r>
              <a:t>🚀 READY FOR MONTH 2: TOGETHER AS A TEAM</a:t>
            </a:r>
          </a:p>
          <a:p>
            <a:pPr algn="ctr">
              <a:spcAft>
                <a:spcPts val="300"/>
              </a:spcAft>
              <a:defRPr sz="1300" i="1" b="1">
                <a:solidFill>
                  <a:srgbClr val="1A1D20"/>
                </a:solidFill>
                <a:latin typeface="Georgia"/>
              </a:defRPr>
            </a:pPr>
            <a:r>
              <a:t>“We succeed by supporting each other, talking through challenges openly, and having fun building something meaningful.”</a:t>
            </a:r>
          </a:p>
          <a:p>
            <a:pPr algn="ctr">
              <a:defRPr sz="1100">
                <a:solidFill>
                  <a:srgbClr val="5F646E"/>
                </a:solidFill>
                <a:latin typeface="Segoe UI"/>
              </a:defRPr>
            </a:pPr>
            <a:r>
              <a:t>Let's make Month 2 our best month yet—working as true partners, with high trust, mutual care, and genuine pride in what we build.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