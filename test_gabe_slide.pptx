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FOUNDATIONAL PHILOSOPHY • THE ECONOMIC &amp; CREATIVE LOGIC</a:t>
            </a:r>
          </a:p>
          <a:p>
            <a:pPr>
              <a:spcAft>
                <a:spcPts val="300"/>
              </a:spcAft>
              <a:defRPr sz="2400" b="1">
                <a:solidFill>
                  <a:srgbClr val="1A1D20"/>
                </a:solidFill>
                <a:latin typeface="Georgia"/>
              </a:defRPr>
            </a:pPr>
            <a:r>
              <a:t>Gabe Newell's Ideology: Why Hierarchies Destroy Creative Value</a:t>
            </a:r>
          </a:p>
          <a:p>
            <a:pPr>
              <a:defRPr sz="1200">
                <a:solidFill>
                  <a:srgbClr val="5F646E"/>
                </a:solidFill>
                <a:latin typeface="Segoe UI"/>
              </a:defRPr>
            </a:pPr>
            <a:r>
              <a:t>From Ronald Coase's transaction costs to human leverage: why Valve eliminated bosses to unleash potential</a:t>
            </a:r>
          </a:p>
        </p:txBody>
      </p:sp>
      <p:sp>
        <p:nvSpPr>
          <p:cNvPr id="4" name="Rounded Rectangle 3"/>
          <p:cNvSpPr/>
          <p:nvPr/>
        </p:nvSpPr>
        <p:spPr>
          <a:xfrm>
            <a:off x="731520" y="1572768"/>
            <a:ext cx="3291840" cy="3977639"/>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96112" y="1700784"/>
            <a:ext cx="2962656" cy="256032"/>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A8432B"/>
                </a:solidFill>
                <a:latin typeface="Segoe UI"/>
              </a:defRPr>
            </a:pPr>
            <a:r>
              <a:t>✦ THE FOUNDER'S VISION &amp; LOGIC</a:t>
            </a:r>
          </a:p>
        </p:txBody>
      </p:sp>
      <p:pic>
        <p:nvPicPr>
          <p:cNvPr id="6" name="Picture 5" descr="gabe_newell_plate.png"/>
          <p:cNvPicPr>
            <a:picLocks noChangeAspect="1"/>
          </p:cNvPicPr>
          <p:nvPr/>
        </p:nvPicPr>
        <p:blipFill>
          <a:blip r:embed="rId2"/>
          <a:stretch>
            <a:fillRect/>
          </a:stretch>
        </p:blipFill>
        <p:spPr>
          <a:xfrm>
            <a:off x="1572768" y="2011680"/>
            <a:ext cx="1609344" cy="2011680"/>
          </a:xfrm>
          <a:prstGeom prst="rect">
            <a:avLst/>
          </a:prstGeom>
        </p:spPr>
      </p:pic>
      <p:sp>
        <p:nvSpPr>
          <p:cNvPr id="7" name="Rectangle 6"/>
          <p:cNvSpPr/>
          <p:nvPr/>
        </p:nvSpPr>
        <p:spPr>
          <a:xfrm>
            <a:off x="1572768" y="2011680"/>
            <a:ext cx="1609344" cy="201168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4059936"/>
            <a:ext cx="2962656" cy="384048"/>
          </a:xfrm>
          <a:prstGeom prst="rect">
            <a:avLst/>
          </a:prstGeom>
          <a:noFill/>
        </p:spPr>
        <p:txBody>
          <a:bodyPr wrap="square" lIns="0" rIns="0" tIns="0" bIns="0">
            <a:spAutoFit/>
          </a:bodyPr>
          <a:lstStyle/>
          <a:p>
            <a:pPr algn="ctr">
              <a:spcAft>
                <a:spcPts val="100"/>
              </a:spcAft>
              <a:defRPr sz="1450" b="1">
                <a:solidFill>
                  <a:srgbClr val="1A1D20"/>
                </a:solidFill>
                <a:latin typeface="Georgia"/>
              </a:defRPr>
            </a:pPr>
            <a:r>
              <a:t>Gabe Newell</a:t>
            </a:r>
          </a:p>
          <a:p>
            <a:pPr algn="ctr">
              <a:defRPr sz="850">
                <a:solidFill>
                  <a:srgbClr val="A8432B"/>
                </a:solidFill>
                <a:latin typeface="Segoe UI Semibold"/>
              </a:defRPr>
            </a:pPr>
            <a:r>
              <a:t>Co-Founder &amp; CEO • Valve Corporation</a:t>
            </a:r>
          </a:p>
        </p:txBody>
      </p:sp>
      <p:sp>
        <p:nvSpPr>
          <p:cNvPr id="9" name="Rounded Rectangle 8"/>
          <p:cNvSpPr/>
          <p:nvPr/>
        </p:nvSpPr>
        <p:spPr>
          <a:xfrm>
            <a:off x="877824" y="4480560"/>
            <a:ext cx="2999232" cy="941831"/>
          </a:xfrm>
          <a:prstGeom prst="roundRect">
            <a:avLst/>
          </a:prstGeom>
          <a:solidFill>
            <a:srgbClr val="F3EFE9"/>
          </a:solidFill>
          <a:ln w="9525">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lstStyle/>
          <a:p>
            <a:pPr algn="ctr">
              <a:lnSpc>
                <a:spcPct val="115000"/>
              </a:lnSpc>
              <a:spcAft>
                <a:spcPts val="200"/>
              </a:spcAft>
              <a:defRPr sz="825" i="1" b="1">
                <a:solidFill>
                  <a:srgbClr val="1A1D20"/>
                </a:solidFill>
                <a:latin typeface="Georgia"/>
              </a:defRPr>
            </a:pPr>
            <a:r>
              <a:t>“If you hire smart, creative people and then tell them what to do, you destroy most of their value. You want people who figure out what is valuable and just go do it.”</a:t>
            </a:r>
          </a:p>
          <a:p>
            <a:pPr>
              <a:defRPr sz="750">
                <a:solidFill>
                  <a:srgbClr val="A8432B"/>
                </a:solidFill>
                <a:latin typeface="Segoe UI Semibold"/>
              </a:defRPr>
            </a:pPr>
            <a:r>
              <a:t>— Gabe Newell (University of Texas &amp; Washington Post)</a:t>
            </a:r>
          </a:p>
        </p:txBody>
      </p:sp>
      <p:sp>
        <p:nvSpPr>
          <p:cNvPr id="10" name="Rounded Rectangle 9"/>
          <p:cNvSpPr/>
          <p:nvPr/>
        </p:nvSpPr>
        <p:spPr>
          <a:xfrm>
            <a:off x="4242816" y="1572768"/>
            <a:ext cx="7217359" cy="1252728"/>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682496"/>
            <a:ext cx="1965960" cy="237744"/>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1E3A5F"/>
                </a:solidFill>
                <a:latin typeface="Segoe UI"/>
              </a:defRPr>
            </a:pPr>
            <a:r>
              <a:t>01 • TRANSACTION COSTS</a:t>
            </a:r>
          </a:p>
        </p:txBody>
      </p:sp>
      <p:sp>
        <p:nvSpPr>
          <p:cNvPr id="12" name="TextBox 11"/>
          <p:cNvSpPr txBox="1"/>
          <p:nvPr/>
        </p:nvSpPr>
        <p:spPr>
          <a:xfrm>
            <a:off x="6483096" y="1664208"/>
            <a:ext cx="4849063" cy="256032"/>
          </a:xfrm>
          <a:prstGeom prst="rect">
            <a:avLst/>
          </a:prstGeom>
          <a:noFill/>
        </p:spPr>
        <p:txBody>
          <a:bodyPr wrap="square" lIns="0" rIns="0" tIns="0" bIns="0">
            <a:spAutoFit/>
          </a:bodyPr>
          <a:lstStyle/>
          <a:p>
            <a:pPr>
              <a:defRPr sz="1200" b="1">
                <a:solidFill>
                  <a:srgbClr val="1A1D20"/>
                </a:solidFill>
                <a:latin typeface="Georgia"/>
              </a:defRPr>
            </a:pPr>
            <a:r>
              <a:t>Why Traditional Hierarchies Break in Creative Work</a:t>
            </a:r>
          </a:p>
        </p:txBody>
      </p:sp>
      <p:sp>
        <p:nvSpPr>
          <p:cNvPr id="13" name="TextBox 12"/>
          <p:cNvSpPr txBox="1"/>
          <p:nvPr/>
        </p:nvSpPr>
        <p:spPr>
          <a:xfrm>
            <a:off x="4389120" y="1975104"/>
            <a:ext cx="6924751" cy="813816"/>
          </a:xfrm>
          <a:prstGeom prst="rect">
            <a:avLst/>
          </a:prstGeom>
          <a:noFill/>
        </p:spPr>
        <p:txBody>
          <a:bodyPr wrap="square" lIns="0" rIns="0" tIns="0" bIns="0">
            <a:spAutoFit/>
          </a:bodyPr>
          <a:lstStyle/>
          <a:p>
            <a:pPr>
              <a:lnSpc>
                <a:spcPct val="114000"/>
              </a:lnSpc>
              <a:spcAft>
                <a:spcPts val="250"/>
              </a:spcAft>
              <a:defRPr sz="900">
                <a:solidFill>
                  <a:srgbClr val="1E3A5F"/>
                </a:solidFill>
                <a:latin typeface="Segoe UI"/>
              </a:defRPr>
            </a:pPr>
            <a:r>
              <a:t>• </a:t>
            </a:r>
            <a:r>
              <a:rPr sz="950">
                <a:solidFill>
                  <a:srgbClr val="1A1D20"/>
                </a:solidFill>
                <a:latin typeface="Segoe UI Semibold"/>
              </a:rPr>
              <a:t>The Industrial Legacy: </a:t>
            </a:r>
            <a:r>
              <a:rPr sz="900">
                <a:solidFill>
                  <a:srgbClr val="5F646E"/>
                </a:solidFill>
                <a:latin typeface="Segoe UI"/>
              </a:rPr>
              <a:t>Ronald Coase showed firms exist to cut transaction costs. Hierarchies worked for factories, but in creative education, corporate managers actually introduce massive friction, red tape, and delay.</a:t>
            </a:r>
          </a:p>
          <a:p>
            <a:pPr>
              <a:lnSpc>
                <a:spcPct val="114000"/>
              </a:lnSpc>
              <a:spcAft>
                <a:spcPts val="250"/>
              </a:spcAft>
              <a:defRPr sz="900">
                <a:solidFill>
                  <a:srgbClr val="1E3A5F"/>
                </a:solidFill>
                <a:latin typeface="Segoe UI"/>
              </a:defRPr>
            </a:pPr>
            <a:r>
              <a:t>• </a:t>
            </a:r>
            <a:r>
              <a:rPr sz="950">
                <a:solidFill>
                  <a:srgbClr val="1A1D20"/>
                </a:solidFill>
                <a:latin typeface="Segoe UI Semibold"/>
              </a:rPr>
              <a:t>Zero Internal Friction: </a:t>
            </a:r>
            <a:r>
              <a:rPr sz="900">
                <a:solidFill>
                  <a:srgbClr val="5F646E"/>
                </a:solidFill>
                <a:latin typeface="Segoe UI"/>
              </a:rPr>
              <a:t>By eliminating middle management, Valve operates as an agile internal network. Ideas move at the speed of direct conversation without waiting weeks for supervisor approvals.</a:t>
            </a:r>
          </a:p>
        </p:txBody>
      </p:sp>
      <p:sp>
        <p:nvSpPr>
          <p:cNvPr id="14" name="Rounded Rectangle 13"/>
          <p:cNvSpPr/>
          <p:nvPr/>
        </p:nvSpPr>
        <p:spPr>
          <a:xfrm>
            <a:off x="4242816" y="2935224"/>
            <a:ext cx="7217359" cy="1252728"/>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89120" y="3044952"/>
            <a:ext cx="1783080" cy="237744"/>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A8432B"/>
                </a:solidFill>
                <a:latin typeface="Segoe UI"/>
              </a:defRPr>
            </a:pPr>
            <a:r>
              <a:t>02 • CREATIVE LEVERAGE</a:t>
            </a:r>
          </a:p>
        </p:txBody>
      </p:sp>
      <p:sp>
        <p:nvSpPr>
          <p:cNvPr id="16" name="TextBox 15"/>
          <p:cNvSpPr txBox="1"/>
          <p:nvPr/>
        </p:nvSpPr>
        <p:spPr>
          <a:xfrm>
            <a:off x="6300216" y="3026664"/>
            <a:ext cx="5031943" cy="256032"/>
          </a:xfrm>
          <a:prstGeom prst="rect">
            <a:avLst/>
          </a:prstGeom>
          <a:noFill/>
        </p:spPr>
        <p:txBody>
          <a:bodyPr wrap="square" lIns="0" rIns="0" tIns="0" bIns="0">
            <a:spAutoFit/>
          </a:bodyPr>
          <a:lstStyle/>
          <a:p>
            <a:pPr>
              <a:defRPr sz="1200" b="1">
                <a:solidFill>
                  <a:srgbClr val="1A1D20"/>
                </a:solidFill>
                <a:latin typeface="Georgia"/>
              </a:defRPr>
            </a:pPr>
            <a:r>
              <a:t>Autonomy Multiplies Creative Leverage Over Direct Orders</a:t>
            </a:r>
          </a:p>
        </p:txBody>
      </p:sp>
      <p:sp>
        <p:nvSpPr>
          <p:cNvPr id="17" name="TextBox 16"/>
          <p:cNvSpPr txBox="1"/>
          <p:nvPr/>
        </p:nvSpPr>
        <p:spPr>
          <a:xfrm>
            <a:off x="4389120" y="3337560"/>
            <a:ext cx="6924751" cy="813816"/>
          </a:xfrm>
          <a:prstGeom prst="rect">
            <a:avLst/>
          </a:prstGeom>
          <a:noFill/>
        </p:spPr>
        <p:txBody>
          <a:bodyPr wrap="square" lIns="0" rIns="0" tIns="0" bIns="0">
            <a:spAutoFit/>
          </a:bodyPr>
          <a:lstStyle/>
          <a:p>
            <a:pPr>
              <a:lnSpc>
                <a:spcPct val="114000"/>
              </a:lnSpc>
              <a:spcAft>
                <a:spcPts val="250"/>
              </a:spcAft>
              <a:defRPr sz="900">
                <a:solidFill>
                  <a:srgbClr val="A8432B"/>
                </a:solidFill>
                <a:latin typeface="Segoe UI"/>
              </a:defRPr>
            </a:pPr>
            <a:r>
              <a:t>• </a:t>
            </a:r>
            <a:r>
              <a:rPr sz="950">
                <a:solidFill>
                  <a:srgbClr val="1A1D20"/>
                </a:solidFill>
                <a:latin typeface="Segoe UI Semibold"/>
              </a:rPr>
              <a:t>The Management Bottleneck: </a:t>
            </a:r>
            <a:r>
              <a:rPr sz="900">
                <a:solidFill>
                  <a:srgbClr val="5F646E"/>
                </a:solidFill>
                <a:latin typeface="Segoe UI"/>
              </a:rPr>
              <a:t>When supervisors dictate daily tasks, educators can only produce what one manager imagines. Dictating tasks to masters caps their creative output at average execution.</a:t>
            </a:r>
          </a:p>
          <a:p>
            <a:pPr>
              <a:lnSpc>
                <a:spcPct val="114000"/>
              </a:lnSpc>
              <a:spcAft>
                <a:spcPts val="250"/>
              </a:spcAft>
              <a:defRPr sz="900">
                <a:solidFill>
                  <a:srgbClr val="A8432B"/>
                </a:solidFill>
                <a:latin typeface="Segoe UI"/>
              </a:defRPr>
            </a:pPr>
            <a:r>
              <a:t>• </a:t>
            </a:r>
            <a:r>
              <a:rPr sz="950">
                <a:solidFill>
                  <a:srgbClr val="1A1D20"/>
                </a:solidFill>
                <a:latin typeface="Segoe UI Semibold"/>
              </a:rPr>
              <a:t>Unlocking Full Leverage: </a:t>
            </a:r>
            <a:r>
              <a:rPr sz="900">
                <a:solidFill>
                  <a:srgbClr val="5F646E"/>
                </a:solidFill>
                <a:latin typeface="Segoe UI"/>
              </a:rPr>
              <a:t>When educators own their curriculum directly, their impact multiplies. They spot subtle student confusions, craft engaging pronunciation games, and take personal pride in every outcome.</a:t>
            </a:r>
          </a:p>
        </p:txBody>
      </p:sp>
      <p:sp>
        <p:nvSpPr>
          <p:cNvPr id="18" name="Rounded Rectangle 17"/>
          <p:cNvSpPr/>
          <p:nvPr/>
        </p:nvSpPr>
        <p:spPr>
          <a:xfrm>
            <a:off x="4242816" y="4297680"/>
            <a:ext cx="7217359" cy="1252728"/>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89120" y="4407408"/>
            <a:ext cx="1508760" cy="237744"/>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166534"/>
                </a:solidFill>
                <a:latin typeface="Segoe UI"/>
              </a:defRPr>
            </a:pPr>
            <a:r>
              <a:t>03 • LEARNER FIRST</a:t>
            </a:r>
          </a:p>
        </p:txBody>
      </p:sp>
      <p:sp>
        <p:nvSpPr>
          <p:cNvPr id="20" name="TextBox 19"/>
          <p:cNvSpPr txBox="1"/>
          <p:nvPr/>
        </p:nvSpPr>
        <p:spPr>
          <a:xfrm>
            <a:off x="6025896" y="4389120"/>
            <a:ext cx="5306263" cy="256032"/>
          </a:xfrm>
          <a:prstGeom prst="rect">
            <a:avLst/>
          </a:prstGeom>
          <a:noFill/>
        </p:spPr>
        <p:txBody>
          <a:bodyPr wrap="square" lIns="0" rIns="0" tIns="0" bIns="0">
            <a:spAutoFit/>
          </a:bodyPr>
          <a:lstStyle/>
          <a:p>
            <a:pPr>
              <a:defRPr sz="1200" b="1">
                <a:solidFill>
                  <a:srgbClr val="1A1D20"/>
                </a:solidFill>
                <a:latin typeface="Georgia"/>
              </a:defRPr>
            </a:pPr>
            <a:r>
              <a:t>Eliminating Office Politics to Focus 100% on the Student</a:t>
            </a:r>
          </a:p>
        </p:txBody>
      </p:sp>
      <p:sp>
        <p:nvSpPr>
          <p:cNvPr id="21" name="TextBox 20"/>
          <p:cNvSpPr txBox="1"/>
          <p:nvPr/>
        </p:nvSpPr>
        <p:spPr>
          <a:xfrm>
            <a:off x="4389120" y="4700016"/>
            <a:ext cx="6924751" cy="813816"/>
          </a:xfrm>
          <a:prstGeom prst="rect">
            <a:avLst/>
          </a:prstGeom>
          <a:noFill/>
        </p:spPr>
        <p:txBody>
          <a:bodyPr wrap="square" lIns="0" rIns="0" tIns="0" bIns="0">
            <a:spAutoFit/>
          </a:bodyPr>
          <a:lstStyle/>
          <a:p>
            <a:pPr>
              <a:lnSpc>
                <a:spcPct val="114000"/>
              </a:lnSpc>
              <a:spcAft>
                <a:spcPts val="250"/>
              </a:spcAft>
              <a:defRPr sz="900">
                <a:solidFill>
                  <a:srgbClr val="166534"/>
                </a:solidFill>
                <a:latin typeface="Segoe UI"/>
              </a:defRPr>
            </a:pPr>
            <a:r>
              <a:t>• </a:t>
            </a:r>
            <a:r>
              <a:rPr sz="950">
                <a:solidFill>
                  <a:srgbClr val="1A1D20"/>
                </a:solidFill>
                <a:latin typeface="Segoe UI Semibold"/>
              </a:rPr>
              <a:t>Ending 'Managing Up': </a:t>
            </a:r>
            <a:r>
              <a:rPr sz="900">
                <a:solidFill>
                  <a:srgbClr val="5F646E"/>
                </a:solidFill>
                <a:latin typeface="Segoe UI"/>
              </a:rPr>
              <a:t>In corporate ladders, people waste half their mental energy managing impressions and pleasing bosses. Without managers, internal politics and defensive turf wars evaporate.</a:t>
            </a:r>
          </a:p>
          <a:p>
            <a:pPr>
              <a:lnSpc>
                <a:spcPct val="114000"/>
              </a:lnSpc>
              <a:spcAft>
                <a:spcPts val="250"/>
              </a:spcAft>
              <a:defRPr sz="900">
                <a:solidFill>
                  <a:srgbClr val="166534"/>
                </a:solidFill>
                <a:latin typeface="Segoe UI"/>
              </a:defRPr>
            </a:pPr>
            <a:r>
              <a:t>• </a:t>
            </a:r>
            <a:r>
              <a:rPr sz="950">
                <a:solidFill>
                  <a:srgbClr val="1A1D20"/>
                </a:solidFill>
                <a:latin typeface="Segoe UI Semibold"/>
              </a:rPr>
              <a:t>One True North Star: </a:t>
            </a:r>
            <a:r>
              <a:rPr sz="900">
                <a:solidFill>
                  <a:srgbClr val="5F646E"/>
                </a:solidFill>
                <a:latin typeface="Segoe UI"/>
              </a:rPr>
              <a:t>100% of energy is directed outward: “Does this genuinely help students learn?” When the learner is the only judge, quality remains uncompromising and transparent.</a:t>
            </a:r>
          </a:p>
        </p:txBody>
      </p:sp>
      <p:sp>
        <p:nvSpPr>
          <p:cNvPr id="22" name="Rounded Rectangle 21"/>
          <p:cNvSpPr/>
          <p:nvPr/>
        </p:nvSpPr>
        <p:spPr>
          <a:xfrm>
            <a:off x="731520" y="5669280"/>
            <a:ext cx="10728655" cy="822960"/>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73152"/>
          <a:lstStyle/>
          <a:p>
            <a:pPr algn="ctr">
              <a:spcAft>
                <a:spcPts val="200"/>
              </a:spcAft>
              <a:defRPr sz="1000" b="1">
                <a:solidFill>
                  <a:srgbClr val="A8432B"/>
                </a:solidFill>
                <a:latin typeface="Segoe UI"/>
              </a:defRPr>
            </a:pPr>
            <a:r>
              <a:t>💡 HOW GABE'S FOUNDING LOGIC EMPOWERS OUR TEACHING TEAM</a:t>
            </a:r>
          </a:p>
          <a:p>
            <a:pPr algn="ctr">
              <a:defRPr sz="1100" i="1" b="1">
                <a:solidFill>
                  <a:srgbClr val="1A1D20"/>
                </a:solidFill>
                <a:latin typeface="Georgia"/>
              </a:defRPr>
            </a:pPr>
            <a:r>
              <a:t>“We aren't making software, but educational design is deeply creative knowledge work. You don't need an administrator's permission slip to make a lesson better. When we trust each other as equals, our students get the very best curriculum.”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