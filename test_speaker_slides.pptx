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A8432B"/>
                </a:solidFill>
                <a:latin typeface="Segoe UI"/>
              </a:defRPr>
            </a:pPr>
            <a:r>
              <a:t>ORGANIZATIONAL SOCIOLOGY • HISTORICAL PITFALLS</a:t>
            </a:r>
          </a:p>
          <a:p>
            <a:pPr>
              <a:spcAft>
                <a:spcPts val="300"/>
              </a:spcAft>
              <a:defRPr sz="2800" b="1">
                <a:solidFill>
                  <a:srgbClr val="1A1D20"/>
                </a:solidFill>
                <a:latin typeface="Georgia"/>
              </a:defRPr>
            </a:pPr>
            <a:r>
              <a:t>The Documented Traps: What We Guard Against</a:t>
            </a:r>
          </a:p>
          <a:p>
            <a:pPr>
              <a:defRPr sz="1300">
                <a:solidFill>
                  <a:srgbClr val="5F646E"/>
                </a:solidFill>
                <a:latin typeface="Segoe UI"/>
              </a:defRPr>
            </a:pPr>
            <a:r>
              <a:t>Drawing from 50 years of organizational literature to engineer explicit cultural defenses: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6499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46504"/>
            <a:ext cx="2999232" cy="274320"/>
          </a:xfrm>
          <a:prstGeom prst="roundRect">
            <a:avLst/>
          </a:prstGeom>
          <a:solidFill>
            <a:srgbClr val="FDF2F0"/>
          </a:solidFill>
          <a:ln w="9525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A8432B"/>
                </a:solidFill>
                <a:latin typeface="Segoe UI"/>
              </a:defRPr>
            </a:pPr>
            <a:r>
              <a:t>⚠️ TRAP 01 • FREEMAN (1972) &amp; ELLSWORTH</a:t>
            </a:r>
          </a:p>
        </p:txBody>
      </p:sp>
      <p:pic>
        <p:nvPicPr>
          <p:cNvPr id="6" name="Picture 5" descr="freeman_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93976"/>
            <a:ext cx="914400" cy="1143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2093976"/>
            <a:ext cx="914400" cy="114300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057400"/>
            <a:ext cx="199339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D20"/>
                </a:solidFill>
                <a:latin typeface="Georgia"/>
              </a:defRPr>
            </a:pPr>
            <a:r>
              <a:t>Shadow Barons</a:t>
            </a:r>
          </a:p>
          <a:p>
            <a:pPr>
              <a:spcAft>
                <a:spcPts val="300"/>
              </a:spcAft>
              <a:defRPr sz="1000">
                <a:solidFill>
                  <a:srgbClr val="B45309"/>
                </a:solidFill>
                <a:latin typeface="Segoe UI Semibold"/>
              </a:defRPr>
            </a:pPr>
            <a:r>
              <a:t>⚠️ The Tyranny of Structurelessness</a:t>
            </a:r>
          </a:p>
          <a:p>
            <a:pPr>
              <a:defRPr sz="900">
                <a:solidFill>
                  <a:srgbClr val="5F646E"/>
                </a:solidFill>
                <a:latin typeface="Segoe UI"/>
              </a:defRPr>
            </a:pPr>
            <a:r>
              <a:t>Jo Freeman • Author (1972)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999232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A8432B"/>
                </a:solidFill>
                <a:latin typeface="Segoe UI"/>
              </a:defRPr>
            </a:pPr>
            <a:r>
              <a:t>THE THREAT: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5F646E"/>
                </a:solidFill>
                <a:latin typeface="Segoe UI"/>
              </a:defRPr>
            </a:pPr>
            <a:r>
              <a:t>Removing formal hierarchy does NOT abolish power; it merely pushes power underground into unaccountable social cliques, popularity contests, and hallway whisper networks.</a:t>
            </a:r>
          </a:p>
          <a:p>
            <a:pPr>
              <a:spcAft>
                <a:spcPts val="1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OUR ENGINEERED DEFENSE: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>
                <a:solidFill>
                  <a:srgbClr val="1A1D20"/>
                </a:solidFill>
                <a:latin typeface="Segoe UI"/>
              </a:defRPr>
            </a:pPr>
            <a:r>
              <a:t>Explicit Democratic Structuring &amp; The Advice Process: All major curriculum decisions are logged openly in the living Bible. Technical merit and empirical data override social seniority.</a:t>
            </a:r>
          </a:p>
          <a:p>
            <a:pPr>
              <a:lnSpc>
                <a:spcPct val="115000"/>
              </a:lnSpc>
              <a:defRPr i="1" sz="1050">
                <a:solidFill>
                  <a:srgbClr val="A8432B"/>
                </a:solidFill>
                <a:latin typeface="Georgia"/>
              </a:defRPr>
            </a:pPr>
            <a:r>
              <a:t>“Cliques form in the dark; radical transparency keeps Flatland flat.”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6499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0288" y="1746504"/>
            <a:ext cx="2999232" cy="274320"/>
          </a:xfrm>
          <a:prstGeom prst="roundRect">
            <a:avLst/>
          </a:prstGeom>
          <a:solidFill>
            <a:srgbClr val="FDF2F0"/>
          </a:solidFill>
          <a:ln w="9525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A8432B"/>
                </a:solidFill>
                <a:latin typeface="Segoe UI"/>
              </a:defRPr>
            </a:pPr>
            <a:r>
              <a:t>⚠️ TRAP 02 • VALVE HANDBOOK &amp; WEIER</a:t>
            </a:r>
          </a:p>
        </p:txBody>
      </p:sp>
      <p:pic>
        <p:nvPicPr>
          <p:cNvPr id="12" name="Picture 11" descr="weier_pl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093976"/>
            <a:ext cx="914400" cy="1143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90288" y="2093976"/>
            <a:ext cx="914400" cy="114300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057400"/>
            <a:ext cx="199339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D20"/>
                </a:solidFill>
                <a:latin typeface="Georgia"/>
              </a:defRPr>
            </a:pPr>
            <a:r>
              <a:t>Phantom Crunch</a:t>
            </a:r>
          </a:p>
          <a:p>
            <a:pPr>
              <a:spcAft>
                <a:spcPts val="300"/>
              </a:spcAft>
              <a:defRPr sz="1000">
                <a:solidFill>
                  <a:srgbClr val="B45309"/>
                </a:solidFill>
                <a:latin typeface="Segoe UI Semibold"/>
              </a:defRPr>
            </a:pPr>
            <a:r>
              <a:t>⚠️ Guilt-Driven Overtime</a:t>
            </a:r>
          </a:p>
          <a:p>
            <a:pPr>
              <a:defRPr sz="900">
                <a:solidFill>
                  <a:srgbClr val="5F646E"/>
                </a:solidFill>
                <a:latin typeface="Segoe UI"/>
              </a:defRPr>
            </a:pPr>
            <a:r>
              <a:t>Josh Weier • Valve Project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337560"/>
            <a:ext cx="2999232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A8432B"/>
                </a:solidFill>
                <a:latin typeface="Segoe UI"/>
              </a:defRPr>
            </a:pPr>
            <a:r>
              <a:t>THE THREAT: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5F646E"/>
                </a:solidFill>
                <a:latin typeface="Segoe UI"/>
              </a:defRPr>
            </a:pPr>
            <a:r>
              <a:t>Without managers setting explicit boundaries, dedicated professionals work until 2 AM out of unspoken guilt. The Valve Handbook explicitly warned that overtime is a failure in planning.</a:t>
            </a:r>
          </a:p>
          <a:p>
            <a:pPr>
              <a:spcAft>
                <a:spcPts val="1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OUR ENGINEERED DEFENSE: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>
                <a:solidFill>
                  <a:srgbClr val="1A1D20"/>
                </a:solidFill>
                <a:latin typeface="Segoe UI"/>
              </a:defRPr>
            </a:pPr>
            <a:r>
              <a:t>The Sustainable Cadence: 6 hours/day of deep collaborative focus, 4 days/week. The 5th day is 100% protected for solo drafting, quiet tool testing, and rest. Zero late-night messaging.</a:t>
            </a:r>
          </a:p>
          <a:p>
            <a:pPr>
              <a:lnSpc>
                <a:spcPct val="115000"/>
              </a:lnSpc>
              <a:defRPr i="1" sz="1050">
                <a:solidFill>
                  <a:srgbClr val="A8432B"/>
                </a:solidFill>
                <a:latin typeface="Georgia"/>
              </a:defRPr>
            </a:pPr>
            <a:r>
              <a:t>“Crunch means our predictions failed, not that we are heroes.”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00200"/>
            <a:ext cx="336499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6176" y="1746504"/>
            <a:ext cx="2999232" cy="274320"/>
          </a:xfrm>
          <a:prstGeom prst="roundRect">
            <a:avLst/>
          </a:prstGeom>
          <a:solidFill>
            <a:srgbClr val="FDF2F0"/>
          </a:solidFill>
          <a:ln w="9525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A8432B"/>
                </a:solidFill>
                <a:latin typeface="Segoe UI"/>
              </a:defRPr>
            </a:pPr>
            <a:r>
              <a:t>⚠️ TRAP 03 • RICH GELDREICH (2015) &amp; VALVE</a:t>
            </a:r>
          </a:p>
        </p:txBody>
      </p:sp>
      <p:pic>
        <p:nvPicPr>
          <p:cNvPr id="18" name="Picture 17" descr="geldreich_pl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093976"/>
            <a:ext cx="914400" cy="1143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266176" y="2093976"/>
            <a:ext cx="914400" cy="114300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2057400"/>
            <a:ext cx="199339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A1D20"/>
                </a:solidFill>
                <a:latin typeface="Georgia"/>
              </a:defRPr>
            </a:pPr>
            <a:r>
              <a:t>Stack Ranking</a:t>
            </a:r>
          </a:p>
          <a:p>
            <a:pPr>
              <a:spcAft>
                <a:spcPts val="300"/>
              </a:spcAft>
              <a:defRPr sz="1000">
                <a:solidFill>
                  <a:srgbClr val="B45309"/>
                </a:solidFill>
                <a:latin typeface="Segoe UI Semibold"/>
              </a:defRPr>
            </a:pPr>
            <a:r>
              <a:t>⚠️ The Peer Grading Trap</a:t>
            </a:r>
          </a:p>
          <a:p>
            <a:pPr>
              <a:defRPr sz="900">
                <a:solidFill>
                  <a:srgbClr val="5F646E"/>
                </a:solidFill>
                <a:latin typeface="Segoe UI"/>
              </a:defRPr>
            </a:pPr>
            <a:r>
              <a:t>Rich Geldreich • Valve Software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337560"/>
            <a:ext cx="2999232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A8432B"/>
                </a:solidFill>
                <a:latin typeface="Segoe UI"/>
              </a:defRPr>
            </a:pPr>
            <a:r>
              <a:t>THE THREAT: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5F646E"/>
                </a:solidFill>
                <a:latin typeface="Segoe UI"/>
              </a:defRPr>
            </a:pPr>
            <a:r>
              <a:t>Valve ranked peers against each other for compensation, unintentionally breeding cutthroat politics, risk aversion, and fear of challenging popular veterans with bold innovations.</a:t>
            </a:r>
          </a:p>
          <a:p>
            <a:pPr>
              <a:spcAft>
                <a:spcPts val="1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OUR ENGINEERED DEFENSE: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>
                <a:solidFill>
                  <a:srgbClr val="1A1D20"/>
                </a:solidFill>
                <a:latin typeface="Segoe UI"/>
              </a:defRPr>
            </a:pPr>
            <a:r>
              <a:t>Shared Objective Outcomes: 100% alignment around student pronunciation mastery. Zero internal stack ranking, zero peer competition for fixed bonus pools. All incentives share student success.</a:t>
            </a:r>
          </a:p>
          <a:p>
            <a:pPr>
              <a:lnSpc>
                <a:spcPct val="115000"/>
              </a:lnSpc>
              <a:defRPr i="1" sz="1050">
                <a:solidFill>
                  <a:srgbClr val="A8432B"/>
                </a:solidFill>
                <a:latin typeface="Georgia"/>
              </a:defRPr>
            </a:pPr>
            <a:r>
              <a:t>“Never turn colleagues into rivals for a fixed reward pool.”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A8432B"/>
                </a:solidFill>
                <a:latin typeface="Segoe UI"/>
              </a:defRPr>
            </a:pPr>
            <a:r>
              <a:t>VETERAN WISDOM • PRIMARY SOURCE INTERVIEWS</a:t>
            </a:r>
          </a:p>
          <a:p>
            <a:pPr>
              <a:spcAft>
                <a:spcPts val="300"/>
              </a:spcAft>
              <a:defRPr sz="2800" b="1">
                <a:solidFill>
                  <a:srgbClr val="1A1D20"/>
                </a:solidFill>
                <a:latin typeface="Georgia"/>
              </a:defRPr>
            </a:pPr>
            <a:r>
              <a:t>Voices from Flatland: The Valve Veteran Cadre</a:t>
            </a:r>
          </a:p>
          <a:p>
            <a:pPr>
              <a:defRPr sz="1300">
                <a:solidFill>
                  <a:srgbClr val="5F646E"/>
                </a:solidFill>
                <a:latin typeface="Segoe UI"/>
              </a:defRPr>
            </a:pPr>
            <a:r>
              <a:t>Direct wisdom from the creators of Half-Life, Portal, Left 4 Dead, and Team Fortress 2 on autonomy and craft: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1728216"/>
            <a:ext cx="2249424" cy="274320"/>
          </a:xfrm>
          <a:prstGeom prst="roundRect">
            <a:avLst/>
          </a:prstGeom>
          <a:solidFill>
            <a:srgbClr val="FDF2F0"/>
          </a:solidFill>
          <a:ln w="9525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A8432B"/>
                </a:solidFill>
                <a:latin typeface="Segoe UI"/>
              </a:defRPr>
            </a:pPr>
            <a:r>
              <a:t>✦ WRITING &amp; PROTOTYPES</a:t>
            </a:r>
          </a:p>
        </p:txBody>
      </p:sp>
      <p:pic>
        <p:nvPicPr>
          <p:cNvPr id="6" name="Picture 5" descr="chet_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057400"/>
            <a:ext cx="1463040" cy="1828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34440" y="2057400"/>
            <a:ext cx="1463040" cy="182880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959352"/>
            <a:ext cx="2212848" cy="2395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Chet Faliszek</a:t>
            </a:r>
          </a:p>
          <a:p>
            <a:pPr algn="ctr">
              <a:spcAft>
                <a:spcPts val="500"/>
              </a:spcAft>
              <a:defRPr sz="850">
                <a:solidFill>
                  <a:srgbClr val="A8432B"/>
                </a:solidFill>
                <a:latin typeface="Segoe UI"/>
              </a:defRPr>
            </a:pPr>
            <a:r>
              <a:t>Writer &amp; VR Lead • Left 4 Dead, Portal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i="1" sz="950">
                <a:solidFill>
                  <a:srgbClr val="1A1D20"/>
                </a:solidFill>
                <a:latin typeface="Georgia"/>
              </a:defRPr>
            </a:pPr>
            <a:r>
              <a:t>“Nobody tells you what to do. You see a problem, you go fix it. The people who thrive are the ones who don't wait for permission — they build the prototype and let data speak.”</a:t>
            </a:r>
          </a:p>
          <a:p>
            <a:pPr>
              <a:spcAft>
                <a:spcPts val="100"/>
              </a:spcAft>
              <a:defRPr sz="850" b="1">
                <a:solidFill>
                  <a:srgbClr val="A8432B"/>
                </a:solidFill>
                <a:latin typeface="Segoe UI"/>
              </a:defRPr>
            </a:pPr>
            <a:r>
              <a:t>✦ R&amp;D APPLICATION: ZERO-PERMISSION BIAS</a:t>
            </a:r>
          </a:p>
          <a:p>
            <a:pPr>
              <a:lnSpc>
                <a:spcPct val="112000"/>
              </a:lnSpc>
              <a:defRPr sz="900">
                <a:solidFill>
                  <a:srgbClr val="5F646E"/>
                </a:solidFill>
                <a:latin typeface="Segoe UI"/>
              </a:defRPr>
            </a:pPr>
            <a:r>
              <a:t>Don't write proposals for vowel drills — build the prototype in 2 hours and test it directly with students.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6002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93592" y="1728216"/>
            <a:ext cx="2249424" cy="274320"/>
          </a:xfrm>
          <a:prstGeom prst="roundRect">
            <a:avLst/>
          </a:prstGeom>
          <a:solidFill>
            <a:srgbClr val="EEF2F6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1E3A5F"/>
                </a:solidFill>
                <a:latin typeface="Segoe UI"/>
              </a:defRPr>
            </a:pPr>
            <a:r>
              <a:t>✦ PROJECT LEADERSHIP</a:t>
            </a:r>
          </a:p>
        </p:txBody>
      </p:sp>
      <p:pic>
        <p:nvPicPr>
          <p:cNvPr id="11" name="Picture 10" descr="weier_pl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057400"/>
            <a:ext cx="146304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986784" y="2057400"/>
            <a:ext cx="1463040" cy="182880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959352"/>
            <a:ext cx="2212848" cy="2395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Josh Weier</a:t>
            </a:r>
          </a:p>
          <a:p>
            <a:pPr algn="ctr">
              <a:spcAft>
                <a:spcPts val="500"/>
              </a:spcAft>
              <a:defRPr sz="850">
                <a:solidFill>
                  <a:srgbClr val="1E3A5F"/>
                </a:solidFill>
                <a:latin typeface="Segoe UI"/>
              </a:defRPr>
            </a:pPr>
            <a:r>
              <a:t>Project Lead • Portal 2, Half-Life 2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i="1" sz="950">
                <a:solidFill>
                  <a:srgbClr val="1A1D20"/>
                </a:solidFill>
                <a:latin typeface="Georgia"/>
              </a:defRPr>
            </a:pPr>
            <a:r>
              <a:t>“At Valve, if you're working until 2 AM, nobody thinks you're a hero. They think the process failed. Sustainable creative teams guard their focus, recharge, and sleep.”</a:t>
            </a:r>
          </a:p>
          <a:p>
            <a:pPr>
              <a:spcAft>
                <a:spcPts val="100"/>
              </a:spcAft>
              <a:defRPr sz="850" b="1">
                <a:solidFill>
                  <a:srgbClr val="1E3A5F"/>
                </a:solidFill>
                <a:latin typeface="Segoe UI"/>
              </a:defRPr>
            </a:pPr>
            <a:r>
              <a:t>✦ R&amp;D APPLICATION: SUSTAINABLE PACE</a:t>
            </a:r>
          </a:p>
          <a:p>
            <a:pPr>
              <a:lnSpc>
                <a:spcPct val="112000"/>
              </a:lnSpc>
              <a:defRPr sz="900">
                <a:solidFill>
                  <a:srgbClr val="5F646E"/>
                </a:solidFill>
                <a:latin typeface="Segoe UI"/>
              </a:defRPr>
            </a:pPr>
            <a:r>
              <a:t>6 hours of deep Cabal collaboration beats 60 hours of isolated, exhausted grinding. Guard the 5th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6002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5936" y="1728216"/>
            <a:ext cx="2249424" cy="27432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B45309"/>
                </a:solidFill>
                <a:latin typeface="Segoe UI"/>
              </a:defRPr>
            </a:pPr>
            <a:r>
              <a:t>✦ AUDIO &amp; CABAL LOOPS</a:t>
            </a:r>
          </a:p>
        </p:txBody>
      </p:sp>
      <p:pic>
        <p:nvPicPr>
          <p:cNvPr id="16" name="Picture 15" descr="morasky_pl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2057400"/>
            <a:ext cx="1463040" cy="18288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739128" y="2057400"/>
            <a:ext cx="1463040" cy="182880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959352"/>
            <a:ext cx="2212848" cy="2395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Mike Morasky</a:t>
            </a:r>
          </a:p>
          <a:p>
            <a:pPr algn="ctr">
              <a:spcAft>
                <a:spcPts val="500"/>
              </a:spcAft>
              <a:defRPr sz="850">
                <a:solidFill>
                  <a:srgbClr val="B45309"/>
                </a:solidFill>
                <a:latin typeface="Segoe UI"/>
              </a:defRPr>
            </a:pPr>
            <a:r>
              <a:t>Audio Director • Portal 2, TF2, HL: Alyx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i="1" sz="950">
                <a:solidFill>
                  <a:srgbClr val="1A1D20"/>
                </a:solidFill>
                <a:latin typeface="Georgia"/>
              </a:defRPr>
            </a:pPr>
            <a:r>
              <a:t>“The Cabal wasn't a meeting. It was sitting in the same room where audio, design, and code fed into each other every 10 seconds. You don't write music in a silo — you compose as it plays.”</a:t>
            </a:r>
          </a:p>
          <a:p>
            <a:pPr>
              <a:spcAft>
                <a:spcPts val="100"/>
              </a:spcAft>
              <a:defRPr sz="850" b="1">
                <a:solidFill>
                  <a:srgbClr val="B45309"/>
                </a:solidFill>
                <a:latin typeface="Segoe UI"/>
              </a:defRPr>
            </a:pPr>
            <a:r>
              <a:t>✦ R&amp;D APPLICATION: CLOSED-LOOP AUDIO</a:t>
            </a:r>
          </a:p>
          <a:p>
            <a:pPr>
              <a:lnSpc>
                <a:spcPct val="112000"/>
              </a:lnSpc>
              <a:defRPr sz="900">
                <a:solidFill>
                  <a:srgbClr val="5F646E"/>
                </a:solidFill>
                <a:latin typeface="Segoe UI"/>
              </a:defRPr>
            </a:pPr>
            <a:r>
              <a:t>Synthesize Kokoro phonemes in 2 minutes right alongside the curriculum designer at the shared workbench.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6002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280" y="1728216"/>
            <a:ext cx="2249424" cy="27432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✦ PLAYTEST &amp; GAMEPLAY</a:t>
            </a:r>
          </a:p>
        </p:txBody>
      </p:sp>
      <p:pic>
        <p:nvPicPr>
          <p:cNvPr id="21" name="Picture 20" descr="wolpaw_pla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2057400"/>
            <a:ext cx="1463040" cy="1828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491472" y="2057400"/>
            <a:ext cx="1463040" cy="182880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8" y="3959352"/>
            <a:ext cx="2212848" cy="2395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Erik Wolpaw</a:t>
            </a:r>
          </a:p>
          <a:p>
            <a:pPr algn="ctr">
              <a:spcAft>
                <a:spcPts val="500"/>
              </a:spcAft>
              <a:defRPr sz="850">
                <a:solidFill>
                  <a:srgbClr val="166534"/>
                </a:solidFill>
                <a:latin typeface="Segoe UI"/>
              </a:defRPr>
            </a:pPr>
            <a:r>
              <a:t>Lead Writer • Portal 1 &amp; 2, Psychonauts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i="1" sz="950">
                <a:solidFill>
                  <a:srgbClr val="1A1D20"/>
                </a:solidFill>
                <a:latin typeface="Georgia"/>
              </a:defRPr>
            </a:pPr>
            <a:r>
              <a:t>“Writing for games is about leaving your ego at the door. You write dialogue, watch a playtester in silence, and if it slows them down or confuses them, you cut it on the spot.”</a:t>
            </a:r>
          </a:p>
          <a:p>
            <a:pPr>
              <a:spcAft>
                <a:spcPts val="100"/>
              </a:spcAft>
              <a:defRPr sz="850" b="1">
                <a:solidFill>
                  <a:srgbClr val="166534"/>
                </a:solidFill>
                <a:latin typeface="Segoe UI"/>
              </a:defRPr>
            </a:pPr>
            <a:r>
              <a:t>✦ R&amp;D APPLICATION: EGO-FREE ITERATION</a:t>
            </a:r>
          </a:p>
          <a:p>
            <a:pPr>
              <a:lnSpc>
                <a:spcPct val="112000"/>
              </a:lnSpc>
              <a:defRPr sz="900">
                <a:solidFill>
                  <a:srgbClr val="5F646E"/>
                </a:solidFill>
                <a:latin typeface="Segoe UI"/>
              </a:defRPr>
            </a:pPr>
            <a:r>
              <a:t>If a pronunciation drill line confuses the learner, cut it immediately without defensiveness.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A8432B"/>
                </a:solidFill>
                <a:latin typeface="Segoe UI"/>
              </a:defRPr>
            </a:pPr>
            <a:r>
              <a:t>DECISION ARCHITECTURE • DENNIS BAKKE &amp; FRÉDÉRIC LALOUX</a:t>
            </a:r>
          </a:p>
          <a:p>
            <a:pPr>
              <a:spcAft>
                <a:spcPts val="300"/>
              </a:spcAft>
              <a:defRPr sz="2800" b="1">
                <a:solidFill>
                  <a:srgbClr val="1A1D20"/>
                </a:solidFill>
                <a:latin typeface="Georgia"/>
              </a:defRPr>
            </a:pPr>
            <a:r>
              <a:t>Decision Architecture: The 5-Stage Advice Process</a:t>
            </a:r>
          </a:p>
          <a:p>
            <a:pPr>
              <a:defRPr sz="1300">
                <a:solidFill>
                  <a:srgbClr val="5F646E"/>
                </a:solidFill>
                <a:latin typeface="Segoe UI"/>
              </a:defRPr>
            </a:pPr>
            <a:r>
              <a:t>How any autonomous educator drives high-stakes decisions without supervisory orders or consensus paralysis: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99339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28216"/>
            <a:ext cx="1810512" cy="292608"/>
          </a:xfrm>
          <a:prstGeom prst="roundRect">
            <a:avLst/>
          </a:prstGeom>
          <a:solidFill>
            <a:srgbClr val="EEF2F6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E3A5F"/>
                </a:solidFill>
                <a:latin typeface="Segoe UI"/>
              </a:defRPr>
            </a:pPr>
            <a:r>
              <a:t>STAGE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93976"/>
            <a:ext cx="1773936" cy="3300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Spot Friction</a:t>
            </a:r>
          </a:p>
          <a:p>
            <a:pPr>
              <a:spcAft>
                <a:spcPts val="600"/>
              </a:spcAft>
              <a:defRPr sz="1050">
                <a:solidFill>
                  <a:srgbClr val="1E3A5F"/>
                </a:solidFill>
                <a:latin typeface="Segoe UI Semibold"/>
              </a:defRPr>
            </a:pPr>
            <a:r>
              <a:t>✦ The Initiator Steps Up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>
                <a:solidFill>
                  <a:srgbClr val="5F646E"/>
                </a:solidFill>
                <a:latin typeface="Segoe UI"/>
              </a:defRPr>
            </a:pPr>
            <a:r>
              <a:t>You notice a confusing pronunciation rubric, unnatural audio cadence, or tool bottleneck.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 b="1">
                <a:solidFill>
                  <a:srgbClr val="1A1D20"/>
                </a:solidFill>
                <a:latin typeface="Segoe UI"/>
              </a:defRPr>
            </a:pPr>
            <a:r>
              <a:t>Initiative Rule: The person who spots the friction owns driving the fix.</a:t>
            </a:r>
          </a:p>
          <a:p>
            <a:pPr>
              <a:defRPr i="1" sz="1050">
                <a:solidFill>
                  <a:srgbClr val="1E3A5F"/>
                </a:solidFill>
                <a:latin typeface="Georgia"/>
              </a:defRPr>
            </a:pPr>
            <a:r>
              <a:t>“Never wait for someone else to log a ticket.”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61488" y="3429000"/>
            <a:ext cx="109728" cy="182880"/>
          </a:xfrm>
          <a:prstGeom prst="rightArrow">
            <a:avLst/>
          </a:prstGeom>
          <a:solidFill>
            <a:srgbClr val="CD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07792" y="1600200"/>
            <a:ext cx="199339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99232" y="1728216"/>
            <a:ext cx="1810512" cy="292608"/>
          </a:xfrm>
          <a:prstGeom prst="roundRect">
            <a:avLst/>
          </a:prstGeom>
          <a:solidFill>
            <a:srgbClr val="EEF2F6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E3A5F"/>
                </a:solidFill>
                <a:latin typeface="Segoe UI"/>
              </a:defRPr>
            </a:pPr>
            <a:r>
              <a:t>STAGE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93976"/>
            <a:ext cx="1773936" cy="3300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Prototype</a:t>
            </a:r>
          </a:p>
          <a:p>
            <a:pPr>
              <a:spcAft>
                <a:spcPts val="600"/>
              </a:spcAft>
              <a:defRPr sz="1050">
                <a:solidFill>
                  <a:srgbClr val="1E3A5F"/>
                </a:solidFill>
                <a:latin typeface="Segoe UI Semibold"/>
              </a:defRPr>
            </a:pPr>
            <a:r>
              <a:t>✦ Tangible Draft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>
                <a:solidFill>
                  <a:srgbClr val="5F646E"/>
                </a:solidFill>
                <a:latin typeface="Segoe UI"/>
              </a:defRPr>
            </a:pPr>
            <a:r>
              <a:t>Draft a 1-page spec or generate a 20-second Kokoro audio sample before calling meetings.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 b="1">
                <a:solidFill>
                  <a:srgbClr val="1A1D20"/>
                </a:solidFill>
                <a:latin typeface="Segoe UI"/>
              </a:defRPr>
            </a:pPr>
            <a:r>
              <a:t>Prototype Rule: No abstract philosophical debates without a tangible draft.</a:t>
            </a:r>
          </a:p>
          <a:p>
            <a:pPr>
              <a:defRPr i="1" sz="1050">
                <a:solidFill>
                  <a:srgbClr val="1E3A5F"/>
                </a:solidFill>
                <a:latin typeface="Georgia"/>
              </a:defRPr>
            </a:pPr>
            <a:r>
              <a:t>“Discussions without prototypes breed debate.”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37760" y="3429000"/>
            <a:ext cx="109728" cy="182880"/>
          </a:xfrm>
          <a:prstGeom prst="rightArrow">
            <a:avLst/>
          </a:prstGeom>
          <a:solidFill>
            <a:srgbClr val="CD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84064" y="1600200"/>
            <a:ext cx="199339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4" y="1728216"/>
            <a:ext cx="1810512" cy="292608"/>
          </a:xfrm>
          <a:prstGeom prst="roundRect">
            <a:avLst/>
          </a:prstGeom>
          <a:solidFill>
            <a:srgbClr val="FDF2F0"/>
          </a:solidFill>
          <a:ln w="9525">
            <a:solidFill>
              <a:srgbClr val="A8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A8432B"/>
                </a:solidFill>
                <a:latin typeface="Segoe UI"/>
              </a:defRPr>
            </a:pPr>
            <a:r>
              <a:t>STAGE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093976"/>
            <a:ext cx="1773936" cy="3300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Seek Advice</a:t>
            </a:r>
          </a:p>
          <a:p>
            <a:pPr>
              <a:spcAft>
                <a:spcPts val="600"/>
              </a:spcAft>
              <a:defRPr sz="1050">
                <a:solidFill>
                  <a:srgbClr val="A8432B"/>
                </a:solidFill>
                <a:latin typeface="Segoe UI Semibold"/>
              </a:defRPr>
            </a:pPr>
            <a:r>
              <a:t>✦ MANDATORY GATE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>
                <a:solidFill>
                  <a:srgbClr val="5F646E"/>
                </a:solidFill>
                <a:latin typeface="Segoe UI"/>
              </a:defRPr>
            </a:pPr>
            <a:r>
              <a:t>Consult 2 parties:</a:t>
            </a:r>
            <a:br/>
            <a:r>
              <a:t>1. Affected Peers</a:t>
            </a:r>
            <a:br/>
            <a:r>
              <a:t>2. Domain Specialists (phoneticians, audio leads).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 b="1">
                <a:solidFill>
                  <a:srgbClr val="1A1D20"/>
                </a:solidFill>
                <a:latin typeface="Segoe UI"/>
              </a:defRPr>
            </a:pPr>
            <a:r>
              <a:t>⚠️ Iron Gate: Advice is counsel, NOT a veto! No consensus required.</a:t>
            </a:r>
          </a:p>
          <a:p>
            <a:pPr>
              <a:defRPr i="1" sz="1050">
                <a:solidFill>
                  <a:srgbClr val="A8432B"/>
                </a:solidFill>
                <a:latin typeface="Georgia"/>
              </a:defRPr>
            </a:pPr>
            <a:r>
              <a:t>“You must seek advice; you do NOT need agreement.”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14032" y="3429000"/>
            <a:ext cx="109728" cy="182880"/>
          </a:xfrm>
          <a:prstGeom prst="rightArrow">
            <a:avLst/>
          </a:prstGeom>
          <a:solidFill>
            <a:srgbClr val="CD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0336" y="1600200"/>
            <a:ext cx="199339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51776" y="1728216"/>
            <a:ext cx="1810512" cy="292608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66534"/>
                </a:solidFill>
                <a:latin typeface="Segoe UI"/>
              </a:defRPr>
            </a:pPr>
            <a:r>
              <a:t>STAGE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093976"/>
            <a:ext cx="1773936" cy="3300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Decide &amp; Ship</a:t>
            </a:r>
          </a:p>
          <a:p>
            <a:pPr>
              <a:spcAft>
                <a:spcPts val="600"/>
              </a:spcAft>
              <a:defRPr sz="1050">
                <a:solidFill>
                  <a:srgbClr val="166534"/>
                </a:solidFill>
                <a:latin typeface="Segoe UI Semibold"/>
              </a:defRPr>
            </a:pPr>
            <a:r>
              <a:t>✦ Sole Ownership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>
                <a:solidFill>
                  <a:srgbClr val="5F646E"/>
                </a:solidFill>
                <a:latin typeface="Segoe UI"/>
              </a:defRPr>
            </a:pPr>
            <a:r>
              <a:t>Weigh all feedback, integrate valid peer insights, and decide yourself.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 b="1">
                <a:solidFill>
                  <a:srgbClr val="1A1D20"/>
                </a:solidFill>
                <a:latin typeface="Segoe UI"/>
              </a:defRPr>
            </a:pPr>
            <a:r>
              <a:t>Ownership Rule: You do not ask permission. You pull the trigger.</a:t>
            </a:r>
          </a:p>
          <a:p>
            <a:pPr>
              <a:defRPr i="1" sz="1050">
                <a:solidFill>
                  <a:srgbClr val="166534"/>
                </a:solidFill>
                <a:latin typeface="Georgia"/>
              </a:defRPr>
            </a:pPr>
            <a:r>
              <a:t>“Total ownership of both victory and failure.”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90304" y="3429000"/>
            <a:ext cx="109728" cy="182880"/>
          </a:xfrm>
          <a:prstGeom prst="rightArrow">
            <a:avLst/>
          </a:prstGeom>
          <a:solidFill>
            <a:srgbClr val="CD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36608" y="1600200"/>
            <a:ext cx="1993392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28048" y="1728216"/>
            <a:ext cx="1810512" cy="292608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66534"/>
                </a:solidFill>
                <a:latin typeface="Segoe UI"/>
              </a:defRPr>
            </a:pPr>
            <a:r>
              <a:t>STAGE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2093976"/>
            <a:ext cx="1773936" cy="3300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A1D20"/>
                </a:solidFill>
                <a:latin typeface="Georgia"/>
              </a:defRPr>
            </a:pPr>
            <a:r>
              <a:t>Inform &amp; Audit</a:t>
            </a:r>
          </a:p>
          <a:p>
            <a:pPr>
              <a:spcAft>
                <a:spcPts val="600"/>
              </a:spcAft>
              <a:defRPr sz="1050">
                <a:solidFill>
                  <a:srgbClr val="166534"/>
                </a:solidFill>
                <a:latin typeface="Segoe UI Semibold"/>
              </a:defRPr>
            </a:pPr>
            <a:r>
              <a:t>✦ Radical Transparency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>
                <a:solidFill>
                  <a:srgbClr val="5F646E"/>
                </a:solidFill>
                <a:latin typeface="Segoe UI"/>
              </a:defRPr>
            </a:pPr>
            <a:r>
              <a:t>Broadcast the decision openly in the shared Bible and publish real learner playtest data.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50" b="1">
                <a:solidFill>
                  <a:srgbClr val="1A1D20"/>
                </a:solidFill>
                <a:latin typeface="Segoe UI"/>
              </a:defRPr>
            </a:pPr>
            <a:r>
              <a:t>Audit Rule: Real learner data replaces bureaucratic supervision.</a:t>
            </a:r>
          </a:p>
          <a:p>
            <a:pPr>
              <a:defRPr i="1" sz="1050">
                <a:solidFill>
                  <a:srgbClr val="166534"/>
                </a:solidFill>
                <a:latin typeface="Georgia"/>
              </a:defRPr>
            </a:pPr>
            <a:r>
              <a:t>“If it fails, revert openly. Transparency is safety.”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96128"/>
            <a:ext cx="10728655" cy="987552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aloux_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78424"/>
            <a:ext cx="658368" cy="8229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68680" y="5678424"/>
            <a:ext cx="658368" cy="82296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5669280"/>
            <a:ext cx="96926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66534"/>
                </a:solidFill>
                <a:latin typeface="Segoe UI"/>
              </a:defRPr>
            </a:pPr>
            <a:r>
              <a:t>⚡ FRÉDÉRIC LALOUX • AUTHOR, REINVENTING ORGANIZATIONS</a:t>
            </a:r>
          </a:p>
          <a:p>
            <a:pPr>
              <a:spcAft>
                <a:spcPts val="200"/>
              </a:spcAft>
              <a:defRPr sz="1100" i="1" b="1">
                <a:solidFill>
                  <a:srgbClr val="1A1D20"/>
                </a:solidFill>
                <a:latin typeface="Georgia"/>
              </a:defRPr>
            </a:pPr>
            <a:r>
              <a:t>“Anyone can make any decision, provided they seek advice from experts and those affected. Advice is NOT permission — ownership stays 100% with the decision-maker.”</a:t>
            </a:r>
          </a:p>
          <a:p>
            <a:pPr>
              <a:defRPr sz="1000">
                <a:solidFill>
                  <a:srgbClr val="5F646E"/>
                </a:solidFill>
                <a:latin typeface="Segoe UI"/>
              </a:defRPr>
            </a:pPr>
            <a:r>
              <a:t>Peer consultation replaces bureaucratic approval gates. Data and student playtest outcomes override administrative seniority.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A8432B"/>
                </a:solidFill>
                <a:latin typeface="Segoe UI"/>
              </a:defRPr>
            </a:pPr>
            <a:r>
              <a:t>SUSTAINABLE CADENCE • PHASE 2 LAUNCH</a:t>
            </a:r>
          </a:p>
          <a:p>
            <a:pPr>
              <a:spcAft>
                <a:spcPts val="300"/>
              </a:spcAft>
              <a:defRPr sz="2800" b="1">
                <a:solidFill>
                  <a:srgbClr val="1A1D20"/>
                </a:solidFill>
                <a:latin typeface="Georgia"/>
              </a:defRPr>
            </a:pPr>
            <a:r>
              <a:t>Sustainable Cadence: Launching Phase 2</a:t>
            </a:r>
          </a:p>
          <a:p>
            <a:pPr>
              <a:defRPr sz="1300">
                <a:solidFill>
                  <a:srgbClr val="5F646E"/>
                </a:solidFill>
                <a:latin typeface="Segoe UI"/>
              </a:defRPr>
            </a:pPr>
            <a:r>
              <a:t>The 4-day collaborative rhythm, the protected 5th day, and our 12-week production horizon: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93792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764792"/>
            <a:ext cx="3108960" cy="310896"/>
          </a:xfrm>
          <a:prstGeom prst="roundRect">
            <a:avLst/>
          </a:prstGeom>
          <a:solidFill>
            <a:srgbClr val="EEF2F6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E3A5F"/>
                </a:solidFill>
                <a:latin typeface="Segoe UI"/>
              </a:defRPr>
            </a:pPr>
            <a:r>
              <a:t>THE KEN BIRDWELL CADENCE (VALVE 1999)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3474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A1D20"/>
                </a:solidFill>
                <a:latin typeface="Georgia"/>
              </a:defRPr>
            </a:pPr>
            <a:r>
              <a:t>High Velocity, Zero Burnout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>
                <a:solidFill>
                  <a:srgbClr val="1A1D20"/>
                </a:solidFill>
                <a:latin typeface="Segoe UI Semibold"/>
              </a:defRPr>
            </a:pPr>
            <a:r>
              <a:t>• Monday to Thursday (10 AM – 5 PM): </a:t>
            </a:r>
            <a:r>
              <a:rPr sz="1050">
                <a:solidFill>
                  <a:srgbClr val="5F646E"/>
                </a:solidFill>
                <a:latin typeface="Segoe UI"/>
              </a:rPr>
              <a:t>6 hours/day of deep collaborative synthesis at the shared Cabal bench (1h lunch). High-density co-creation.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>
                <a:solidFill>
                  <a:srgbClr val="1A1D20"/>
                </a:solidFill>
                <a:latin typeface="Segoe UI Semibold"/>
              </a:defRPr>
            </a:pPr>
            <a:r>
              <a:t>• Friday (100% Protected Deep Work): </a:t>
            </a:r>
            <a:r>
              <a:rPr sz="1050">
                <a:solidFill>
                  <a:srgbClr val="5F646E"/>
                </a:solidFill>
                <a:latin typeface="Segoe UI"/>
              </a:rPr>
              <a:t>Strictly reserved for solo drafting, quiet tool testing, and mental recovery. Zero meetings.</a:t>
            </a:r>
          </a:p>
          <a:p>
            <a:pPr>
              <a:lnSpc>
                <a:spcPct val="118000"/>
              </a:lnSpc>
              <a:defRPr sz="1100">
                <a:solidFill>
                  <a:srgbClr val="1A1D20"/>
                </a:solidFill>
                <a:latin typeface="Segoe UI Semibold"/>
              </a:defRPr>
            </a:pPr>
            <a:r>
              <a:t>• Evenings &amp; Weekends (Zero Messaging): </a:t>
            </a:r>
            <a:r>
              <a:rPr sz="1050">
                <a:solidFill>
                  <a:srgbClr val="5F646E"/>
                </a:solidFill>
                <a:latin typeface="Segoe UI"/>
              </a:rPr>
              <a:t>Overtime is recognized as a planning failure, never celebrated as heroism.</a:t>
            </a:r>
          </a:p>
        </p:txBody>
      </p:sp>
      <p:pic>
        <p:nvPicPr>
          <p:cNvPr id="7" name="Picture 6" descr="birdwell_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21992"/>
            <a:ext cx="1097280" cy="1371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17720" y="2221992"/>
            <a:ext cx="1097280" cy="1371600"/>
          </a:xfrm>
          <a:prstGeom prst="rect">
            <a:avLst/>
          </a:prstGeom>
          <a:noFill/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666744"/>
            <a:ext cx="1280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D20"/>
                </a:solidFill>
                <a:latin typeface="Georgia"/>
              </a:defRPr>
            </a:pPr>
            <a:r>
              <a:t>Ken Birdwell</a:t>
            </a:r>
          </a:p>
          <a:p>
            <a:pPr algn="ctr">
              <a:spcAft>
                <a:spcPts val="200"/>
              </a:spcAft>
              <a:defRPr sz="900">
                <a:solidFill>
                  <a:srgbClr val="5F646E"/>
                </a:solidFill>
                <a:latin typeface="Segoe UI"/>
              </a:defRPr>
            </a:pPr>
            <a:r>
              <a:t>Author, The Cabal (1999)</a:t>
            </a:r>
          </a:p>
          <a:p>
            <a:pPr algn="ctr">
              <a:defRPr sz="950" i="1">
                <a:solidFill>
                  <a:srgbClr val="1E3A5F"/>
                </a:solidFill>
                <a:latin typeface="Georgia"/>
              </a:defRPr>
            </a:pPr>
            <a:r>
              <a:t>“6 focused hours beats 60h grinding.”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93792" cy="3429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764792"/>
            <a:ext cx="31089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66534"/>
                </a:solidFill>
                <a:latin typeface="Segoe UI"/>
              </a:defRPr>
            </a:pPr>
            <a:r>
              <a:t>THE 12-WEEK PRODUCTION HORIZON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73659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D20"/>
                </a:solidFill>
                <a:latin typeface="Georgia"/>
              </a:defRPr>
            </a:pPr>
            <a:r>
              <a:t>50 Empirically Validated Modules</a:t>
            </a:r>
          </a:p>
          <a:p>
            <a:pPr>
              <a:spcAft>
                <a:spcPts val="100"/>
              </a:spcAft>
              <a:defRPr sz="1200">
                <a:solidFill>
                  <a:srgbClr val="1A1D20"/>
                </a:solidFill>
                <a:latin typeface="Segoe UI Semibold"/>
              </a:defRPr>
            </a:pPr>
            <a:r>
              <a:t>🚀 Sprint 1 (Weeks 1–4): Vowels 01–20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5F646E"/>
                </a:solidFill>
                <a:latin typeface="Segoe UI"/>
              </a:defRPr>
            </a:pPr>
            <a:r>
              <a:t>Articulatory mouth tension, minimal pair listening games, and AI audio calibration. Week 5: Alpha Gate (20 ESL learners).</a:t>
            </a:r>
          </a:p>
          <a:p>
            <a:pPr>
              <a:spcAft>
                <a:spcPts val="100"/>
              </a:spcAft>
              <a:defRPr sz="1200">
                <a:solidFill>
                  <a:srgbClr val="1A1D20"/>
                </a:solidFill>
                <a:latin typeface="Segoe UI Semibold"/>
              </a:defRPr>
            </a:pPr>
            <a:r>
              <a:t>🚀 Sprint 2 (Weeks 6–9): Consonants 21–40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>
                <a:solidFill>
                  <a:srgbClr val="5F646E"/>
                </a:solidFill>
                <a:latin typeface="Segoe UI"/>
              </a:defRPr>
            </a:pPr>
            <a:r>
              <a:t>Aspiration, voiced vs. unvoiced stops, and consonant clusters. Week 10: Beta Gate (50 ESL learners under automated STT).</a:t>
            </a:r>
          </a:p>
          <a:p>
            <a:pPr>
              <a:spcAft>
                <a:spcPts val="100"/>
              </a:spcAft>
              <a:defRPr sz="1200">
                <a:solidFill>
                  <a:srgbClr val="1A1D20"/>
                </a:solidFill>
                <a:latin typeface="Segoe UI Semibold"/>
              </a:defRPr>
            </a:pPr>
            <a:r>
              <a:t>🚀 Sprint 3 (Weeks 11–12): Prosody 41–50</a:t>
            </a:r>
          </a:p>
          <a:p>
            <a:pPr>
              <a:lnSpc>
                <a:spcPct val="115000"/>
              </a:lnSpc>
              <a:defRPr sz="1050">
                <a:solidFill>
                  <a:srgbClr val="5F646E"/>
                </a:solidFill>
                <a:latin typeface="Segoe UI"/>
              </a:defRPr>
            </a:pPr>
            <a:r>
              <a:t>Sentence rhythm, tonic syllables, and communicative pitch contour integration.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728655" cy="1325880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A8432B"/>
                </a:solidFill>
                <a:latin typeface="Segoe UI"/>
              </a:defRPr>
            </a:pPr>
            <a:r>
              <a:t>🚀 PHASE 2 PRODUCTION COMMENCES TODAY</a:t>
            </a:r>
          </a:p>
          <a:p>
            <a:pPr algn="ctr">
              <a:spcAft>
                <a:spcPts val="200"/>
              </a:spcAft>
              <a:defRPr sz="1300" i="1" b="1">
                <a:solidFill>
                  <a:srgbClr val="1A1D20"/>
                </a:solidFill>
                <a:latin typeface="Georgia"/>
              </a:defRPr>
            </a:pPr>
            <a:r>
              <a:t>“We lead by serving, clearing obstacles, and fostering radical peer safety. Let's engineer the future of pronunciation.”</a:t>
            </a:r>
          </a:p>
          <a:p>
            <a:pPr algn="ctr">
              <a:defRPr sz="1100">
                <a:solidFill>
                  <a:srgbClr val="5F646E"/>
                </a:solidFill>
                <a:latin typeface="Segoe UI"/>
              </a:defRPr>
            </a:pPr>
            <a:r>
              <a:t>Cabal assignments and pod workspaces go live this afternoon. Week 1 Priority: Drafting the Living Syllabus Bible and engineering our first Alpha playtest prototypes.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